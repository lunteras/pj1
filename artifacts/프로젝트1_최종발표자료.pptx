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3" r:id="Rd8c6601cad174d80"/>
    <p:sldId id="274" r:id="R0eb8d2d4339d4f63"/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2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notesMaster" Target="notesMasters/notesMaster1.xml" Id="rId18" /><Relationship Type="http://schemas.openxmlformats.org/officeDocument/2006/relationships/slide" Target="slides/slide2.xml" Id="rId3" /><Relationship Type="http://schemas.openxmlformats.org/officeDocument/2006/relationships/theme" Target="theme/theme1.xml" Id="rId21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viewProps" Target="viewProps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slide" Target="slides/slide9.xml" Id="rId10" /><Relationship Type="http://schemas.openxmlformats.org/officeDocument/2006/relationships/presProps" Target="presProps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tableStyles" Target="tableStyles.xml" Id="rId22" /><Relationship Type="http://schemas.openxmlformats.org/officeDocument/2006/relationships/slide" Target="/ppt/slides/slide18.xml" Id="Rd8c6601cad174d80" /><Relationship Type="http://schemas.openxmlformats.org/officeDocument/2006/relationships/slide" Target="/ppt/slides/slide19.xml" Id="R0eb8d2d4339d4f63" /></Relationships>
</file>

<file path=ppt/charts/chart1.xml><?xml version="1.0" encoding="utf-8"?>
<c:chartSpace xmlns:c15="http://schemas.microsoft.com/office/drawing/2012/chart" xmlns:c16="http://schemas.microsoft.com/office/drawing/2014/chart"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신호 그룹</c:v>
          </c:tx>
          <c:spPr>
            <a:solidFill>
              <a:srgbClr val="7FB2E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3F4F6"/>
                    </a:solidFill>
                    <a:latin typeface="Malgun Gothic"/>
                    <a:ea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신용 300점대</c:v>
              </c:pt>
              <c:pt idx="1">
                <c:v>지역 경기</c:v>
              </c:pt>
              <c:pt idx="2">
                <c:v>소득 5000미만</c:v>
              </c:pt>
              <c:pt idx="3">
                <c:v>50대 기혼</c:v>
              </c:pt>
              <c:pt idx="4">
                <c:v>특약 보유</c:v>
              </c:pt>
              <c:pt idx="5">
                <c:v>보유수 2개 이상</c:v>
              </c:pt>
            </c:strLit>
          </c:cat>
          <c:val>
            <c:numLit>
              <c:formatCode>General</c:formatCode>
              <c:ptCount val="6"/>
              <c:pt idx="0">
                <c:v>1.6</c:v>
              </c:pt>
              <c:pt idx="1">
                <c:v>3.8</c:v>
              </c:pt>
              <c:pt idx="2">
                <c:v>3.4</c:v>
              </c:pt>
              <c:pt idx="3">
                <c:v>3.9</c:v>
              </c:pt>
              <c:pt idx="4">
                <c:v>3.7</c:v>
              </c:pt>
              <c:pt idx="5">
                <c:v>11.6</c:v>
              </c:pt>
            </c:numLit>
          </c:val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0-EFDA-437E-B248-15917FB8D534}"/>
            </c:ext>
          </c:extLst>
        </c:ser>
        <c:ser>
          <c:idx val="1"/>
          <c:order val="1"/>
          <c:tx>
            <c:v>비교 그룹</c:v>
          </c:tx>
          <c:spPr>
            <a:solidFill>
              <a:srgbClr val="A9B1D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3F4F6"/>
                    </a:solidFill>
                    <a:latin typeface="Malgun Gothic"/>
                    <a:ea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신용 300점대</c:v>
              </c:pt>
              <c:pt idx="1">
                <c:v>지역 경기</c:v>
              </c:pt>
              <c:pt idx="2">
                <c:v>소득 5000미만</c:v>
              </c:pt>
              <c:pt idx="3">
                <c:v>50대 기혼</c:v>
              </c:pt>
              <c:pt idx="4">
                <c:v>특약 보유</c:v>
              </c:pt>
              <c:pt idx="5">
                <c:v>보유수 2개 이상</c:v>
              </c:pt>
            </c:strLit>
          </c:cat>
          <c:val>
            <c:numLit>
              <c:formatCode>General</c:formatCode>
              <c:ptCount val="6"/>
              <c:pt idx="0">
                <c:v>2.9</c:v>
              </c:pt>
              <c:pt idx="1">
                <c:v>0.8</c:v>
              </c:pt>
              <c:pt idx="2">
                <c:v>2.9</c:v>
              </c:pt>
              <c:pt idx="3">
                <c:v>0.7</c:v>
              </c:pt>
              <c:pt idx="4">
                <c:v>0.7</c:v>
              </c:pt>
              <c:pt idx="5">
                <c:v>2.8</c:v>
              </c:pt>
            </c:numLit>
          </c:val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1-EFDA-437E-B248-15917FB8D5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>
            <a:solidFill>
              <a:srgbClr val="A9B1D0"/>
            </a:solidFill>
          </a:ln>
        </c:spPr>
        <c:txPr>
          <a:bodyPr/>
          <a:lstStyle/>
          <a:p>
            <a:pPr>
              <a:defRPr sz="1200">
                <a:solidFill>
                  <a:srgbClr val="F3F4F6"/>
                </a:solidFill>
                <a:latin typeface="Malgun Gothic"/>
                <a:ea typeface="Malgun Gothic"/>
              </a:defRPr>
            </a:pPr>
            <a:endParaRPr lang="ko-K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majorGridlines>
          <c:spPr>
            <a:ln w="6350">
              <a:solidFill>
                <a:srgbClr val="383E4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A9B1D0"/>
            </a:solidFill>
          </a:ln>
        </c:spPr>
        <c:txPr>
          <a:bodyPr/>
          <a:lstStyle/>
          <a:p>
            <a:pPr>
              <a:defRPr sz="1200">
                <a:solidFill>
                  <a:srgbClr val="F3F4F6"/>
                </a:solidFill>
                <a:latin typeface="Malgun Gothic"/>
                <a:ea typeface="Malgun Gothic"/>
              </a:defRPr>
            </a:pPr>
            <a:endParaRPr lang="ko-KR"/>
          </a:p>
        </c:txPr>
        <c:crossAx val="1"/>
        <c:crosses val="autoZero"/>
        <c:crossBetween val="between"/>
      </c:valAx>
      <c:spPr>
        <a:solidFill>
          <a:srgbClr val="2B303D"/>
        </a:solidFill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3F4F6"/>
              </a:solidFill>
              <a:latin typeface="Malgun Gothic"/>
              <a:ea typeface="Malgun Gothic"/>
            </a:defRPr>
          </a:pPr>
          <a:endParaRPr lang="ko-KR"/>
        </a:p>
      </c:txPr>
    </c:legend>
    <c:plotVisOnly val="1"/>
    <c:dispBlanksAs val="gap"/>
    <c:showDLblsOverMax val="1"/>
  </c:chart>
  <c:spPr>
    <a:solidFill>
      <a:srgbClr val="2B303D"/>
    </a:solidFill>
  </c:spPr>
</c:chartSpace>
</file>

<file path=ppt/charts/chart2.xml><?xml version="1.0" encoding="utf-8"?>
<c:chartSpace xmlns:c15="http://schemas.microsoft.com/office/drawing/2012/chart" xmlns:c16="http://schemas.microsoft.com/office/drawing/2014/chart"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실제 가입률</c:v>
          </c:tx>
          <c:spPr>
            <a:solidFill>
              <a:srgbClr val="7FB2E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F3F4F6"/>
                    </a:solidFill>
                    <a:latin typeface="Malgun Gothic"/>
                    <a:ea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Lit>
              <c:ptCount val="4"/>
              <c:pt idx="0">
                <c:v>더미(전원 미가입)</c:v>
              </c:pt>
              <c:pt idx="1">
                <c:v>로지스틱 v3(확정)</c:v>
              </c:pt>
              <c:pt idx="2">
                <c:v>LightGBM</c:v>
              </c:pt>
              <c:pt idx="3">
                <c:v>랜덤포레스트</c:v>
              </c:pt>
            </c:strLit>
          </c:cat>
          <c:val>
            <c:numLit>
              <c:formatCode>General</c:formatCode>
              <c:ptCount val="4"/>
              <c:pt idx="0">
                <c:v>2.9</c:v>
              </c:pt>
              <c:pt idx="1">
                <c:v>8.1999999999999993</c:v>
              </c:pt>
              <c:pt idx="2">
                <c:v>8.8000000000000007</c:v>
              </c:pt>
              <c:pt idx="3">
                <c:v>9.8000000000000007</c:v>
              </c:pt>
            </c:numLit>
          </c:val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0-20B6-488D-9B23-F8B29AC7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700">
            <a:solidFill>
              <a:srgbClr val="A9B1D0"/>
            </a:solidFill>
          </a:ln>
        </c:spPr>
        <c:txPr>
          <a:bodyPr/>
          <a:lstStyle/>
          <a:p>
            <a:pPr>
              <a:defRPr sz="1200">
                <a:solidFill>
                  <a:srgbClr val="F3F4F6"/>
                </a:solidFill>
                <a:latin typeface="Malgun Gothic"/>
                <a:ea typeface="Malgun Gothic"/>
              </a:defRPr>
            </a:pPr>
            <a:endParaRPr lang="ko-K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>
          <c:spPr>
            <a:ln w="6350">
              <a:solidFill>
                <a:srgbClr val="383E4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A9B1D0"/>
            </a:solidFill>
          </a:ln>
        </c:spPr>
        <c:txPr>
          <a:bodyPr/>
          <a:lstStyle/>
          <a:p>
            <a:pPr>
              <a:defRPr sz="1200">
                <a:solidFill>
                  <a:srgbClr val="F3F4F6"/>
                </a:solidFill>
                <a:latin typeface="Malgun Gothic"/>
                <a:ea typeface="Malgun Gothic"/>
              </a:defRPr>
            </a:pPr>
            <a:endParaRPr lang="ko-KR"/>
          </a:p>
        </c:txPr>
        <c:crossAx val="1"/>
        <c:crosses val="autoZero"/>
        <c:crossBetween val="between"/>
      </c:valAx>
      <c:spPr>
        <a:solidFill>
          <a:srgbClr val="2B303D"/>
        </a:solidFill>
      </c:spPr>
    </c:plotArea>
    <c:plotVisOnly val="1"/>
    <c:dispBlanksAs val="gap"/>
    <c:showDLblsOverMax val="1"/>
  </c:chart>
  <c:spPr>
    <a:solidFill>
      <a:srgbClr val="2B303D"/>
    </a:solidFill>
  </c:spPr>
</c:chartSpace>
</file>

<file path=ppt/charts/chart3.xml><?xml version="1.0" encoding="utf-8"?>
<c:chartSpace xmlns:c15="http://schemas.microsoft.com/office/drawing/2012/chart" xmlns:c16="http://schemas.microsoft.com/office/drawing/2014/chart"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>
                <a:solidFill>
                  <a:srgbClr val="F3F4F6"/>
                </a:solidFill>
              </a:rPr>
              <a:t>가입 방향(+) · 미가입 방향(−) — 반복 20회 평균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표준화 계수</c:v>
          </c:tx>
          <c:spPr>
            <a:solidFill>
              <a:srgbClr val="7FB2E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3F4F6"/>
                    </a:solidFill>
                    <a:latin typeface="Malgun Gothic"/>
                    <a:ea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60대</c:v>
              </c:pt>
              <c:pt idx="1">
                <c:v>지역 대구</c:v>
              </c:pt>
              <c:pt idx="2">
                <c:v>위험등급 D</c:v>
              </c:pt>
              <c:pt idx="3">
                <c:v>소득 8000미만</c:v>
              </c:pt>
              <c:pt idx="4">
                <c:v>위험등급 A</c:v>
              </c:pt>
              <c:pt idx="5">
                <c:v>지역 경기</c:v>
              </c:pt>
              <c:pt idx="6">
                <c:v>20대</c:v>
              </c:pt>
              <c:pt idx="7">
                <c:v>특약 보유</c:v>
              </c:pt>
            </c:strLit>
          </c:cat>
          <c:val>
            <c:numLit>
              <c:formatCode>General</c:formatCode>
              <c:ptCount val="8"/>
              <c:pt idx="0">
                <c:v>-1.42</c:v>
              </c:pt>
              <c:pt idx="1">
                <c:v>-0.99</c:v>
              </c:pt>
              <c:pt idx="2">
                <c:v>-0.65</c:v>
              </c:pt>
              <c:pt idx="3">
                <c:v>-0.46</c:v>
              </c:pt>
              <c:pt idx="4">
                <c:v>0.48</c:v>
              </c:pt>
              <c:pt idx="5">
                <c:v>0.61</c:v>
              </c:pt>
              <c:pt idx="6">
                <c:v>0.7</c:v>
              </c:pt>
              <c:pt idx="7">
                <c:v>0.84</c:v>
              </c:pt>
            </c:numLit>
          </c:val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0-F6E0-43D9-B937-04D99BA8EF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>
            <a:solidFill>
              <a:srgbClr val="A9B1D0"/>
            </a:solidFill>
          </a:ln>
        </c:spPr>
        <c:txPr>
          <a:bodyPr/>
          <a:lstStyle/>
          <a:p>
            <a:pPr>
              <a:defRPr sz="1200">
                <a:solidFill>
                  <a:srgbClr val="F3F4F6"/>
                </a:solidFill>
                <a:latin typeface="Malgun Gothic"/>
                <a:ea typeface="Malgun Gothic"/>
              </a:defRPr>
            </a:pPr>
            <a:endParaRPr lang="ko-K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majorGridlines>
          <c:spPr>
            <a:ln w="6350">
              <a:solidFill>
                <a:srgbClr val="383E4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A9B1D0"/>
            </a:solidFill>
          </a:ln>
        </c:spPr>
        <c:txPr>
          <a:bodyPr/>
          <a:lstStyle/>
          <a:p>
            <a:pPr>
              <a:defRPr sz="1200">
                <a:solidFill>
                  <a:srgbClr val="F3F4F6"/>
                </a:solidFill>
                <a:latin typeface="Malgun Gothic"/>
                <a:ea typeface="Malgun Gothic"/>
              </a:defRPr>
            </a:pPr>
            <a:endParaRPr lang="ko-KR"/>
          </a:p>
        </c:txPr>
        <c:crossAx val="1"/>
        <c:crosses val="autoZero"/>
        <c:crossBetween val="between"/>
      </c:valAx>
      <c:spPr>
        <a:solidFill>
          <a:srgbClr val="2B303D"/>
        </a:solidFill>
      </c:spPr>
    </c:plotArea>
    <c:plotVisOnly val="1"/>
    <c:dispBlanksAs val="gap"/>
    <c:showDLblsOverMax val="1"/>
  </c:chart>
  <c:spPr>
    <a:solidFill>
      <a:srgbClr val="2B303D"/>
    </a:solidFill>
  </c:spPr>
</c:chartSpace>
</file>

<file path=ppt/charts/chart4.xml><?xml version="1.0" encoding="utf-8"?>
<c:chartSpace xmlns:c15="http://schemas.microsoft.com/office/drawing/2012/chart" xmlns:c16="http://schemas.microsoft.com/office/drawing/2014/chart"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1"/>
            </a:pPr>
            <a:r>
              <a:rPr lang="en-US" sz="1400" b="1">
                <a:solidFill>
                  <a:srgbClr val="F3F4F6"/>
                </a:solidFill>
              </a:rPr>
              <a:t>보정 곡선 — 확률 등급별 실제 가입률(%)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실제 가입률</c:v>
          </c:tx>
          <c:spPr>
            <a:solidFill>
              <a:srgbClr val="5EC98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F3F4F6"/>
                    </a:solidFill>
                    <a:latin typeface="Malgun Gothic"/>
                    <a:ea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</c:strLit>
          </c:cat>
          <c:val>
            <c:numLit>
              <c:formatCode>General</c:formatCode>
              <c:ptCount val="5"/>
              <c:pt idx="0">
                <c:v>2.2999999999999998</c:v>
              </c:pt>
              <c:pt idx="1">
                <c:v>2.52</c:v>
              </c:pt>
              <c:pt idx="2">
                <c:v>2.92</c:v>
              </c:pt>
              <c:pt idx="3">
                <c:v>3.19</c:v>
              </c:pt>
              <c:pt idx="4">
                <c:v>3.66</c:v>
              </c:pt>
            </c:numLit>
          </c:val>
          <c:extLst xmlns:c16="http://schemas.microsoft.com/office/drawing/2014/chart" xmlns:c15="http://schemas.microsoft.com/office/drawing/2012/chart">
            <c:ext xmlns:c16="http://schemas.microsoft.com/office/drawing/2014/chart" uri="{C3380CC4-5D6E-409C-BE32-E72D297353CC}">
              <c16:uniqueId val="{00000000-80CC-429D-A479-FCB935CD21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700">
            <a:solidFill>
              <a:srgbClr val="A9B1D0"/>
            </a:solidFill>
          </a:ln>
        </c:spPr>
        <c:txPr>
          <a:bodyPr/>
          <a:lstStyle/>
          <a:p>
            <a:pPr>
              <a:defRPr sz="1100">
                <a:solidFill>
                  <a:srgbClr val="F3F4F6"/>
                </a:solidFill>
                <a:latin typeface="Malgun Gothic"/>
                <a:ea typeface="Malgun Gothic"/>
              </a:defRPr>
            </a:pPr>
            <a:endParaRPr lang="ko-K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>
          <c:spPr>
            <a:ln w="6350">
              <a:solidFill>
                <a:srgbClr val="383E4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A9B1D0"/>
            </a:solidFill>
          </a:ln>
        </c:spPr>
        <c:txPr>
          <a:bodyPr/>
          <a:lstStyle/>
          <a:p>
            <a:pPr>
              <a:defRPr sz="1100">
                <a:solidFill>
                  <a:srgbClr val="F3F4F6"/>
                </a:solidFill>
                <a:latin typeface="Malgun Gothic"/>
                <a:ea typeface="Malgun Gothic"/>
              </a:defRPr>
            </a:pPr>
            <a:endParaRPr lang="ko-KR"/>
          </a:p>
        </c:txPr>
        <c:crossAx val="1"/>
        <c:crosses val="autoZero"/>
        <c:crossBetween val="between"/>
      </c:valAx>
      <c:spPr>
        <a:solidFill>
          <a:srgbClr val="2B303D"/>
        </a:solidFill>
      </c:spPr>
    </c:plotArea>
    <c:plotVisOnly val="1"/>
    <c:dispBlanksAs val="gap"/>
    <c:showDLblsOverMax val="1"/>
  </c:chart>
  <c:spPr>
    <a:solidFill>
      <a:srgbClr val="2B303D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1b5f84b716947f2" /><Relationship Type="http://schemas.openxmlformats.org/officeDocument/2006/relationships/slide" Target="/ppt/slides/slide18.xml" Id="R928f7988c5a04e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1e37eeb581747c3" /><Relationship Type="http://schemas.openxmlformats.org/officeDocument/2006/relationships/slide" Target="/ppt/slides/slide19.xml" Id="R4baedc6c15ca460a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오늘 이야기는 '누구에게 먼저 전화할까'를 데이터로 푼 과정입니다. 화면의 숫자 3개 — 2.9%, 8.2%, 0.720 — 만 기억하시면 됩니다. 앵커: 2.9%를 8.2%로 올렸다.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흐름: 문제 정의 → 데이터 정리 → 신호 탐색 → 모델 확인 → 상담 계획. 가운데 호박색 3단계(EDA·모델링·인사이트)가 핵심입니다. 앵커: 가운데 3단계가 핵심.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출발점은 권유 전화. 38,932명 전원 전화는 불가 — 누구 먼저? 데이터에 정답이 없어서 우리가 만들었다: 2025년 실제 가입 1,137명. 합격선 5.8%도 미리 합의. 2.9%는 함정 — 전부 '안 가입'이어도 정답률 97.1%라 채점법을 바꿨다. 하단 칩이 효과 3가지(+53명, 관행 폐기, A/B 준비). 앵커: 정답이 없어서 만들었고, 합격선은 5.8%.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깔때기: 385,019줄 → 보험 거래만(77,305건) → 고객별 1줄 → 38,932명. 결정 3가지: '기타'는 지우면 고객이 사라지니 보존, 이상한 큰 숫자를 다 버리지 않음(핵심 고객 방지), 가입 연도가 있어 정답 생성 가능. 앵커: 385,019줄을 38,932명으로 정리했다.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처음 예상은 전부 틀렸다 — 소득은 중간 구간이 정점, 최근 가입자가 잘 가입. 그래서 규칙: 2023·2024 두 해 연속 나타난 신호만 믿는다. 운 같은 신호가 걸러졌다. 앵커: 두 해 연속 나온 것만 믿었다.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막대 그래프 — 진한 막대(신호 고객) vs 연한 막대(나머지). 상품 2개 이상 11.6% = 4.1배, 특약 5.3배, 지역 경기 4.8배. 신호 하나는 약하지만 겹치면 3배 이상 — 그래서 모델이 필요. 앵커: 신호는 겹칠 때 세 배.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같은 시험 4방식 비교: 아무것도 안 함 2.9% → 우리 모델 8.2%(합격선 5.8% 통과). 다른 방법이 조금 더 높지만 차이는 운 범위 — 설명 되는 모델 선택(다음 슬라이드). 오른쪽: 같은 1,000명, 모델 82명 vs 무작위 29명 — +53명. 앵커: 같은 1,000명 — 29명 대신 82명.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핵심 반박 대응 — 'RF가 9.8% 더 높은데 왜 8.2%를 골랐나?' ① 차이가 운 범위: 같은 조건 20회 승부에서 13승 7패, 평균 차이 +0.10%p±0.60 — 동전 던지면 뒤집히는 크기. ② RF는 설정에 흔들린다: 12가지 튜닝하면 오히려 8.3%로 하락(9.8%는 상한일 뿐), 과하게 자란 트리는 급락. ③ 로지스틱은 이유를 말한다: '왜 1순위?'에 '특약 보유라서'라고 답할 수 있음 — RF도 특약을 1등으로 뽑아 같은 신호. 운용안 티어 변동 없음.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믿음 확인 3가지. ① 계단 일치(오른쪽): 모델이 매긴 등급과 실제 가입률이 Q1 2.30% → Q5 3.66%로 순서대로 일치 — 확률이 거짓말 안 하므로 티어 수치를 실제 빈도처럼 말할 수 있음. ② 말한 것을 시험: '특약이 중요하다'고 말했는데 실제로 빼보니 8.15% → 7.24%로 뚝 떨어짐 — 말한 대로 진짜 중요. ③ 같은 작업 재실행: 성적 그대로 재현(PASS, 2026-10-18) — 운이 아니라 다시 나오는 결과. 왼쪽 그래프는 모델이 중요하다고 본 항목 — 특약이 1등.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잘 가입한 고객 = 상품 2개 이상 + 특약 + 기혼 중년 + 중간 소득. 고소득이 아니었다. 배수 근거: 4.1배 / 6.9배 / 4.8배. 영향 크기: 특약 1등, 보유수 2등 — 행동이 갈랐다. 앵커: 2개 이상 + 특약 + 기혼 중년 + 중간 소득.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상위 500명 9.7% 전문 상담사 전화 / 1,000명 8.2% 확장 / 2,000명 6.7% 문자·알림. 예외: 20대 기혼 뒤로, 신용 낮으면 가장 뒤로. 제안은 새 상품이 아니라 같은 계열 채우기(신규 90%·보유자 87%가 M케어 계열). 앵커: 500명 전화 → 1,000명 확장 → 2,000명 문자.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매달 1일 순위 재계산 → 상담 → 기록. 상위 1,000명 중 절반만 전화하면 전화한 쪽 vs 안 한 쪽 차이 = 전화의 진짜 효과. KPI 3개. 앵커: 매달 갱신하고, 절반만 전화해 효과를 증명한다.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오늘 결과는 '예측 성공'까지. 매출 효과는 다음 실험(A/B) 몫. 속성은 2025년 데이터, 지역 이유 불명. 앵커: 예측 성공 ≠ 매출 증명.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한 문장: 신호가 겹치는 고객을 먼저 만난다. 숫자 3개: 0.720, 8.2%(2.8배), 82명(+53명). 한계는 있지만 시작 전에 인정했고, 판정 기준도 미리 정했기에 지금 상황에서 쓸 만한 근거. 매월 1일 갱신. 앵커: 0.720 · 8.2% · 82명.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데이터: 공공데이터 '보험상품가입자의 보험유지 특성 분석'. 모든 숫자 재실행 검증 통과. 앵커: 출처 · 재실행 검증 통과.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감사합니다. 질문 환영. 앵커: 감사합니다.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표지 — 인사. '안녕하세요, ABA3_최대석입니다. 선택한 산업은 금융이고, 1차 프로젝트로 반복 구매 고객의 추가 가입을 예측했습니다. 13분 동안 문제 정의부터 상담 운용안까지 소개하겠습니다.' (약 10초, 넘기면서 말한다)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산업·데이터·동기 — 선택한 산업은 금융(보험)이고, 데이터는 보험상품가입자의 보험유지 특성 분석 — 거래 385,019행 중 보험 거래 77,305건(고객 74,776명)을 사용해, 보장 보험만 보유한 38,932명을 분석 풀로 삼았다. 발표 동기는 일상의 권유전화: 받는 쪽도 성가시지만 거는 쪽도 근거가 없다 — 전원을 상담할 수 없으니 순서를 정해야 하고, 정답이 없으면 만들어 검증하면 된다. 검토 질문: 38,932명 중 누구를 먼저 만날 것인가. (약 40초)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28d2453694f4b" /><Relationship Type="http://schemas.openxmlformats.org/officeDocument/2006/relationships/notesSlide" Target="/ppt/notesSlides/notesSlide17.xml" Id="R0def25e0f5b340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d14c4bf5e4403" /><Relationship Type="http://schemas.openxmlformats.org/officeDocument/2006/relationships/notesSlide" Target="/ppt/notesSlides/notesSlide18.xml" Id="Rb91c47bbe1ed4418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Band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/>
          <a:lstStyle/>
          <a:p>
            <a:endParaRPr/>
          </a:p>
        </p:txBody>
      </p:sp>
      <p:sp>
        <p:nvSpPr>
          <p:cNvPr id="100001" name="Kicker"/>
          <p:cNvSpPr txBox="1"/>
          <p:nvPr/>
        </p:nvSpPr>
        <p:spPr>
          <a:xfrm>
            <a:off x="720000" y="1260000"/>
            <a:ext cx="107532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400">
                <a:solidFill>
                  <a:srgbClr val="A9B1D0"/>
                </a:solidFill>
                <a:latin typeface="Malgun Gothic"/>
                <a:ea typeface="Malgun Gothic"/>
              </a:rPr>
              <a:t>ABA 1차 프로젝트 · 최종발표 제출 자료 · 2026-10-26</a:t>
            </a:r>
          </a:p>
        </p:txBody>
      </p:sp>
      <p:sp>
        <p:nvSpPr>
          <p:cNvPr id="100002" name="Title"/>
          <p:cNvSpPr txBox="1"/>
          <p:nvPr/>
        </p:nvSpPr>
        <p:spPr>
          <a:xfrm>
            <a:off x="720000" y="1692000"/>
            <a:ext cx="10753200" cy="165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4000" b="1">
                <a:solidFill>
                  <a:srgbClr val="F3F4F6"/>
                </a:solidFill>
                <a:latin typeface="Malgun Gothic"/>
                <a:ea typeface="Malgun Gothic"/>
              </a:rPr>
              <a:t>보장only 고객 중</a:t>
            </a:r>
          </a:p>
          <a:p>
            <a:pPr algn="ctr"/>
            <a:r>
              <a:rPr lang="en-US" sz="4000" b="1">
                <a:solidFill>
                  <a:srgbClr val="F3F4F6"/>
                </a:solidFill>
                <a:latin typeface="Malgun Gothic"/>
                <a:ea typeface="Malgun Gothic"/>
              </a:rPr>
              <a:t>누구에게 먼저 상담할 것인가</a:t>
            </a:r>
          </a:p>
        </p:txBody>
      </p:sp>
      <p:sp>
        <p:nvSpPr>
          <p:cNvPr id="100003" name="Subtitle"/>
          <p:cNvSpPr txBox="1"/>
          <p:nvPr/>
        </p:nvSpPr>
        <p:spPr>
          <a:xfrm>
            <a:off x="720000" y="3492000"/>
            <a:ext cx="107532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800">
                <a:solidFill>
                  <a:srgbClr val="A9B1D0"/>
                </a:solidFill>
                <a:latin typeface="Malgun Gothic"/>
                <a:ea typeface="Malgun Gothic"/>
              </a:rPr>
              <a:t>정답이 없는 데이터에서 정답을 만들고, 판정 기준으로 검증하고, 상담 운용으로 바꿨습니다</a:t>
            </a:r>
          </a:p>
        </p:txBody>
      </p:sp>
      <p:sp>
        <p:nvSpPr>
          <p:cNvPr id="100004" name="KpiCard1"/>
          <p:cNvSpPr/>
          <p:nvPr/>
        </p:nvSpPr>
        <p:spPr>
          <a:xfrm>
            <a:off x="540000" y="4320000"/>
            <a:ext cx="3520800" cy="165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/>
          <a:lstStyle/>
          <a:p>
            <a:endParaRPr/>
          </a:p>
        </p:txBody>
      </p:sp>
      <p:sp>
        <p:nvSpPr>
          <p:cNvPr id="100005" name="KpiNum1"/>
          <p:cNvSpPr txBox="1"/>
          <p:nvPr/>
        </p:nvSpPr>
        <p:spPr>
          <a:xfrm>
            <a:off x="540000" y="4500000"/>
            <a:ext cx="3520800" cy="82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400" b="1">
                <a:solidFill>
                  <a:srgbClr val="7FB2E8"/>
                </a:solidFill>
                <a:latin typeface="Malgun Gothic"/>
                <a:ea typeface="Malgun Gothic"/>
              </a:rPr>
              <a:t>2.9%</a:t>
            </a:r>
          </a:p>
        </p:txBody>
      </p:sp>
      <p:sp>
        <p:nvSpPr>
          <p:cNvPr id="100006" name="KpiSub1"/>
          <p:cNvSpPr txBox="1"/>
          <p:nvPr/>
        </p:nvSpPr>
        <p:spPr>
          <a:xfrm>
            <a:off x="684000" y="5400000"/>
            <a:ext cx="3232800" cy="57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기준선 — 아무나 전화했을 때의 가입률</a:t>
            </a:r>
          </a:p>
        </p:txBody>
      </p:sp>
      <p:sp>
        <p:nvSpPr>
          <p:cNvPr id="100007" name="KpiCard2"/>
          <p:cNvSpPr/>
          <p:nvPr/>
        </p:nvSpPr>
        <p:spPr>
          <a:xfrm>
            <a:off x="4334400" y="4320000"/>
            <a:ext cx="3520800" cy="165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/>
          <a:lstStyle/>
          <a:p>
            <a:endParaRPr/>
          </a:p>
        </p:txBody>
      </p:sp>
      <p:sp>
        <p:nvSpPr>
          <p:cNvPr id="100008" name="KpiNum2"/>
          <p:cNvSpPr txBox="1"/>
          <p:nvPr/>
        </p:nvSpPr>
        <p:spPr>
          <a:xfrm>
            <a:off x="4334400" y="4500000"/>
            <a:ext cx="3520800" cy="82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400" b="1">
                <a:solidFill>
                  <a:srgbClr val="E8B44C"/>
                </a:solidFill>
                <a:latin typeface="Malgun Gothic"/>
                <a:ea typeface="Malgun Gothic"/>
              </a:rPr>
              <a:t>8.2%</a:t>
            </a:r>
          </a:p>
        </p:txBody>
      </p:sp>
      <p:sp>
        <p:nvSpPr>
          <p:cNvPr id="100009" name="KpiSub2"/>
          <p:cNvSpPr txBox="1"/>
          <p:nvPr/>
        </p:nvSpPr>
        <p:spPr>
          <a:xfrm>
            <a:off x="4478400" y="5400000"/>
            <a:ext cx="3232800" cy="57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상위 1,000명 실제 가입률 — 2.8배 · 판정선 5.8% 통과</a:t>
            </a:r>
          </a:p>
        </p:txBody>
      </p:sp>
      <p:sp>
        <p:nvSpPr>
          <p:cNvPr id="100010" name="KpiCard3"/>
          <p:cNvSpPr/>
          <p:nvPr/>
        </p:nvSpPr>
        <p:spPr>
          <a:xfrm>
            <a:off x="8128800" y="4320000"/>
            <a:ext cx="3520800" cy="165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/>
          <a:lstStyle/>
          <a:p>
            <a:endParaRPr/>
          </a:p>
        </p:txBody>
      </p:sp>
      <p:sp>
        <p:nvSpPr>
          <p:cNvPr id="100011" name="KpiNum3"/>
          <p:cNvSpPr txBox="1"/>
          <p:nvPr/>
        </p:nvSpPr>
        <p:spPr>
          <a:xfrm>
            <a:off x="8128800" y="4500000"/>
            <a:ext cx="3520800" cy="82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400" b="1">
                <a:solidFill>
                  <a:srgbClr val="7FB2E8"/>
                </a:solidFill>
                <a:latin typeface="Malgun Gothic"/>
                <a:ea typeface="Malgun Gothic"/>
              </a:rPr>
              <a:t>0.720</a:t>
            </a:r>
          </a:p>
        </p:txBody>
      </p:sp>
      <p:sp>
        <p:nvSpPr>
          <p:cNvPr id="100012" name="KpiSub3"/>
          <p:cNvSpPr txBox="1"/>
          <p:nvPr/>
        </p:nvSpPr>
        <p:spPr>
          <a:xfrm>
            <a:off x="8272800" y="5400000"/>
            <a:ext cx="3232800" cy="57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확정 모델 AUC — 반복 20회 ±0.010</a:t>
            </a:r>
          </a:p>
        </p:txBody>
      </p:sp>
      <p:sp>
        <p:nvSpPr>
          <p:cNvPr id="100013" name="CoverFooter"/>
          <p:cNvSpPr txBox="1"/>
          <p:nvPr/>
        </p:nvSpPr>
        <p:spPr>
          <a:xfrm>
            <a:off x="540000" y="6336000"/>
            <a:ext cx="111132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150">
                <a:solidFill>
                  <a:srgbClr val="A9B1D0"/>
                </a:solidFill>
                <a:latin typeface="Malgun Gothic"/>
                <a:ea typeface="Malgun Gothic"/>
              </a:rPr>
              <a:t>데이터: [공공데이터] 보험상품가입자의 보험유지 특성 분석(보험계약 등) — TL_2.소비자.zip (보험 거래만 사용)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25" name="Title"/>
          <p:cNvSpPr txBox="1"/>
          <p:nvPr/>
        </p:nvSpPr>
        <p:spPr>
          <a:xfrm>
            <a:off x="457200" y="432000"/>
            <a:ext cx="11278800" cy="7920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발표 구성 — 9절 여정</a:t>
            </a:r>
          </a:p>
        </p:txBody>
      </p:sp>
      <p:sp>
        <p:nvSpPr>
          <p:cNvPr id="100226" name="JourneyLine"/>
          <p:cNvSpPr/>
          <p:nvPr/>
        </p:nvSpPr>
        <p:spPr>
          <a:xfrm>
            <a:off x="720000" y="3175200"/>
            <a:ext cx="10800000" cy="21600"/>
          </a:xfrm>
          <a:prstGeom prst="rect">
            <a:avLst/>
          </a:prstGeom>
          <a:solidFill>
            <a:srgbClr val="383E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27" name="C1"/>
          <p:cNvSpPr/>
          <p:nvPr/>
        </p:nvSpPr>
        <p:spPr>
          <a:xfrm>
            <a:off x="468000" y="2934000"/>
            <a:ext cx="504000" cy="504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0228" name="L1"/>
          <p:cNvSpPr txBox="1"/>
          <p:nvPr/>
        </p:nvSpPr>
        <p:spPr>
          <a:xfrm>
            <a:off x="126000" y="3492000"/>
            <a:ext cx="11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문제 정의</a:t>
            </a:r>
          </a:p>
        </p:txBody>
      </p:sp>
      <p:sp>
        <p:nvSpPr>
          <p:cNvPr id="100229" name="C2"/>
          <p:cNvSpPr/>
          <p:nvPr/>
        </p:nvSpPr>
        <p:spPr>
          <a:xfrm>
            <a:off x="1818000" y="2934000"/>
            <a:ext cx="504000" cy="504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0230" name="L2"/>
          <p:cNvSpPr txBox="1"/>
          <p:nvPr/>
        </p:nvSpPr>
        <p:spPr>
          <a:xfrm>
            <a:off x="1476000" y="3492000"/>
            <a:ext cx="11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데이터 소개</a:t>
            </a:r>
          </a:p>
        </p:txBody>
      </p:sp>
      <p:sp>
        <p:nvSpPr>
          <p:cNvPr id="100231" name="C3"/>
          <p:cNvSpPr/>
          <p:nvPr/>
        </p:nvSpPr>
        <p:spPr>
          <a:xfrm>
            <a:off x="3168000" y="2934000"/>
            <a:ext cx="504000" cy="504000"/>
          </a:xfrm>
          <a:prstGeom prst="ellipse">
            <a:avLst/>
          </a:prstGeom>
          <a:solidFill>
            <a:srgbClr val="E8B44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0232" name="L3"/>
          <p:cNvSpPr txBox="1"/>
          <p:nvPr/>
        </p:nvSpPr>
        <p:spPr>
          <a:xfrm>
            <a:off x="2826000" y="3492000"/>
            <a:ext cx="11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50" b="1">
                <a:solidFill>
                  <a:srgbClr val="F3F4F6"/>
                </a:solidFill>
                <a:latin typeface="Malgun Gothic"/>
                <a:ea typeface="Malgun Gothic"/>
              </a:rPr>
              <a:t>EDA 분석</a:t>
            </a:r>
          </a:p>
        </p:txBody>
      </p:sp>
      <p:sp>
        <p:nvSpPr>
          <p:cNvPr id="100233" name="C4"/>
          <p:cNvSpPr/>
          <p:nvPr/>
        </p:nvSpPr>
        <p:spPr>
          <a:xfrm>
            <a:off x="4518000" y="2934000"/>
            <a:ext cx="504000" cy="504000"/>
          </a:xfrm>
          <a:prstGeom prst="ellipse">
            <a:avLst/>
          </a:prstGeom>
          <a:solidFill>
            <a:srgbClr val="E8B44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00234" name="L4"/>
          <p:cNvSpPr txBox="1"/>
          <p:nvPr/>
        </p:nvSpPr>
        <p:spPr>
          <a:xfrm>
            <a:off x="4176000" y="3492000"/>
            <a:ext cx="11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50" b="1">
                <a:solidFill>
                  <a:srgbClr val="F3F4F6"/>
                </a:solidFill>
                <a:latin typeface="Malgun Gothic"/>
                <a:ea typeface="Malgun Gothic"/>
              </a:rPr>
              <a:t>모델링 결과</a:t>
            </a:r>
          </a:p>
        </p:txBody>
      </p:sp>
      <p:sp>
        <p:nvSpPr>
          <p:cNvPr id="100235" name="C5"/>
          <p:cNvSpPr/>
          <p:nvPr/>
        </p:nvSpPr>
        <p:spPr>
          <a:xfrm>
            <a:off x="5868000" y="2934000"/>
            <a:ext cx="504000" cy="504000"/>
          </a:xfrm>
          <a:prstGeom prst="ellipse">
            <a:avLst/>
          </a:prstGeom>
          <a:solidFill>
            <a:srgbClr val="E8B44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00236" name="L5"/>
          <p:cNvSpPr txBox="1"/>
          <p:nvPr/>
        </p:nvSpPr>
        <p:spPr>
          <a:xfrm>
            <a:off x="5526000" y="3492000"/>
            <a:ext cx="11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50" b="1">
                <a:solidFill>
                  <a:srgbClr val="F3F4F6"/>
                </a:solidFill>
                <a:latin typeface="Malgun Gothic"/>
                <a:ea typeface="Malgun Gothic"/>
              </a:rPr>
              <a:t>인사이트</a:t>
            </a:r>
          </a:p>
        </p:txBody>
      </p:sp>
      <p:sp>
        <p:nvSpPr>
          <p:cNvPr id="100237" name="C6"/>
          <p:cNvSpPr/>
          <p:nvPr/>
        </p:nvSpPr>
        <p:spPr>
          <a:xfrm>
            <a:off x="7218000" y="2934000"/>
            <a:ext cx="504000" cy="504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00238" name="L6"/>
          <p:cNvSpPr txBox="1"/>
          <p:nvPr/>
        </p:nvSpPr>
        <p:spPr>
          <a:xfrm>
            <a:off x="6876000" y="3492000"/>
            <a:ext cx="11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향후 활용</a:t>
            </a:r>
          </a:p>
        </p:txBody>
      </p:sp>
      <p:sp>
        <p:nvSpPr>
          <p:cNvPr id="100239" name="C7"/>
          <p:cNvSpPr/>
          <p:nvPr/>
        </p:nvSpPr>
        <p:spPr>
          <a:xfrm>
            <a:off x="8568000" y="2934000"/>
            <a:ext cx="504000" cy="504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100240" name="L7"/>
          <p:cNvSpPr txBox="1"/>
          <p:nvPr/>
        </p:nvSpPr>
        <p:spPr>
          <a:xfrm>
            <a:off x="8226000" y="3492000"/>
            <a:ext cx="11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한계</a:t>
            </a:r>
          </a:p>
        </p:txBody>
      </p:sp>
      <p:sp>
        <p:nvSpPr>
          <p:cNvPr id="100241" name="C8"/>
          <p:cNvSpPr/>
          <p:nvPr/>
        </p:nvSpPr>
        <p:spPr>
          <a:xfrm>
            <a:off x="9918000" y="2934000"/>
            <a:ext cx="504000" cy="504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100242" name="L8"/>
          <p:cNvSpPr txBox="1"/>
          <p:nvPr/>
        </p:nvSpPr>
        <p:spPr>
          <a:xfrm>
            <a:off x="9576000" y="3492000"/>
            <a:ext cx="11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결론</a:t>
            </a:r>
          </a:p>
        </p:txBody>
      </p:sp>
      <p:sp>
        <p:nvSpPr>
          <p:cNvPr id="100243" name="C9"/>
          <p:cNvSpPr/>
          <p:nvPr/>
        </p:nvSpPr>
        <p:spPr>
          <a:xfrm>
            <a:off x="11268000" y="2934000"/>
            <a:ext cx="504000" cy="504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100244" name="L9"/>
          <p:cNvSpPr txBox="1"/>
          <p:nvPr/>
        </p:nvSpPr>
        <p:spPr>
          <a:xfrm>
            <a:off x="10926000" y="3492000"/>
            <a:ext cx="1188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데이터 출처</a:t>
            </a:r>
          </a:p>
        </p:txBody>
      </p:sp>
      <p:sp>
        <p:nvSpPr>
          <p:cNvPr id="100245" name="CoreChip"/>
          <p:cNvSpPr txBox="1"/>
          <p:nvPr/>
        </p:nvSpPr>
        <p:spPr>
          <a:xfrm>
            <a:off x="457200" y="4608000"/>
            <a:ext cx="11278800" cy="576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800" b="1" dirty="0" err="1">
                <a:solidFill>
                  <a:srgbClr val="7FB2E8"/>
                </a:solidFill>
                <a:latin typeface="Malgun Gothic"/>
                <a:ea typeface="Malgun Gothic"/>
              </a:rPr>
              <a:t>핵심</a:t>
            </a:r>
            <a:r>
              <a:rPr lang="en-US" sz="1800" b="1" dirty="0">
                <a:solidFill>
                  <a:srgbClr val="7FB2E8"/>
                </a:solidFill>
                <a:latin typeface="Malgun Gothic"/>
                <a:ea typeface="Malgun Gothic"/>
              </a:rPr>
              <a:t> 3절 — EDA · </a:t>
            </a:r>
            <a:r>
              <a:rPr lang="en-US" sz="1800" b="1" dirty="0" err="1">
                <a:solidFill>
                  <a:srgbClr val="7FB2E8"/>
                </a:solidFill>
                <a:latin typeface="Malgun Gothic"/>
                <a:ea typeface="Malgun Gothic"/>
              </a:rPr>
              <a:t>모델링</a:t>
            </a:r>
            <a:r>
              <a:rPr lang="en-US" sz="1800" b="1" dirty="0">
                <a:solidFill>
                  <a:srgbClr val="7FB2E8"/>
                </a:solidFill>
                <a:latin typeface="Malgun Gothic"/>
                <a:ea typeface="Malgun Gothic"/>
              </a:rPr>
              <a:t> · </a:t>
            </a:r>
            <a:r>
              <a:rPr lang="en-US" sz="1800" b="1" dirty="0" err="1" smtClean="0">
                <a:solidFill>
                  <a:srgbClr val="7FB2E8"/>
                </a:solidFill>
                <a:latin typeface="Malgun Gothic"/>
                <a:ea typeface="Malgun Gothic"/>
              </a:rPr>
              <a:t>인사이트</a:t>
            </a:r>
            <a:endParaRPr lang="en-US" sz="1800" b="1" dirty="0">
              <a:solidFill>
                <a:srgbClr val="7FB2E8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6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0247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1 · 문제 정의 · 기대효과</a:t>
            </a:r>
          </a:p>
        </p:txBody>
      </p:sp>
      <p:sp>
        <p:nvSpPr>
          <p:cNvPr id="100248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정답지가 없는 시험 문제</a:t>
            </a:r>
          </a:p>
        </p:txBody>
      </p:sp>
      <p:sp>
        <p:nvSpPr>
          <p:cNvPr id="100249" name="B1"/>
          <p:cNvSpPr/>
          <p:nvPr/>
        </p:nvSpPr>
        <p:spPr>
          <a:xfrm>
            <a:off x="457200" y="1584000"/>
            <a:ext cx="3060000" cy="122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700" b="1">
                <a:solidFill>
                  <a:srgbClr val="F3F4F6"/>
                </a:solidFill>
                <a:latin typeface="Malgun Gothic"/>
                <a:ea typeface="Malgun Gothic"/>
              </a:rPr>
              <a:t>정답 열이 없다</a:t>
            </a:r>
          </a:p>
        </p:txBody>
      </p:sp>
      <p:sp>
        <p:nvSpPr>
          <p:cNvPr id="100250" name="B2"/>
          <p:cNvSpPr/>
          <p:nvPr/>
        </p:nvSpPr>
        <p:spPr>
          <a:xfrm>
            <a:off x="4564800" y="1584000"/>
            <a:ext cx="3060000" cy="122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Malgun Gothic"/>
                <a:ea typeface="Malgun Gothic"/>
              </a:rPr>
              <a:t>가입 연도로 정답 생성</a:t>
            </a:r>
          </a:p>
        </p:txBody>
      </p:sp>
      <p:sp>
        <p:nvSpPr>
          <p:cNvPr id="100251" name="B3"/>
          <p:cNvSpPr/>
          <p:nvPr/>
        </p:nvSpPr>
        <p:spPr>
          <a:xfrm>
            <a:off x="8672400" y="1584000"/>
            <a:ext cx="3060000" cy="122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700" b="1">
                <a:solidFill>
                  <a:srgbClr val="F3F4F6"/>
                </a:solidFill>
                <a:latin typeface="Malgun Gothic"/>
                <a:ea typeface="Malgun Gothic"/>
              </a:rPr>
              <a:t>판정 기준 사전 합의</a:t>
            </a:r>
          </a:p>
        </p:txBody>
      </p:sp>
      <p:cxnSp>
        <p:nvCxnSpPr>
          <p:cNvPr id="100252" name="Connector 1"/>
          <p:cNvCxnSpPr>
            <a:stCxn id="100249" idx="0"/>
            <a:endCxn id="100250" idx="0"/>
          </p:cNvCxnSpPr>
          <p:nvPr/>
        </p:nvCxnSpPr>
        <p:spPr>
          <a:xfrm>
            <a:off x="3517200" y="2196000"/>
            <a:ext cx="1047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cxnSp>
        <p:nvCxnSpPr>
          <p:cNvPr id="100253" name="Connector 2"/>
          <p:cNvCxnSpPr>
            <a:stCxn id="100250" idx="0"/>
            <a:endCxn id="100251" idx="0"/>
          </p:cNvCxnSpPr>
          <p:nvPr/>
        </p:nvCxnSpPr>
        <p:spPr>
          <a:xfrm>
            <a:off x="7624800" y="2196000"/>
            <a:ext cx="1047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sp>
        <p:nvSpPr>
          <p:cNvPr id="100254" name="StatL"/>
          <p:cNvSpPr/>
          <p:nvPr/>
        </p:nvSpPr>
        <p:spPr>
          <a:xfrm>
            <a:off x="457200" y="3168000"/>
            <a:ext cx="5544000" cy="223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55" name="StatLN"/>
          <p:cNvSpPr txBox="1"/>
          <p:nvPr/>
        </p:nvSpPr>
        <p:spPr>
          <a:xfrm>
            <a:off x="457200" y="3384000"/>
            <a:ext cx="5544000" cy="100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5400" b="1">
                <a:solidFill>
                  <a:srgbClr val="E8B44C"/>
                </a:solidFill>
                <a:latin typeface="Malgun Gothic"/>
                <a:ea typeface="Malgun Gothic"/>
              </a:rPr>
              <a:t>2.9%</a:t>
            </a:r>
          </a:p>
        </p:txBody>
      </p:sp>
      <p:sp>
        <p:nvSpPr>
          <p:cNvPr id="100256" name="StatLS"/>
          <p:cNvSpPr txBox="1"/>
          <p:nvPr/>
        </p:nvSpPr>
        <p:spPr>
          <a:xfrm>
            <a:off x="612000" y="4500000"/>
            <a:ext cx="5256000" cy="57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00">
                <a:solidFill>
                  <a:srgbClr val="A9B1D0"/>
                </a:solidFill>
                <a:latin typeface="Malgun Gothic"/>
                <a:ea typeface="Malgun Gothic"/>
              </a:rPr>
              <a:t>정답 비율 — 전원 '미가입' 답해도 정확도 97.1%</a:t>
            </a:r>
          </a:p>
        </p:txBody>
      </p:sp>
      <p:sp>
        <p:nvSpPr>
          <p:cNvPr id="100257" name="StatR"/>
          <p:cNvSpPr/>
          <p:nvPr/>
        </p:nvSpPr>
        <p:spPr>
          <a:xfrm>
            <a:off x="6192000" y="3168000"/>
            <a:ext cx="5544000" cy="223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58" name="StatRN"/>
          <p:cNvSpPr txBox="1"/>
          <p:nvPr/>
        </p:nvSpPr>
        <p:spPr>
          <a:xfrm>
            <a:off x="6192000" y="3384000"/>
            <a:ext cx="5544000" cy="100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5400" b="1">
                <a:solidFill>
                  <a:srgbClr val="7FB2E8"/>
                </a:solidFill>
                <a:latin typeface="Malgun Gothic"/>
                <a:ea typeface="Malgun Gothic"/>
              </a:rPr>
              <a:t>5.8%</a:t>
            </a:r>
          </a:p>
        </p:txBody>
      </p:sp>
      <p:sp>
        <p:nvSpPr>
          <p:cNvPr id="100259" name="StatRS"/>
          <p:cNvSpPr txBox="1"/>
          <p:nvPr/>
        </p:nvSpPr>
        <p:spPr>
          <a:xfrm>
            <a:off x="6336000" y="4500000"/>
            <a:ext cx="5256000" cy="57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00">
                <a:solidFill>
                  <a:srgbClr val="A9B1D0"/>
                </a:solidFill>
                <a:latin typeface="Malgun Gothic"/>
                <a:ea typeface="Malgun Gothic"/>
              </a:rPr>
              <a:t>합격선 — 기준선의 2배 · 모델 전 사전 합의</a:t>
            </a:r>
          </a:p>
        </p:txBody>
      </p:sp>
      <p:sp>
        <p:nvSpPr>
          <p:cNvPr id="100260" name="Eff1"/>
          <p:cNvSpPr/>
          <p:nvPr/>
        </p:nvSpPr>
        <p:spPr>
          <a:xfrm>
            <a:off x="486000" y="5688000"/>
            <a:ext cx="3556800" cy="79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 b="1">
                <a:solidFill>
                  <a:srgbClr val="F3F4F6"/>
                </a:solidFill>
                <a:latin typeface="Malgun Gothic"/>
                <a:ea typeface="Malgun Gothic"/>
              </a:rPr>
              <a:t>+53명 — 상담 효율</a:t>
            </a:r>
          </a:p>
        </p:txBody>
      </p:sp>
      <p:sp>
        <p:nvSpPr>
          <p:cNvPr id="100261" name="Eff2"/>
          <p:cNvSpPr/>
          <p:nvPr/>
        </p:nvSpPr>
        <p:spPr>
          <a:xfrm>
            <a:off x="4316400" y="5688000"/>
            <a:ext cx="3556800" cy="79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 b="1">
                <a:solidFill>
                  <a:srgbClr val="F3F4F6"/>
                </a:solidFill>
                <a:latin typeface="Malgun Gothic"/>
                <a:ea typeface="Malgun Gothic"/>
              </a:rPr>
              <a:t>관행 폐기 — 데이터 우선순위</a:t>
            </a:r>
          </a:p>
        </p:txBody>
      </p:sp>
      <p:sp>
        <p:nvSpPr>
          <p:cNvPr id="100262" name="Eff3"/>
          <p:cNvSpPr/>
          <p:nvPr/>
        </p:nvSpPr>
        <p:spPr>
          <a:xfrm>
            <a:off x="8146800" y="5688000"/>
            <a:ext cx="3556800" cy="79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 b="1">
                <a:solidFill>
                  <a:srgbClr val="F3F4F6"/>
                </a:solidFill>
                <a:latin typeface="Malgun Gothic"/>
                <a:ea typeface="Malgun Gothic"/>
              </a:rPr>
              <a:t>파일럿 A/B — 준비 완료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63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0264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2 · 데이터 소개</a:t>
            </a:r>
          </a:p>
        </p:txBody>
      </p:sp>
      <p:sp>
        <p:nvSpPr>
          <p:cNvPr id="100265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385,019행에서 38,932명으로</a:t>
            </a:r>
          </a:p>
        </p:txBody>
      </p:sp>
      <p:sp>
        <p:nvSpPr>
          <p:cNvPr id="100266" name="Flow1"/>
          <p:cNvSpPr/>
          <p:nvPr/>
        </p:nvSpPr>
        <p:spPr>
          <a:xfrm>
            <a:off x="457200" y="1584000"/>
            <a:ext cx="2520000" cy="122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385,019행</a:t>
            </a:r>
          </a:p>
        </p:txBody>
      </p:sp>
      <p:sp>
        <p:nvSpPr>
          <p:cNvPr id="100267" name="Flow1S"/>
          <p:cNvSpPr txBox="1"/>
          <p:nvPr/>
        </p:nvSpPr>
        <p:spPr>
          <a:xfrm>
            <a:off x="457200" y="2880000"/>
            <a:ext cx="2520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원본 · 22열 · 보험+증권</a:t>
            </a:r>
          </a:p>
        </p:txBody>
      </p:sp>
      <p:sp>
        <p:nvSpPr>
          <p:cNvPr id="100268" name="Flow2"/>
          <p:cNvSpPr/>
          <p:nvPr/>
        </p:nvSpPr>
        <p:spPr>
          <a:xfrm>
            <a:off x="3376800" y="1584000"/>
            <a:ext cx="2520000" cy="122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77,305건</a:t>
            </a:r>
          </a:p>
        </p:txBody>
      </p:sp>
      <p:sp>
        <p:nvSpPr>
          <p:cNvPr id="100269" name="Flow2S"/>
          <p:cNvSpPr txBox="1"/>
          <p:nvPr/>
        </p:nvSpPr>
        <p:spPr>
          <a:xfrm>
            <a:off x="3376800" y="2880000"/>
            <a:ext cx="2520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보험 거래만 · 20.1%</a:t>
            </a:r>
          </a:p>
        </p:txBody>
      </p:sp>
      <p:sp>
        <p:nvSpPr>
          <p:cNvPr id="100270" name="Flow3"/>
          <p:cNvSpPr/>
          <p:nvPr/>
        </p:nvSpPr>
        <p:spPr>
          <a:xfrm>
            <a:off x="6296400" y="1584000"/>
            <a:ext cx="2520000" cy="122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74,776명</a:t>
            </a:r>
          </a:p>
        </p:txBody>
      </p:sp>
      <p:sp>
        <p:nvSpPr>
          <p:cNvPr id="100271" name="Flow3S"/>
          <p:cNvSpPr txBox="1"/>
          <p:nvPr/>
        </p:nvSpPr>
        <p:spPr>
          <a:xfrm>
            <a:off x="6296400" y="2880000"/>
            <a:ext cx="2520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고객 편성 — 1행=1명</a:t>
            </a:r>
          </a:p>
        </p:txBody>
      </p:sp>
      <p:sp>
        <p:nvSpPr>
          <p:cNvPr id="100272" name="Flow4"/>
          <p:cNvSpPr/>
          <p:nvPr/>
        </p:nvSpPr>
        <p:spPr>
          <a:xfrm>
            <a:off x="9216000" y="1584000"/>
            <a:ext cx="2520000" cy="1224000"/>
          </a:xfrm>
          <a:prstGeom prst="roundRect">
            <a:avLst/>
          </a:prstGeom>
          <a:solidFill>
            <a:srgbClr val="1E3A2C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algun Gothic"/>
                <a:ea typeface="Malgun Gothic"/>
              </a:rPr>
              <a:t>38,932명</a:t>
            </a:r>
          </a:p>
        </p:txBody>
      </p:sp>
      <p:sp>
        <p:nvSpPr>
          <p:cNvPr id="100273" name="Flow4S"/>
          <p:cNvSpPr txBox="1"/>
          <p:nvPr/>
        </p:nvSpPr>
        <p:spPr>
          <a:xfrm>
            <a:off x="9216000" y="2880000"/>
            <a:ext cx="2520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분석 풀 · 정답 2.9%</a:t>
            </a:r>
          </a:p>
        </p:txBody>
      </p:sp>
      <p:cxnSp>
        <p:nvCxnSpPr>
          <p:cNvPr id="100274" name="Connector 1"/>
          <p:cNvCxnSpPr>
            <a:stCxn id="100266" idx="0"/>
            <a:endCxn id="100268" idx="0"/>
          </p:cNvCxnSpPr>
          <p:nvPr/>
        </p:nvCxnSpPr>
        <p:spPr>
          <a:xfrm>
            <a:off x="2977200" y="2196000"/>
            <a:ext cx="399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cxnSp>
        <p:nvCxnSpPr>
          <p:cNvPr id="100275" name="Connector 2"/>
          <p:cNvCxnSpPr>
            <a:stCxn id="100268" idx="0"/>
            <a:endCxn id="100270" idx="0"/>
          </p:cNvCxnSpPr>
          <p:nvPr/>
        </p:nvCxnSpPr>
        <p:spPr>
          <a:xfrm>
            <a:off x="5896800" y="2196000"/>
            <a:ext cx="399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cxnSp>
        <p:nvCxnSpPr>
          <p:cNvPr id="100276" name="Connector 3"/>
          <p:cNvCxnSpPr>
            <a:stCxn id="100270" idx="0"/>
            <a:endCxn id="100272" idx="0"/>
          </p:cNvCxnSpPr>
          <p:nvPr/>
        </p:nvCxnSpPr>
        <p:spPr>
          <a:xfrm>
            <a:off x="8816400" y="2196000"/>
            <a:ext cx="399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sp>
        <p:nvSpPr>
          <p:cNvPr id="100277" name="C1"/>
          <p:cNvSpPr/>
          <p:nvPr/>
        </p:nvSpPr>
        <p:spPr>
          <a:xfrm>
            <a:off x="486000" y="3528000"/>
            <a:ext cx="3556800" cy="12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78" name="C1H"/>
          <p:cNvSpPr txBox="1"/>
          <p:nvPr/>
        </p:nvSpPr>
        <p:spPr>
          <a:xfrm>
            <a:off x="630000" y="3654000"/>
            <a:ext cx="32688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 b="1">
                <a:solidFill>
                  <a:srgbClr val="7FB2E8"/>
                </a:solidFill>
                <a:latin typeface="Malgun Gothic"/>
                <a:ea typeface="Malgun Gothic"/>
              </a:rPr>
              <a:t>결측</a:t>
            </a:r>
          </a:p>
        </p:txBody>
      </p:sp>
      <p:sp>
        <p:nvSpPr>
          <p:cNvPr id="100279" name="C1B"/>
          <p:cNvSpPr txBox="1"/>
          <p:nvPr/>
        </p:nvSpPr>
        <p:spPr>
          <a:xfrm>
            <a:off x="630000" y="4014000"/>
            <a:ext cx="3268800" cy="648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>
                <a:solidFill>
                  <a:srgbClr val="F3F4F6"/>
                </a:solidFill>
                <a:latin typeface="Malgun Gothic"/>
                <a:ea typeface="Malgun Gothic"/>
              </a:rPr>
              <a:t>NaN 0건 — '기타' 보존</a:t>
            </a:r>
          </a:p>
        </p:txBody>
      </p:sp>
      <p:sp>
        <p:nvSpPr>
          <p:cNvPr id="100280" name="C2"/>
          <p:cNvSpPr/>
          <p:nvPr/>
        </p:nvSpPr>
        <p:spPr>
          <a:xfrm>
            <a:off x="4316400" y="3528000"/>
            <a:ext cx="3556800" cy="12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81" name="C2H"/>
          <p:cNvSpPr txBox="1"/>
          <p:nvPr/>
        </p:nvSpPr>
        <p:spPr>
          <a:xfrm>
            <a:off x="4460400" y="3654000"/>
            <a:ext cx="32688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 b="1">
                <a:solidFill>
                  <a:srgbClr val="7FB2E8"/>
                </a:solidFill>
                <a:latin typeface="Malgun Gothic"/>
                <a:ea typeface="Malgun Gothic"/>
              </a:rPr>
              <a:t>이상치</a:t>
            </a:r>
          </a:p>
        </p:txBody>
      </p:sp>
      <p:sp>
        <p:nvSpPr>
          <p:cNvPr id="100282" name="C2B"/>
          <p:cNvSpPr txBox="1"/>
          <p:nvPr/>
        </p:nvSpPr>
        <p:spPr>
          <a:xfrm>
            <a:off x="4460400" y="4014000"/>
            <a:ext cx="3268800" cy="648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>
                <a:solidFill>
                  <a:srgbClr val="F3F4F6"/>
                </a:solidFill>
                <a:latin typeface="Malgun Gothic"/>
                <a:ea typeface="Malgun Gothic"/>
              </a:rPr>
              <a:t>8,964 오경보 vs 680 진짜 꼬리</a:t>
            </a:r>
          </a:p>
        </p:txBody>
      </p:sp>
      <p:sp>
        <p:nvSpPr>
          <p:cNvPr id="100283" name="C3"/>
          <p:cNvSpPr/>
          <p:nvPr/>
        </p:nvSpPr>
        <p:spPr>
          <a:xfrm>
            <a:off x="8146800" y="3528000"/>
            <a:ext cx="3556800" cy="12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284" name="C3H"/>
          <p:cNvSpPr txBox="1"/>
          <p:nvPr/>
        </p:nvSpPr>
        <p:spPr>
          <a:xfrm>
            <a:off x="8290800" y="3654000"/>
            <a:ext cx="32688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 b="1">
                <a:solidFill>
                  <a:srgbClr val="7FB2E8"/>
                </a:solidFill>
                <a:latin typeface="Malgun Gothic"/>
                <a:ea typeface="Malgun Gothic"/>
              </a:rPr>
              <a:t>시간</a:t>
            </a:r>
          </a:p>
        </p:txBody>
      </p:sp>
      <p:sp>
        <p:nvSpPr>
          <p:cNvPr id="100285" name="C3B"/>
          <p:cNvSpPr txBox="1"/>
          <p:nvPr/>
        </p:nvSpPr>
        <p:spPr>
          <a:xfrm>
            <a:off x="8290800" y="4014000"/>
            <a:ext cx="3268800" cy="648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>
                <a:solidFill>
                  <a:srgbClr val="F3F4F6"/>
                </a:solidFill>
                <a:latin typeface="Malgun Gothic"/>
                <a:ea typeface="Malgun Gothic"/>
              </a:rPr>
              <a:t>가입 연도 → 정답 생성</a:t>
            </a:r>
          </a:p>
        </p:txBody>
      </p:sp>
      <p:sp>
        <p:nvSpPr>
          <p:cNvPr id="100286" name="Foot"/>
          <p:cNvSpPr txBox="1"/>
          <p:nvPr/>
        </p:nvSpPr>
        <p:spPr>
          <a:xfrm>
            <a:off x="457200" y="5184000"/>
            <a:ext cx="112788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00">
                <a:solidFill>
                  <a:srgbClr val="A9B1D0"/>
                </a:solidFill>
                <a:latin typeface="Malgun Gothic"/>
                <a:ea typeface="Malgun Gothic"/>
              </a:rPr>
              <a:t>고객당 1행 96.9% · 최대 5행 · 가입 연도의 88.3%가 2024~2025 스냅샷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87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0288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3 · 분석 과정 — EDA</a:t>
            </a:r>
          </a:p>
        </p:txBody>
      </p:sp>
      <p:sp>
        <p:nvSpPr>
          <p:cNvPr id="100289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가설은 네 번 무너졌다</a:t>
            </a:r>
          </a:p>
        </p:txBody>
      </p:sp>
      <p:sp>
        <p:nvSpPr>
          <p:cNvPr id="100290" name="Step1"/>
          <p:cNvSpPr/>
          <p:nvPr/>
        </p:nvSpPr>
        <p:spPr>
          <a:xfrm>
            <a:off x="457200" y="1584000"/>
            <a:ext cx="2520000" cy="115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 b="1">
                <a:solidFill>
                  <a:srgbClr val="F3F4F6"/>
                </a:solidFill>
                <a:latin typeface="Malgun Gothic"/>
                <a:ea typeface="Malgun Gothic"/>
              </a:rPr>
              <a:t>① 대용라벨 가설 4개</a:t>
            </a:r>
          </a:p>
        </p:txBody>
      </p:sp>
      <p:sp>
        <p:nvSpPr>
          <p:cNvPr id="100291" name="Step1R"/>
          <p:cNvSpPr txBox="1"/>
          <p:nvPr/>
        </p:nvSpPr>
        <p:spPr>
          <a:xfrm>
            <a:off x="457200" y="2808000"/>
            <a:ext cx="2520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 b="1">
                <a:solidFill>
                  <a:srgbClr val="E08080"/>
                </a:solidFill>
                <a:latin typeface="Malgun Gothic"/>
                <a:ea typeface="Malgun Gothic"/>
              </a:rPr>
              <a:t>✕ 전부 반박</a:t>
            </a:r>
          </a:p>
        </p:txBody>
      </p:sp>
      <p:sp>
        <p:nvSpPr>
          <p:cNvPr id="100292" name="Step2"/>
          <p:cNvSpPr/>
          <p:nvPr/>
        </p:nvSpPr>
        <p:spPr>
          <a:xfrm>
            <a:off x="3376800" y="1584000"/>
            <a:ext cx="2520000" cy="115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 b="1">
                <a:solidFill>
                  <a:srgbClr val="F3F4F6"/>
                </a:solidFill>
                <a:latin typeface="Malgun Gothic"/>
                <a:ea typeface="Malgun Gothic"/>
              </a:rPr>
              <a:t>② 실제 타겟 재검증</a:t>
            </a:r>
          </a:p>
        </p:txBody>
      </p:sp>
      <p:sp>
        <p:nvSpPr>
          <p:cNvPr id="100293" name="Step2R"/>
          <p:cNvSpPr txBox="1"/>
          <p:nvPr/>
        </p:nvSpPr>
        <p:spPr>
          <a:xfrm>
            <a:off x="3376800" y="2808000"/>
            <a:ext cx="2520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 b="1">
                <a:solidFill>
                  <a:srgbClr val="E08080"/>
                </a:solidFill>
                <a:latin typeface="Malgun Gothic"/>
                <a:ea typeface="Malgun Gothic"/>
              </a:rPr>
              <a:t>✕ 전부 뒤집힘</a:t>
            </a:r>
          </a:p>
        </p:txBody>
      </p:sp>
      <p:sp>
        <p:nvSpPr>
          <p:cNvPr id="100294" name="Step3"/>
          <p:cNvSpPr/>
          <p:nvPr/>
        </p:nvSpPr>
        <p:spPr>
          <a:xfrm>
            <a:off x="6296400" y="1584000"/>
            <a:ext cx="2520000" cy="115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 b="1">
                <a:solidFill>
                  <a:srgbClr val="F3F4F6"/>
                </a:solidFill>
                <a:latin typeface="Malgun Gothic"/>
                <a:ea typeface="Malgun Gothic"/>
              </a:rPr>
              <a:t>③ 새 가설 A~D</a:t>
            </a:r>
          </a:p>
        </p:txBody>
      </p:sp>
      <p:sp>
        <p:nvSpPr>
          <p:cNvPr id="100295" name="Step3R"/>
          <p:cNvSpPr txBox="1"/>
          <p:nvPr/>
        </p:nvSpPr>
        <p:spPr>
          <a:xfrm>
            <a:off x="6296400" y="2808000"/>
            <a:ext cx="2520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 b="1">
                <a:solidFill>
                  <a:srgbClr val="5EC98A"/>
                </a:solidFill>
                <a:latin typeface="Malgun Gothic"/>
                <a:ea typeface="Malgun Gothic"/>
              </a:rPr>
              <a:t>A·B 지지 · C·D 반박</a:t>
            </a:r>
          </a:p>
        </p:txBody>
      </p:sp>
      <p:sp>
        <p:nvSpPr>
          <p:cNvPr id="100296" name="Step4"/>
          <p:cNvSpPr/>
          <p:nvPr/>
        </p:nvSpPr>
        <p:spPr>
          <a:xfrm>
            <a:off x="9216000" y="1584000"/>
            <a:ext cx="2520000" cy="115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 b="1">
                <a:solidFill>
                  <a:srgbClr val="F3F4F6"/>
                </a:solidFill>
                <a:latin typeface="Malgun Gothic"/>
                <a:ea typeface="Malgun Gothic"/>
              </a:rPr>
              <a:t>④ 미개척 축 E·F</a:t>
            </a:r>
          </a:p>
        </p:txBody>
      </p:sp>
      <p:sp>
        <p:nvSpPr>
          <p:cNvPr id="100297" name="Step4R"/>
          <p:cNvSpPr txBox="1"/>
          <p:nvPr/>
        </p:nvSpPr>
        <p:spPr>
          <a:xfrm>
            <a:off x="9216000" y="2808000"/>
            <a:ext cx="2520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 b="1">
                <a:solidFill>
                  <a:srgbClr val="5EC98A"/>
                </a:solidFill>
                <a:latin typeface="Malgun Gothic"/>
                <a:ea typeface="Malgun Gothic"/>
              </a:rPr>
              <a:t>E 지지·강화 · F 철회</a:t>
            </a:r>
          </a:p>
        </p:txBody>
      </p:sp>
      <p:cxnSp>
        <p:nvCxnSpPr>
          <p:cNvPr id="100298" name="Connector 1"/>
          <p:cNvCxnSpPr>
            <a:stCxn id="100290" idx="0"/>
            <a:endCxn id="100292" idx="0"/>
          </p:cNvCxnSpPr>
          <p:nvPr/>
        </p:nvCxnSpPr>
        <p:spPr>
          <a:xfrm>
            <a:off x="2977200" y="2160000"/>
            <a:ext cx="399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cxnSp>
        <p:nvCxnSpPr>
          <p:cNvPr id="100299" name="Connector 2"/>
          <p:cNvCxnSpPr>
            <a:stCxn id="100292" idx="0"/>
            <a:endCxn id="100294" idx="0"/>
          </p:cNvCxnSpPr>
          <p:nvPr/>
        </p:nvCxnSpPr>
        <p:spPr>
          <a:xfrm>
            <a:off x="5896800" y="2160000"/>
            <a:ext cx="399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cxnSp>
        <p:nvCxnSpPr>
          <p:cNvPr id="100300" name="Connector 3"/>
          <p:cNvCxnSpPr>
            <a:stCxn id="100294" idx="0"/>
            <a:endCxn id="100296" idx="0"/>
          </p:cNvCxnSpPr>
          <p:nvPr/>
        </p:nvCxnSpPr>
        <p:spPr>
          <a:xfrm>
            <a:off x="8816400" y="2160000"/>
            <a:ext cx="399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sp>
        <p:nvSpPr>
          <p:cNvPr id="100301" name="RuleBand"/>
          <p:cNvSpPr/>
          <p:nvPr/>
        </p:nvSpPr>
        <p:spPr>
          <a:xfrm>
            <a:off x="457200" y="3456000"/>
            <a:ext cx="11278800" cy="936000"/>
          </a:xfrm>
          <a:prstGeom prst="roundRect">
            <a:avLst/>
          </a:prstGeom>
          <a:solidFill>
            <a:srgbClr val="332A14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Malgun Gothic"/>
                <a:ea typeface="Malgun Gothic"/>
              </a:rPr>
              <a:t>채택 규칙 — 두 시점 프레임(T=2023 / T=2024)에서 재현될 때만</a:t>
            </a:r>
          </a:p>
        </p:txBody>
      </p:sp>
      <p:sp>
        <p:nvSpPr>
          <p:cNvPr id="100302" name="Flip"/>
          <p:cNvSpPr txBox="1"/>
          <p:nvPr/>
        </p:nvSpPr>
        <p:spPr>
          <a:xfrm>
            <a:off x="457200" y="4608000"/>
            <a:ext cx="112788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00">
                <a:solidFill>
                  <a:srgbClr val="A9B1D0"/>
                </a:solidFill>
                <a:latin typeface="Malgun Gothic"/>
                <a:ea typeface="Malgun Gothic"/>
              </a:rPr>
              <a:t>뒤집힌 것 — 소득 정점 5000미만 · 신용 계단 없음 · 최근 가입자 최고</a:t>
            </a:r>
          </a:p>
        </p:txBody>
      </p:sp>
      <p:sp>
        <p:nvSpPr>
          <p:cNvPr id="100303" name="Foot"/>
          <p:cNvSpPr txBox="1"/>
          <p:nvPr/>
        </p:nvSpPr>
        <p:spPr>
          <a:xfrm>
            <a:off x="457200" y="5112000"/>
            <a:ext cx="112788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400">
                <a:solidFill>
                  <a:srgbClr val="A9B1D0"/>
                </a:solidFill>
                <a:latin typeface="Malgun Gothic"/>
                <a:ea typeface="Malgun Gothic"/>
              </a:rPr>
              <a:t>반박된 기록이 피처 선택을 결정한 정보 — 무너진 가설이 다음 가설의 재료였습니다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04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0305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3 · 분석 과정 — EDA</a:t>
            </a:r>
          </a:p>
        </p:txBody>
      </p:sp>
      <p:sp>
        <p:nvSpPr>
          <p:cNvPr id="100306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두 프레임을 통과한 신호 여섯 개</a:t>
            </a:r>
          </a:p>
        </p:txBody>
      </p:sp>
      <p:graphicFrame>
        <p:nvGraphicFramePr>
          <p:cNvPr id="100307" name="차트 100306"/>
          <p:cNvGraphicFramePr/>
          <p:nvPr/>
        </p:nvGraphicFramePr>
        <p:xfrm>
          <a:off x="457200" y="1512000"/>
          <a:ext cx="11278800" cy="37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308" name="Cap"/>
          <p:cNvSpPr txBox="1"/>
          <p:nvPr/>
        </p:nvSpPr>
        <p:spPr>
          <a:xfrm>
            <a:off x="457200" y="5400000"/>
            <a:ext cx="112788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실제 가입률 (%) — 진한 막대 = 신호 그룹 · 연한 막대 = 비교 그룹 (하단 = 신호명)</a:t>
            </a:r>
          </a:p>
        </p:txBody>
      </p:sp>
      <p:sp>
        <p:nvSpPr>
          <p:cNvPr id="100309" name="Takeaway"/>
          <p:cNvSpPr txBox="1"/>
          <p:nvPr/>
        </p:nvSpPr>
        <p:spPr>
          <a:xfrm>
            <a:off x="457200" y="5832000"/>
            <a:ext cx="112788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00" b="1">
                <a:solidFill>
                  <a:srgbClr val="E8B44C"/>
                </a:solidFill>
                <a:latin typeface="Malgun Gothic"/>
                <a:ea typeface="Malgun Gothic"/>
              </a:rPr>
              <a:t>격차 — 보유수 4.1배 · 특약 5.3배(통제 후 6.9배) · 지역 4.8배 · 개별 상관은 최고 +0.070 → 조합의 힘</a:t>
            </a:r>
          </a:p>
        </p:txBody>
      </p:sp>
      <p:sp>
        <p:nvSpPr>
          <p:cNvPr id="100310" name="Dropped"/>
          <p:cNvSpPr txBox="1"/>
          <p:nvPr/>
        </p:nvSpPr>
        <p:spPr>
          <a:xfrm>
            <a:off x="457200" y="6336000"/>
            <a:ext cx="112788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>
                <a:solidFill>
                  <a:srgbClr val="E08080"/>
                </a:solidFill>
                <a:latin typeface="Malgun Gothic"/>
                <a:ea typeface="Malgun Gothic"/>
              </a:rPr>
              <a:t>버려진 신호 — 갱신형 · 경과 기간 · 병력 · 결혼 단독 · 보유수×납입액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108" name="차트 100107"/>
          <p:cNvGraphicFramePr/>
          <p:nvPr/>
        </p:nvGraphicFramePr>
        <p:xfrm>
          <a:off x="457200" y="1656000"/>
          <a:ext cx="7020000" cy="45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311" name="InsightCard"/>
          <p:cNvSpPr/>
          <p:nvPr/>
        </p:nvSpPr>
        <p:spPr>
          <a:xfrm>
            <a:off x="7776000" y="1296000"/>
            <a:ext cx="3960000" cy="48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11" name="CmpHead"/>
          <p:cNvSpPr txBox="1"/>
          <p:nvPr/>
        </p:nvSpPr>
        <p:spPr>
          <a:xfrm>
            <a:off x="7956000" y="1422000"/>
            <a:ext cx="3600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같은 1,000명 — 누구를 고르느냐</a:t>
            </a:r>
          </a:p>
        </p:txBody>
      </p:sp>
      <p:sp>
        <p:nvSpPr>
          <p:cNvPr id="100412" name="Bar82"/>
          <p:cNvSpPr/>
          <p:nvPr/>
        </p:nvSpPr>
        <p:spPr>
          <a:xfrm>
            <a:off x="8010000" y="2016000"/>
            <a:ext cx="1548000" cy="2628000"/>
          </a:xfrm>
          <a:prstGeom prst="rect">
            <a:avLst/>
          </a:prstGeom>
          <a:solidFill>
            <a:srgbClr val="E8B4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13" name="Bar82N"/>
          <p:cNvSpPr txBox="1"/>
          <p:nvPr/>
        </p:nvSpPr>
        <p:spPr>
          <a:xfrm>
            <a:off x="8010000" y="2106000"/>
            <a:ext cx="1548000" cy="46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2400" b="1">
                <a:solidFill>
                  <a:srgbClr val="1C1F26"/>
                </a:solidFill>
                <a:latin typeface="Malgun Gothic"/>
                <a:ea typeface="Malgun Gothic"/>
              </a:rPr>
              <a:t>82명</a:t>
            </a:r>
          </a:p>
        </p:txBody>
      </p:sp>
      <p:sp>
        <p:nvSpPr>
          <p:cNvPr id="100414" name="Lab82"/>
          <p:cNvSpPr txBox="1"/>
          <p:nvPr/>
        </p:nvSpPr>
        <p:spPr>
          <a:xfrm>
            <a:off x="7884000" y="1710000"/>
            <a:ext cx="18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모델이 고른 1,000명</a:t>
            </a:r>
          </a:p>
        </p:txBody>
      </p:sp>
      <p:sp>
        <p:nvSpPr>
          <p:cNvPr id="100415" name="Sub82"/>
          <p:cNvSpPr txBox="1"/>
          <p:nvPr/>
        </p:nvSpPr>
        <p:spPr>
          <a:xfrm>
            <a:off x="7884000" y="4680000"/>
            <a:ext cx="18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50" b="1">
                <a:solidFill>
                  <a:srgbClr val="E8B44C"/>
                </a:solidFill>
                <a:latin typeface="Malgun Gothic"/>
                <a:ea typeface="Malgun Gothic"/>
              </a:rPr>
              <a:t>실제 가입 8.2%</a:t>
            </a:r>
          </a:p>
        </p:txBody>
      </p:sp>
      <p:sp>
        <p:nvSpPr>
          <p:cNvPr id="100416" name="Bar29"/>
          <p:cNvSpPr/>
          <p:nvPr/>
        </p:nvSpPr>
        <p:spPr>
          <a:xfrm>
            <a:off x="9918000" y="3708000"/>
            <a:ext cx="1548000" cy="9360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17" name="Bar29N"/>
          <p:cNvSpPr txBox="1"/>
          <p:nvPr/>
        </p:nvSpPr>
        <p:spPr>
          <a:xfrm>
            <a:off x="9918000" y="3744000"/>
            <a:ext cx="15480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800" b="1">
                <a:solidFill>
                  <a:srgbClr val="1C1F26"/>
                </a:solidFill>
                <a:latin typeface="Malgun Gothic"/>
                <a:ea typeface="Malgun Gothic"/>
              </a:rPr>
              <a:t>29명</a:t>
            </a:r>
          </a:p>
        </p:txBody>
      </p:sp>
      <p:sp>
        <p:nvSpPr>
          <p:cNvPr id="100418" name="Lab29"/>
          <p:cNvSpPr txBox="1"/>
          <p:nvPr/>
        </p:nvSpPr>
        <p:spPr>
          <a:xfrm>
            <a:off x="9792000" y="3366000"/>
            <a:ext cx="18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무작위 1,000명</a:t>
            </a:r>
          </a:p>
        </p:txBody>
      </p:sp>
      <p:sp>
        <p:nvSpPr>
          <p:cNvPr id="100419" name="Sub29"/>
          <p:cNvSpPr txBox="1"/>
          <p:nvPr/>
        </p:nvSpPr>
        <p:spPr>
          <a:xfrm>
            <a:off x="9792000" y="4680000"/>
            <a:ext cx="18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실제 가입 2.9%</a:t>
            </a:r>
          </a:p>
        </p:txBody>
      </p:sp>
      <p:sp>
        <p:nvSpPr>
          <p:cNvPr id="100420" name="BaseLine"/>
          <p:cNvSpPr/>
          <p:nvPr/>
        </p:nvSpPr>
        <p:spPr>
          <a:xfrm>
            <a:off x="7956000" y="4644000"/>
            <a:ext cx="3510000" cy="18000"/>
          </a:xfrm>
          <a:prstGeom prst="rect">
            <a:avLst/>
          </a:prstGeom>
          <a:solidFill>
            <a:srgbClr val="A9B1D0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00421" name="Connector 1"/>
          <p:cNvCxnSpPr>
            <a:stCxn id="100412" idx="0"/>
            <a:endCxn id="100416" idx="0"/>
          </p:cNvCxnSpPr>
          <p:nvPr/>
        </p:nvCxnSpPr>
        <p:spPr>
          <a:xfrm>
            <a:off x="9558000" y="3330000"/>
            <a:ext cx="360000" cy="846000"/>
          </a:xfrm>
          <a:prstGeom prst="straightConnector1">
            <a:avLst/>
          </a:prstGeom>
          <a:ln w="12700">
            <a:solidFill>
              <a:srgbClr val="E8B44C"/>
            </a:solidFill>
            <a:tailEnd type="triangle"/>
          </a:ln>
        </p:spPr>
      </p:cxnSp>
      <p:sp>
        <p:nvSpPr>
          <p:cNvPr id="100422" name="Mult"/>
          <p:cNvSpPr txBox="1"/>
          <p:nvPr/>
        </p:nvSpPr>
        <p:spPr>
          <a:xfrm>
            <a:off x="9468000" y="2880000"/>
            <a:ext cx="1152000" cy="50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2000" b="1">
                <a:solidFill>
                  <a:srgbClr val="F3F4F6"/>
                </a:solidFill>
                <a:latin typeface="Malgun Gothic"/>
                <a:ea typeface="Malgun Gothic"/>
              </a:rPr>
              <a:t>2.8배</a:t>
            </a:r>
          </a:p>
        </p:txBody>
      </p:sp>
      <p:sp>
        <p:nvSpPr>
          <p:cNvPr id="100423" name="CmpFoot"/>
          <p:cNvSpPr txBox="1"/>
          <p:nvPr/>
        </p:nvSpPr>
        <p:spPr>
          <a:xfrm>
            <a:off x="7956000" y="5076000"/>
            <a:ext cx="36000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00" b="1">
                <a:solidFill>
                  <a:srgbClr val="7FB2E8"/>
                </a:solidFill>
                <a:latin typeface="Malgun Gothic"/>
                <a:ea typeface="Malgun Gothic"/>
              </a:rPr>
              <a:t>+53명 = 증분 (실측)</a:t>
            </a:r>
          </a:p>
        </p:txBody>
      </p:sp>
      <p:sp>
        <p:nvSpPr>
          <p:cNvPr id="100424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00425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4 · 결과 — 모델링</a:t>
            </a:r>
          </a:p>
        </p:txBody>
      </p:sp>
      <p:sp>
        <p:nvSpPr>
          <p:cNvPr id="100426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네 모델의 경주 — 판정선 통과</a:t>
            </a:r>
          </a:p>
        </p:txBody>
      </p:sp>
      <p:sp>
        <p:nvSpPr>
          <p:cNvPr id="100427" name="ChartCap"/>
          <p:cNvSpPr txBox="1"/>
          <p:nvPr/>
        </p:nvSpPr>
        <p:spPr>
          <a:xfrm>
            <a:off x="457200" y="1422000"/>
            <a:ext cx="702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250">
                <a:solidFill>
                  <a:srgbClr val="A9B1D0"/>
                </a:solidFill>
                <a:latin typeface="Malgun Gothic"/>
                <a:ea typeface="Malgun Gothic"/>
              </a:rPr>
              <a:t>상위 1,000명 실제 가입률 (%) — 같은 시험 · 반복 20회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29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00430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4 · 결과 — 모델링</a:t>
            </a:r>
          </a:p>
        </p:txBody>
      </p:sp>
      <p:sp>
        <p:nvSpPr>
          <p:cNvPr id="100431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왜 로지스틱인가 — 세 가지 이유</a:t>
            </a:r>
          </a:p>
        </p:txBody>
      </p:sp>
      <p:sp>
        <p:nvSpPr>
          <p:cNvPr id="100432" name="RaceH"/>
          <p:cNvSpPr txBox="1"/>
          <p:nvPr/>
        </p:nvSpPr>
        <p:spPr>
          <a:xfrm>
            <a:off x="457200" y="1440000"/>
            <a:ext cx="5544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점수는 근접했습니다 — 상위 1,000명 실제 가입률</a:t>
            </a:r>
          </a:p>
        </p:txBody>
      </p:sp>
      <p:sp>
        <p:nvSpPr>
          <p:cNvPr id="100433" name="R1L"/>
          <p:cNvSpPr txBox="1"/>
          <p:nvPr/>
        </p:nvSpPr>
        <p:spPr>
          <a:xfrm>
            <a:off x="457200" y="1656000"/>
            <a:ext cx="1584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더미 · 기준선</a:t>
            </a:r>
          </a:p>
        </p:txBody>
      </p:sp>
      <p:sp>
        <p:nvSpPr>
          <p:cNvPr id="100434" name="R1B"/>
          <p:cNvSpPr/>
          <p:nvPr/>
        </p:nvSpPr>
        <p:spPr>
          <a:xfrm>
            <a:off x="2124000" y="1699200"/>
            <a:ext cx="640800" cy="1980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35" name="R1V"/>
          <p:cNvSpPr txBox="1"/>
          <p:nvPr/>
        </p:nvSpPr>
        <p:spPr>
          <a:xfrm>
            <a:off x="2826000" y="1656000"/>
            <a:ext cx="792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50" b="1">
                <a:solidFill>
                  <a:srgbClr val="F3F4F6"/>
                </a:solidFill>
                <a:latin typeface="Malgun Gothic"/>
                <a:ea typeface="Malgun Gothic"/>
              </a:rPr>
              <a:t>2.9%</a:t>
            </a:r>
          </a:p>
        </p:txBody>
      </p:sp>
      <p:sp>
        <p:nvSpPr>
          <p:cNvPr id="100436" name="R2L"/>
          <p:cNvSpPr txBox="1"/>
          <p:nvPr/>
        </p:nvSpPr>
        <p:spPr>
          <a:xfrm>
            <a:off x="457200" y="2070000"/>
            <a:ext cx="1584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r"/>
            <a:r>
              <a:rPr lang="en-US" sz="1350" b="1">
                <a:solidFill>
                  <a:srgbClr val="E8B44C"/>
                </a:solidFill>
                <a:latin typeface="Malgun Gothic"/>
                <a:ea typeface="Malgun Gothic"/>
              </a:rPr>
              <a:t>로지스틱 ★ 확정</a:t>
            </a:r>
          </a:p>
        </p:txBody>
      </p:sp>
      <p:sp>
        <p:nvSpPr>
          <p:cNvPr id="100437" name="R2B"/>
          <p:cNvSpPr/>
          <p:nvPr/>
        </p:nvSpPr>
        <p:spPr>
          <a:xfrm>
            <a:off x="2124000" y="2113200"/>
            <a:ext cx="1807200" cy="198000"/>
          </a:xfrm>
          <a:prstGeom prst="rect">
            <a:avLst/>
          </a:prstGeom>
          <a:solidFill>
            <a:srgbClr val="E8B4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38" name="R2V"/>
          <p:cNvSpPr txBox="1"/>
          <p:nvPr/>
        </p:nvSpPr>
        <p:spPr>
          <a:xfrm>
            <a:off x="3996000" y="2070000"/>
            <a:ext cx="792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50" b="1">
                <a:solidFill>
                  <a:srgbClr val="F3F4F6"/>
                </a:solidFill>
                <a:latin typeface="Malgun Gothic"/>
                <a:ea typeface="Malgun Gothic"/>
              </a:rPr>
              <a:t>8.2%</a:t>
            </a:r>
          </a:p>
        </p:txBody>
      </p:sp>
      <p:sp>
        <p:nvSpPr>
          <p:cNvPr id="100439" name="R3L"/>
          <p:cNvSpPr txBox="1"/>
          <p:nvPr/>
        </p:nvSpPr>
        <p:spPr>
          <a:xfrm>
            <a:off x="457200" y="2484000"/>
            <a:ext cx="1584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LightGBM</a:t>
            </a:r>
          </a:p>
        </p:txBody>
      </p:sp>
      <p:sp>
        <p:nvSpPr>
          <p:cNvPr id="100440" name="R3B"/>
          <p:cNvSpPr/>
          <p:nvPr/>
        </p:nvSpPr>
        <p:spPr>
          <a:xfrm>
            <a:off x="2124000" y="2527200"/>
            <a:ext cx="1940400" cy="1980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41" name="R3V"/>
          <p:cNvSpPr txBox="1"/>
          <p:nvPr/>
        </p:nvSpPr>
        <p:spPr>
          <a:xfrm>
            <a:off x="4140000" y="2484000"/>
            <a:ext cx="792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50" b="1">
                <a:solidFill>
                  <a:srgbClr val="F3F4F6"/>
                </a:solidFill>
                <a:latin typeface="Malgun Gothic"/>
                <a:ea typeface="Malgun Gothic"/>
              </a:rPr>
              <a:t>8.8%</a:t>
            </a:r>
          </a:p>
        </p:txBody>
      </p:sp>
      <p:sp>
        <p:nvSpPr>
          <p:cNvPr id="100442" name="R4L"/>
          <p:cNvSpPr txBox="1"/>
          <p:nvPr/>
        </p:nvSpPr>
        <p:spPr>
          <a:xfrm>
            <a:off x="457200" y="2898000"/>
            <a:ext cx="1584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랜덤포레스트</a:t>
            </a:r>
          </a:p>
        </p:txBody>
      </p:sp>
      <p:sp>
        <p:nvSpPr>
          <p:cNvPr id="100443" name="R4B"/>
          <p:cNvSpPr/>
          <p:nvPr/>
        </p:nvSpPr>
        <p:spPr>
          <a:xfrm>
            <a:off x="2124000" y="2941200"/>
            <a:ext cx="2160000" cy="1980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44" name="R4V"/>
          <p:cNvSpPr txBox="1"/>
          <p:nvPr/>
        </p:nvSpPr>
        <p:spPr>
          <a:xfrm>
            <a:off x="4356000" y="2898000"/>
            <a:ext cx="792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50" b="1">
                <a:solidFill>
                  <a:srgbClr val="F3F4F6"/>
                </a:solidFill>
                <a:latin typeface="Malgun Gothic"/>
                <a:ea typeface="Malgun Gothic"/>
              </a:rPr>
              <a:t>9.8%</a:t>
            </a:r>
          </a:p>
        </p:txBody>
      </p:sp>
      <p:sp>
        <p:nvSpPr>
          <p:cNvPr id="100445" name="R5L"/>
          <p:cNvSpPr txBox="1"/>
          <p:nvPr/>
        </p:nvSpPr>
        <p:spPr>
          <a:xfrm>
            <a:off x="457200" y="3312000"/>
            <a:ext cx="1584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RF튜닝</a:t>
            </a:r>
          </a:p>
        </p:txBody>
      </p:sp>
      <p:sp>
        <p:nvSpPr>
          <p:cNvPr id="100446" name="R5B"/>
          <p:cNvSpPr/>
          <p:nvPr/>
        </p:nvSpPr>
        <p:spPr>
          <a:xfrm>
            <a:off x="2124000" y="3355200"/>
            <a:ext cx="1828800" cy="1980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47" name="R5V"/>
          <p:cNvSpPr txBox="1"/>
          <p:nvPr/>
        </p:nvSpPr>
        <p:spPr>
          <a:xfrm>
            <a:off x="4032000" y="3312000"/>
            <a:ext cx="792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50" b="1">
                <a:solidFill>
                  <a:srgbClr val="F3F4F6"/>
                </a:solidFill>
                <a:latin typeface="Malgun Gothic"/>
                <a:ea typeface="Malgun Gothic"/>
              </a:rPr>
              <a:t>8.3%</a:t>
            </a:r>
          </a:p>
        </p:txBody>
      </p:sp>
      <p:sp>
        <p:nvSpPr>
          <p:cNvPr id="100448" name="RaceCap"/>
          <p:cNvSpPr txBox="1"/>
          <p:nvPr/>
        </p:nvSpPr>
        <p:spPr>
          <a:xfrm>
            <a:off x="457200" y="3780000"/>
            <a:ext cx="5544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RF 12가지 설정 튜닝 → 8.3%: 9.8%는 상한일 뿐</a:t>
            </a:r>
          </a:p>
        </p:txBody>
      </p:sp>
      <p:sp>
        <p:nvSpPr>
          <p:cNvPr id="100449" name="RaceFoot"/>
          <p:cNvSpPr txBox="1"/>
          <p:nvPr/>
        </p:nvSpPr>
        <p:spPr>
          <a:xfrm>
            <a:off x="457200" y="4176000"/>
            <a:ext cx="5544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400" b="1">
                <a:solidFill>
                  <a:srgbClr val="F3F4F6"/>
                </a:solidFill>
                <a:latin typeface="Malgun Gothic"/>
                <a:ea typeface="Malgun Gothic"/>
              </a:rPr>
              <a:t>로지스틱 8.2%는 이 상한 안의 운 범위</a:t>
            </a:r>
          </a:p>
        </p:txBody>
      </p:sp>
      <p:sp>
        <p:nvSpPr>
          <p:cNvPr id="100450" name="Why1"/>
          <p:cNvSpPr/>
          <p:nvPr/>
        </p:nvSpPr>
        <p:spPr>
          <a:xfrm>
            <a:off x="6192000" y="1440000"/>
            <a:ext cx="5544000" cy="111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51" name="Why1H"/>
          <p:cNvSpPr txBox="1"/>
          <p:nvPr/>
        </p:nvSpPr>
        <p:spPr>
          <a:xfrm>
            <a:off x="6336000" y="1566000"/>
            <a:ext cx="5256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600" b="1">
                <a:solidFill>
                  <a:srgbClr val="7FB2E8"/>
                </a:solidFill>
                <a:latin typeface="Malgun Gothic"/>
                <a:ea typeface="Malgun Gothic"/>
              </a:rPr>
              <a:t>① 차이는 운 범위</a:t>
            </a:r>
          </a:p>
        </p:txBody>
      </p:sp>
      <p:sp>
        <p:nvSpPr>
          <p:cNvPr id="100452" name="Why1B"/>
          <p:cNvSpPr txBox="1"/>
          <p:nvPr/>
        </p:nvSpPr>
        <p:spPr>
          <a:xfrm>
            <a:off x="6336000" y="1926000"/>
            <a:ext cx="5256000" cy="57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400">
                <a:solidFill>
                  <a:srgbClr val="F3F4F6"/>
                </a:solidFill>
                <a:latin typeface="Malgun Gothic"/>
                <a:ea typeface="Malgun Gothic"/>
              </a:rPr>
              <a:t>같은 조건으로 20번 겨룸 — 13승 7패, 평균 차이 +0.10%p±0.60. 동전 던지면 뒤집히는 크기입니다.</a:t>
            </a:r>
          </a:p>
        </p:txBody>
      </p:sp>
      <p:sp>
        <p:nvSpPr>
          <p:cNvPr id="100453" name="Why2"/>
          <p:cNvSpPr/>
          <p:nvPr/>
        </p:nvSpPr>
        <p:spPr>
          <a:xfrm>
            <a:off x="6192000" y="2664000"/>
            <a:ext cx="5544000" cy="111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54" name="Why2H"/>
          <p:cNvSpPr txBox="1"/>
          <p:nvPr/>
        </p:nvSpPr>
        <p:spPr>
          <a:xfrm>
            <a:off x="6336000" y="2790000"/>
            <a:ext cx="5256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600" b="1">
                <a:solidFill>
                  <a:srgbClr val="7FB2E8"/>
                </a:solidFill>
                <a:latin typeface="Malgun Gothic"/>
                <a:ea typeface="Malgun Gothic"/>
              </a:rPr>
              <a:t>② RF는 설정에 흔들린다</a:t>
            </a:r>
          </a:p>
        </p:txBody>
      </p:sp>
      <p:sp>
        <p:nvSpPr>
          <p:cNvPr id="100455" name="Why2B"/>
          <p:cNvSpPr txBox="1"/>
          <p:nvPr/>
        </p:nvSpPr>
        <p:spPr>
          <a:xfrm>
            <a:off x="6336000" y="3150000"/>
            <a:ext cx="5256000" cy="57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400">
                <a:solidFill>
                  <a:srgbClr val="F3F4F6"/>
                </a:solidFill>
                <a:latin typeface="Malgun Gothic"/>
                <a:ea typeface="Malgun Gothic"/>
              </a:rPr>
              <a:t>설정 12가지 튜닝 → 오히려 8.3% 하락. 과하게 자란 트리는 AUC 0.65대로 급락(과적합) — 결과가 출렁입니다.</a:t>
            </a:r>
          </a:p>
        </p:txBody>
      </p:sp>
      <p:sp>
        <p:nvSpPr>
          <p:cNvPr id="100456" name="Why3"/>
          <p:cNvSpPr/>
          <p:nvPr/>
        </p:nvSpPr>
        <p:spPr>
          <a:xfrm>
            <a:off x="6192000" y="3888000"/>
            <a:ext cx="5544000" cy="111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57" name="Why3H"/>
          <p:cNvSpPr txBox="1"/>
          <p:nvPr/>
        </p:nvSpPr>
        <p:spPr>
          <a:xfrm>
            <a:off x="6336000" y="4014000"/>
            <a:ext cx="5256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600" b="1">
                <a:solidFill>
                  <a:srgbClr val="7FB2E8"/>
                </a:solidFill>
                <a:latin typeface="Malgun Gothic"/>
                <a:ea typeface="Malgun Gothic"/>
              </a:rPr>
              <a:t>③ 로지스틱은 이유를 말한다</a:t>
            </a:r>
          </a:p>
        </p:txBody>
      </p:sp>
      <p:sp>
        <p:nvSpPr>
          <p:cNvPr id="100458" name="Why3B"/>
          <p:cNvSpPr txBox="1"/>
          <p:nvPr/>
        </p:nvSpPr>
        <p:spPr>
          <a:xfrm>
            <a:off x="6336000" y="4374000"/>
            <a:ext cx="5256000" cy="57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400">
                <a:solidFill>
                  <a:srgbClr val="F3F4F6"/>
                </a:solidFill>
                <a:latin typeface="Malgun Gothic"/>
                <a:ea typeface="Malgun Gothic"/>
              </a:rPr>
              <a:t>계수로 '이 고객은 왜?'에 답합니다 — 특약 +0.84가 1등. RF도 특약을 1등으로 뽑아 같은 신호입니다.</a:t>
            </a:r>
          </a:p>
        </p:txBody>
      </p:sp>
      <p:sp>
        <p:nvSpPr>
          <p:cNvPr id="100459" name="SameBand"/>
          <p:cNvSpPr/>
          <p:nvPr/>
        </p:nvSpPr>
        <p:spPr>
          <a:xfrm>
            <a:off x="6192000" y="5112000"/>
            <a:ext cx="5544000" cy="720000"/>
          </a:xfrm>
          <a:prstGeom prst="roundRect">
            <a:avLst/>
          </a:prstGeom>
          <a:solidFill>
            <a:srgbClr val="1E3A2C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algun Gothic"/>
                <a:ea typeface="Malgun Gothic"/>
              </a:rPr>
              <a:t>운용안 동일 — 티어 9.7 / 8.2 / 6.7% 변동 없음 · 바꿔서 얻는 것 없음</a:t>
            </a:r>
          </a:p>
        </p:txBody>
      </p:sp>
    </p:spTree>
  </p:cSld>
  <p:clrMapOvr>
    <a:masterClrMapping/>
  </p:clrMapOvr>
</p:sld>
</file>

<file path=ppt/slides/slide9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17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100318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4 · 결과 — 모델링</a:t>
            </a:r>
          </a:p>
        </p:txBody>
      </p:sp>
      <p:sp>
        <p:nvSpPr>
          <p:cNvPr id="100319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이 모델을 믿을 수 있는가 — 세 가지 확인</a:t>
            </a:r>
          </a:p>
        </p:txBody>
      </p:sp>
      <p:graphicFrame>
        <p:nvGraphicFramePr>
          <p:cNvPr id="100320" name="가입 방향(+) · 미가입 방향(−) — 반복 20회 평균"/>
          <p:cNvGraphicFramePr/>
          <p:nvPr/>
        </p:nvGraphicFramePr>
        <p:xfrm>
          <a:off x="457200" y="1512000"/>
          <a:ext cx="6840000" cy="34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0428" name="보정 곡선 — 확률 등급별 실제 가입률(%)"/>
          <p:cNvGraphicFramePr/>
          <p:nvPr/>
        </p:nvGraphicFramePr>
        <p:xfrm>
          <a:off x="7560000" y="1512000"/>
          <a:ext cx="4176000" cy="34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0460" name="Chk1"/>
          <p:cNvSpPr/>
          <p:nvPr/>
        </p:nvSpPr>
        <p:spPr>
          <a:xfrm>
            <a:off x="486000" y="5256000"/>
            <a:ext cx="3556800" cy="93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확인 ① 계단 일치 — 등급 = 실제 빈도</a:t>
            </a:r>
          </a:p>
        </p:txBody>
      </p:sp>
      <p:sp>
        <p:nvSpPr>
          <p:cNvPr id="100461" name="Chk2"/>
          <p:cNvSpPr/>
          <p:nvPr/>
        </p:nvSpPr>
        <p:spPr>
          <a:xfrm>
            <a:off x="4316400" y="5256000"/>
            <a:ext cx="3556800" cy="93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확인 ② 소거 실험 — 특약 빼면 8.15→7.24%</a:t>
            </a:r>
          </a:p>
        </p:txBody>
      </p:sp>
      <p:sp>
        <p:nvSpPr>
          <p:cNvPr id="100462" name="Chk3"/>
          <p:cNvSpPr/>
          <p:nvPr/>
        </p:nvSpPr>
        <p:spPr>
          <a:xfrm>
            <a:off x="8146800" y="5256000"/>
            <a:ext cx="3556800" cy="93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확인 ③ 재실행 검증 — PASS (2026-10-18)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24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00325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5 · 인사이트</a:t>
            </a:r>
          </a:p>
        </p:txBody>
      </p:sp>
      <p:sp>
        <p:nvSpPr>
          <p:cNvPr id="100326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잘 가입한 고객의 얼굴</a:t>
            </a:r>
          </a:p>
        </p:txBody>
      </p:sp>
      <p:sp>
        <p:nvSpPr>
          <p:cNvPr id="100327" name="FaceCard"/>
          <p:cNvSpPr/>
          <p:nvPr/>
        </p:nvSpPr>
        <p:spPr>
          <a:xfrm>
            <a:off x="457200" y="1440000"/>
            <a:ext cx="11278800" cy="158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28" name="FaceMain"/>
          <p:cNvSpPr txBox="1"/>
          <p:nvPr/>
        </p:nvSpPr>
        <p:spPr>
          <a:xfrm>
            <a:off x="648000" y="1620000"/>
            <a:ext cx="10908000" cy="72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2800" b="1">
                <a:solidFill>
                  <a:srgbClr val="7FB2E8"/>
                </a:solidFill>
                <a:latin typeface="Malgun Gothic"/>
                <a:ea typeface="Malgun Gothic"/>
              </a:rPr>
              <a:t>'반복 구매 · 특약 보유 · 기혼 중년 · 중간 소득'</a:t>
            </a:r>
          </a:p>
        </p:txBody>
      </p:sp>
      <p:sp>
        <p:nvSpPr>
          <p:cNvPr id="100329" name="FaceSub"/>
          <p:cNvSpPr txBox="1"/>
          <p:nvPr/>
        </p:nvSpPr>
        <p:spPr>
          <a:xfrm>
            <a:off x="648000" y="2376000"/>
            <a:ext cx="109080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00">
                <a:solidFill>
                  <a:srgbClr val="A9B1D0"/>
                </a:solidFill>
                <a:latin typeface="Malgun Gothic"/>
                <a:ea typeface="Malgun Gothic"/>
              </a:rPr>
              <a:t>고소득 · 고신용 · 오래된 고객이 아니었습니다 — 초기 가설은 전부 반박됐습니다</a:t>
            </a:r>
          </a:p>
        </p:txBody>
      </p:sp>
      <p:sp>
        <p:nvSpPr>
          <p:cNvPr id="100330" name="N1"/>
          <p:cNvSpPr/>
          <p:nvPr/>
        </p:nvSpPr>
        <p:spPr>
          <a:xfrm>
            <a:off x="486000" y="3384000"/>
            <a:ext cx="3556800" cy="187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31" name="N1N"/>
          <p:cNvSpPr txBox="1"/>
          <p:nvPr/>
        </p:nvSpPr>
        <p:spPr>
          <a:xfrm>
            <a:off x="486000" y="3600000"/>
            <a:ext cx="35568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400" b="1">
                <a:solidFill>
                  <a:srgbClr val="7FB2E8"/>
                </a:solidFill>
                <a:latin typeface="Malgun Gothic"/>
                <a:ea typeface="Malgun Gothic"/>
              </a:rPr>
              <a:t>4.1배</a:t>
            </a:r>
          </a:p>
        </p:txBody>
      </p:sp>
      <p:sp>
        <p:nvSpPr>
          <p:cNvPr id="100332" name="N1S"/>
          <p:cNvSpPr txBox="1"/>
          <p:nvPr/>
        </p:nvSpPr>
        <p:spPr>
          <a:xfrm>
            <a:off x="630000" y="4428000"/>
            <a:ext cx="3268800" cy="64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보유수 2개 이상 — 11.6% vs 2.8%</a:t>
            </a:r>
          </a:p>
        </p:txBody>
      </p:sp>
      <p:sp>
        <p:nvSpPr>
          <p:cNvPr id="100333" name="N2"/>
          <p:cNvSpPr/>
          <p:nvPr/>
        </p:nvSpPr>
        <p:spPr>
          <a:xfrm>
            <a:off x="4316400" y="3384000"/>
            <a:ext cx="3556800" cy="187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34" name="N2N"/>
          <p:cNvSpPr txBox="1"/>
          <p:nvPr/>
        </p:nvSpPr>
        <p:spPr>
          <a:xfrm>
            <a:off x="4316400" y="3600000"/>
            <a:ext cx="35568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400" b="1">
                <a:solidFill>
                  <a:srgbClr val="E8B44C"/>
                </a:solidFill>
                <a:latin typeface="Malgun Gothic"/>
                <a:ea typeface="Malgun Gothic"/>
              </a:rPr>
              <a:t>6.9배</a:t>
            </a:r>
          </a:p>
        </p:txBody>
      </p:sp>
      <p:sp>
        <p:nvSpPr>
          <p:cNvPr id="100335" name="N2S"/>
          <p:cNvSpPr txBox="1"/>
          <p:nvPr/>
        </p:nvSpPr>
        <p:spPr>
          <a:xfrm>
            <a:off x="4460400" y="4428000"/>
            <a:ext cx="3268800" cy="64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특약 보유 — 주력 계열 통제 후</a:t>
            </a:r>
          </a:p>
        </p:txBody>
      </p:sp>
      <p:sp>
        <p:nvSpPr>
          <p:cNvPr id="100336" name="N3"/>
          <p:cNvSpPr/>
          <p:nvPr/>
        </p:nvSpPr>
        <p:spPr>
          <a:xfrm>
            <a:off x="8146800" y="3384000"/>
            <a:ext cx="3556800" cy="187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37" name="N3N"/>
          <p:cNvSpPr txBox="1"/>
          <p:nvPr/>
        </p:nvSpPr>
        <p:spPr>
          <a:xfrm>
            <a:off x="8146800" y="3600000"/>
            <a:ext cx="35568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400" b="1">
                <a:solidFill>
                  <a:srgbClr val="7FB2E8"/>
                </a:solidFill>
                <a:latin typeface="Malgun Gothic"/>
                <a:ea typeface="Malgun Gothic"/>
              </a:rPr>
              <a:t>4.8배</a:t>
            </a:r>
          </a:p>
        </p:txBody>
      </p:sp>
      <p:sp>
        <p:nvSpPr>
          <p:cNvPr id="100338" name="N3S"/>
          <p:cNvSpPr txBox="1"/>
          <p:nvPr/>
        </p:nvSpPr>
        <p:spPr>
          <a:xfrm>
            <a:off x="8290800" y="4428000"/>
            <a:ext cx="3268800" cy="64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지역 — 경기 3.8% vs 대구 0.8%</a:t>
            </a:r>
          </a:p>
        </p:txBody>
      </p:sp>
      <p:sp>
        <p:nvSpPr>
          <p:cNvPr id="100339" name="Takeaway"/>
          <p:cNvSpPr txBox="1"/>
          <p:nvPr/>
        </p:nvSpPr>
        <p:spPr>
          <a:xfrm>
            <a:off x="457200" y="5544000"/>
            <a:ext cx="112788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00" b="1">
                <a:solidFill>
                  <a:srgbClr val="E8B44C"/>
                </a:solidFill>
                <a:latin typeface="Malgun Gothic"/>
                <a:ea typeface="Malgun Gothic"/>
              </a:rPr>
              <a:t>예측 기여 1위 특약 · 2위 보유수 — 고객의 '등급'이 아니라 행동과 상품 구성이 가입을 갈랐습니다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40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100341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5 · 인사이트 — 상담 운용안</a:t>
            </a:r>
          </a:p>
        </p:txBody>
      </p:sp>
      <p:sp>
        <p:nvSpPr>
          <p:cNvPr id="100342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티어 3단 — 상담 배치와 제안</a:t>
            </a:r>
          </a:p>
        </p:txBody>
      </p:sp>
      <p:sp>
        <p:nvSpPr>
          <p:cNvPr id="100343" name="TierA"/>
          <p:cNvSpPr/>
          <p:nvPr/>
        </p:nvSpPr>
        <p:spPr>
          <a:xfrm>
            <a:off x="486000" y="1512000"/>
            <a:ext cx="3556800" cy="2088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44" name="TierAH"/>
          <p:cNvSpPr txBox="1"/>
          <p:nvPr/>
        </p:nvSpPr>
        <p:spPr>
          <a:xfrm>
            <a:off x="630000" y="1656000"/>
            <a:ext cx="32688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 b="1">
                <a:solidFill>
                  <a:srgbClr val="7FB2E8"/>
                </a:solidFill>
                <a:latin typeface="Malgun Gothic"/>
                <a:ea typeface="Malgun Gothic"/>
              </a:rPr>
              <a:t>티어 A — 최우선</a:t>
            </a:r>
          </a:p>
        </p:txBody>
      </p:sp>
      <p:sp>
        <p:nvSpPr>
          <p:cNvPr id="100345" name="TierAN"/>
          <p:cNvSpPr txBox="1"/>
          <p:nvPr/>
        </p:nvSpPr>
        <p:spPr>
          <a:xfrm>
            <a:off x="630000" y="2016000"/>
            <a:ext cx="3268800" cy="86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400" b="1">
                <a:solidFill>
                  <a:srgbClr val="E8B44C"/>
                </a:solidFill>
                <a:latin typeface="Malgun Gothic"/>
                <a:ea typeface="Malgun Gothic"/>
              </a:rPr>
              <a:t>9.7%</a:t>
            </a:r>
          </a:p>
        </p:txBody>
      </p:sp>
      <p:sp>
        <p:nvSpPr>
          <p:cNvPr id="100346" name="TierAD"/>
          <p:cNvSpPr txBox="1"/>
          <p:nvPr/>
        </p:nvSpPr>
        <p:spPr>
          <a:xfrm>
            <a:off x="630000" y="2988000"/>
            <a:ext cx="3268800" cy="50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상위 ~500명 · 3.3배 · 숙련 상담사</a:t>
            </a:r>
          </a:p>
        </p:txBody>
      </p:sp>
      <p:sp>
        <p:nvSpPr>
          <p:cNvPr id="100347" name="TierB"/>
          <p:cNvSpPr/>
          <p:nvPr/>
        </p:nvSpPr>
        <p:spPr>
          <a:xfrm>
            <a:off x="4316400" y="1512000"/>
            <a:ext cx="3556800" cy="2088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48" name="TierBH"/>
          <p:cNvSpPr txBox="1"/>
          <p:nvPr/>
        </p:nvSpPr>
        <p:spPr>
          <a:xfrm>
            <a:off x="4460400" y="1656000"/>
            <a:ext cx="32688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 b="1">
                <a:solidFill>
                  <a:srgbClr val="7FB2E8"/>
                </a:solidFill>
                <a:latin typeface="Malgun Gothic"/>
                <a:ea typeface="Malgun Gothic"/>
              </a:rPr>
              <a:t>티어 B — 1차 확장</a:t>
            </a:r>
          </a:p>
        </p:txBody>
      </p:sp>
      <p:sp>
        <p:nvSpPr>
          <p:cNvPr id="100349" name="TierBN"/>
          <p:cNvSpPr txBox="1"/>
          <p:nvPr/>
        </p:nvSpPr>
        <p:spPr>
          <a:xfrm>
            <a:off x="4460400" y="2016000"/>
            <a:ext cx="3268800" cy="86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400" b="1">
                <a:solidFill>
                  <a:srgbClr val="7FB2E8"/>
                </a:solidFill>
                <a:latin typeface="Malgun Gothic"/>
                <a:ea typeface="Malgun Gothic"/>
              </a:rPr>
              <a:t>8.2%</a:t>
            </a:r>
          </a:p>
        </p:txBody>
      </p:sp>
      <p:sp>
        <p:nvSpPr>
          <p:cNvPr id="100350" name="TierBD"/>
          <p:cNvSpPr txBox="1"/>
          <p:nvPr/>
        </p:nvSpPr>
        <p:spPr>
          <a:xfrm>
            <a:off x="4460400" y="2988000"/>
            <a:ext cx="3268800" cy="50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상위 ~1,000명 · 2.8배 · 약 82명</a:t>
            </a:r>
          </a:p>
        </p:txBody>
      </p:sp>
      <p:sp>
        <p:nvSpPr>
          <p:cNvPr id="100351" name="TierC"/>
          <p:cNvSpPr/>
          <p:nvPr/>
        </p:nvSpPr>
        <p:spPr>
          <a:xfrm>
            <a:off x="8146800" y="1512000"/>
            <a:ext cx="3556800" cy="2088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52" name="TierCH"/>
          <p:cNvSpPr txBox="1"/>
          <p:nvPr/>
        </p:nvSpPr>
        <p:spPr>
          <a:xfrm>
            <a:off x="8290800" y="1656000"/>
            <a:ext cx="32688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 b="1">
                <a:solidFill>
                  <a:srgbClr val="7FB2E8"/>
                </a:solidFill>
                <a:latin typeface="Malgun Gothic"/>
                <a:ea typeface="Malgun Gothic"/>
              </a:rPr>
              <a:t>티어 C — 2차 확장</a:t>
            </a:r>
          </a:p>
        </p:txBody>
      </p:sp>
      <p:sp>
        <p:nvSpPr>
          <p:cNvPr id="100353" name="TierCN"/>
          <p:cNvSpPr txBox="1"/>
          <p:nvPr/>
        </p:nvSpPr>
        <p:spPr>
          <a:xfrm>
            <a:off x="8290800" y="2016000"/>
            <a:ext cx="3268800" cy="86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400" b="1">
                <a:solidFill>
                  <a:srgbClr val="7FB2E8"/>
                </a:solidFill>
                <a:latin typeface="Malgun Gothic"/>
                <a:ea typeface="Malgun Gothic"/>
              </a:rPr>
              <a:t>6.7%</a:t>
            </a:r>
          </a:p>
        </p:txBody>
      </p:sp>
      <p:sp>
        <p:nvSpPr>
          <p:cNvPr id="100354" name="TierCD"/>
          <p:cNvSpPr txBox="1"/>
          <p:nvPr/>
        </p:nvSpPr>
        <p:spPr>
          <a:xfrm>
            <a:off x="8290800" y="2988000"/>
            <a:ext cx="3268800" cy="50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상위 ~2,000명 · 2.3배 · 문자·푸시</a:t>
            </a:r>
          </a:p>
        </p:txBody>
      </p:sp>
      <p:sp>
        <p:nvSpPr>
          <p:cNvPr id="100355" name="Exc"/>
          <p:cNvSpPr/>
          <p:nvPr/>
        </p:nvSpPr>
        <p:spPr>
          <a:xfrm>
            <a:off x="457200" y="3960000"/>
            <a:ext cx="11278800" cy="93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50" b="1">
                <a:solidFill>
                  <a:srgbClr val="F3F4F6"/>
                </a:solidFill>
                <a:latin typeface="Malgun Gothic"/>
                <a:ea typeface="Malgun Gothic"/>
              </a:rPr>
              <a:t>예외 — 20대 기혼 · 대구·대전·인천 · 신용 300점대 → 후순위 (충돌 시 신용 → 지역 → 20대 순)</a:t>
            </a:r>
          </a:p>
        </p:txBody>
      </p:sp>
      <p:sp>
        <p:nvSpPr>
          <p:cNvPr id="100356" name="Prod"/>
          <p:cNvSpPr/>
          <p:nvPr/>
        </p:nvSpPr>
        <p:spPr>
          <a:xfrm>
            <a:off x="457200" y="5040000"/>
            <a:ext cx="11278800" cy="93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50" b="1">
                <a:solidFill>
                  <a:srgbClr val="FFFFFF"/>
                </a:solidFill>
                <a:latin typeface="Malgun Gothic"/>
                <a:ea typeface="Malgun Gothic"/>
              </a:rPr>
              <a:t>제안 — 같은 계열 보강부터 (2025 신규의 90% · 보유자 87%가 M케어 계열)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86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100387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6 · 향후 활용 계획</a:t>
            </a:r>
          </a:p>
        </p:txBody>
      </p:sp>
      <p:sp>
        <p:nvSpPr>
          <p:cNvPr id="100388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월간 운용과 파일럿 A/B</a:t>
            </a:r>
          </a:p>
        </p:txBody>
      </p:sp>
      <p:sp>
        <p:nvSpPr>
          <p:cNvPr id="100389" name="M1"/>
          <p:cNvSpPr/>
          <p:nvPr/>
        </p:nvSpPr>
        <p:spPr>
          <a:xfrm>
            <a:off x="457200" y="1584000"/>
            <a:ext cx="2520000" cy="122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01 스코어 갱신</a:t>
            </a:r>
          </a:p>
        </p:txBody>
      </p:sp>
      <p:sp>
        <p:nvSpPr>
          <p:cNvPr id="100390" name="M1S"/>
          <p:cNvSpPr txBox="1"/>
          <p:nvPr/>
        </p:nvSpPr>
        <p:spPr>
          <a:xfrm>
            <a:off x="457200" y="2880000"/>
            <a:ext cx="2520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매월 1일 · 13개 피처</a:t>
            </a:r>
          </a:p>
        </p:txBody>
      </p:sp>
      <p:sp>
        <p:nvSpPr>
          <p:cNvPr id="100391" name="M2"/>
          <p:cNvSpPr/>
          <p:nvPr/>
        </p:nvSpPr>
        <p:spPr>
          <a:xfrm>
            <a:off x="3376800" y="1584000"/>
            <a:ext cx="2520000" cy="122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02 티어 배정</a:t>
            </a:r>
          </a:p>
        </p:txBody>
      </p:sp>
      <p:sp>
        <p:nvSpPr>
          <p:cNvPr id="100392" name="M2S"/>
          <p:cNvSpPr txBox="1"/>
          <p:nvPr/>
        </p:nvSpPr>
        <p:spPr>
          <a:xfrm>
            <a:off x="3376800" y="2880000"/>
            <a:ext cx="2520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예외 3개로 재조정</a:t>
            </a:r>
          </a:p>
        </p:txBody>
      </p:sp>
      <p:sp>
        <p:nvSpPr>
          <p:cNvPr id="100393" name="M3"/>
          <p:cNvSpPr/>
          <p:nvPr/>
        </p:nvSpPr>
        <p:spPr>
          <a:xfrm>
            <a:off x="6296400" y="1584000"/>
            <a:ext cx="2520000" cy="122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3F4F6"/>
                </a:solidFill>
                <a:latin typeface="Malgun Gothic"/>
                <a:ea typeface="Malgun Gothic"/>
              </a:rPr>
              <a:t>03 상담 실행·기록</a:t>
            </a:r>
          </a:p>
        </p:txBody>
      </p:sp>
      <p:sp>
        <p:nvSpPr>
          <p:cNvPr id="100394" name="M3S"/>
          <p:cNvSpPr txBox="1"/>
          <p:nvPr/>
        </p:nvSpPr>
        <p:spPr>
          <a:xfrm>
            <a:off x="6296400" y="2880000"/>
            <a:ext cx="2520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다음 달 검증 데이터 축적</a:t>
            </a:r>
          </a:p>
        </p:txBody>
      </p:sp>
      <p:sp>
        <p:nvSpPr>
          <p:cNvPr id="100395" name="M4"/>
          <p:cNvSpPr/>
          <p:nvPr/>
        </p:nvSpPr>
        <p:spPr>
          <a:xfrm>
            <a:off x="9216000" y="1584000"/>
            <a:ext cx="2520000" cy="1224000"/>
          </a:xfrm>
          <a:prstGeom prst="roundRect">
            <a:avLst/>
          </a:prstGeom>
          <a:solidFill>
            <a:srgbClr val="1E3A2C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Malgun Gothic"/>
                <a:ea typeface="Malgun Gothic"/>
              </a:rPr>
              <a:t>04 월간 대조</a:t>
            </a:r>
          </a:p>
        </p:txBody>
      </p:sp>
      <p:sp>
        <p:nvSpPr>
          <p:cNvPr id="100396" name="M4S"/>
          <p:cNvSpPr txBox="1"/>
          <p:nvPr/>
        </p:nvSpPr>
        <p:spPr>
          <a:xfrm>
            <a:off x="9216000" y="2880000"/>
            <a:ext cx="2520000" cy="28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A 하회 시 재점검 신호</a:t>
            </a:r>
          </a:p>
        </p:txBody>
      </p:sp>
      <p:cxnSp>
        <p:nvCxnSpPr>
          <p:cNvPr id="100397" name="Connector 1"/>
          <p:cNvCxnSpPr>
            <a:stCxn id="100389" idx="0"/>
            <a:endCxn id="100391" idx="0"/>
          </p:cNvCxnSpPr>
          <p:nvPr/>
        </p:nvCxnSpPr>
        <p:spPr>
          <a:xfrm>
            <a:off x="2977200" y="2196000"/>
            <a:ext cx="399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cxnSp>
        <p:nvCxnSpPr>
          <p:cNvPr id="100398" name="Connector 2"/>
          <p:cNvCxnSpPr>
            <a:stCxn id="100391" idx="0"/>
            <a:endCxn id="100393" idx="0"/>
          </p:cNvCxnSpPr>
          <p:nvPr/>
        </p:nvCxnSpPr>
        <p:spPr>
          <a:xfrm>
            <a:off x="5896800" y="2196000"/>
            <a:ext cx="399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cxnSp>
        <p:nvCxnSpPr>
          <p:cNvPr id="100399" name="Connector 3"/>
          <p:cNvCxnSpPr>
            <a:stCxn id="100393" idx="0"/>
            <a:endCxn id="100395" idx="0"/>
          </p:cNvCxnSpPr>
          <p:nvPr/>
        </p:nvCxnSpPr>
        <p:spPr>
          <a:xfrm>
            <a:off x="8816400" y="2196000"/>
            <a:ext cx="3996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sp>
        <p:nvSpPr>
          <p:cNvPr id="100400" name="ABCard"/>
          <p:cNvSpPr/>
          <p:nvPr/>
        </p:nvSpPr>
        <p:spPr>
          <a:xfrm>
            <a:off x="457200" y="3528000"/>
            <a:ext cx="11278800" cy="194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401" name="ABH"/>
          <p:cNvSpPr txBox="1"/>
          <p:nvPr/>
        </p:nvSpPr>
        <p:spPr>
          <a:xfrm>
            <a:off x="612000" y="3672000"/>
            <a:ext cx="109440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700" b="1">
                <a:solidFill>
                  <a:srgbClr val="E8B44C"/>
                </a:solidFill>
                <a:latin typeface="Malgun Gothic"/>
                <a:ea typeface="Malgun Gothic"/>
              </a:rPr>
              <a:t>파일럿 A/B — 상담의 실제 효과를 증명</a:t>
            </a:r>
          </a:p>
        </p:txBody>
      </p:sp>
      <p:sp>
        <p:nvSpPr>
          <p:cNvPr id="100402" name="ABB1"/>
          <p:cNvSpPr/>
          <p:nvPr/>
        </p:nvSpPr>
        <p:spPr>
          <a:xfrm>
            <a:off x="648000" y="4140000"/>
            <a:ext cx="3096000" cy="864000"/>
          </a:xfrm>
          <a:prstGeom prst="roundRect">
            <a:avLst/>
          </a:prstGeom>
          <a:solidFill>
            <a:srgbClr val="383E4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400" b="1">
                <a:solidFill>
                  <a:srgbClr val="F3F4F6"/>
                </a:solidFill>
                <a:latin typeface="Malgun Gothic"/>
                <a:ea typeface="Malgun Gothic"/>
              </a:rPr>
              <a:t>상위 1,000명</a:t>
            </a:r>
          </a:p>
        </p:txBody>
      </p:sp>
      <p:sp>
        <p:nvSpPr>
          <p:cNvPr id="100403" name="ABB2"/>
          <p:cNvSpPr/>
          <p:nvPr/>
        </p:nvSpPr>
        <p:spPr>
          <a:xfrm>
            <a:off x="4392000" y="4140000"/>
            <a:ext cx="3096000" cy="864000"/>
          </a:xfrm>
          <a:prstGeom prst="roundRect">
            <a:avLst/>
          </a:prstGeom>
          <a:solidFill>
            <a:srgbClr val="383E4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400" b="1">
                <a:solidFill>
                  <a:srgbClr val="F3F4F6"/>
                </a:solidFill>
                <a:latin typeface="Malgun Gothic"/>
                <a:ea typeface="Malgun Gothic"/>
              </a:rPr>
              <a:t>무작위 절반 — A 500 / B 500</a:t>
            </a:r>
          </a:p>
        </p:txBody>
      </p:sp>
      <p:sp>
        <p:nvSpPr>
          <p:cNvPr id="100404" name="ABB3"/>
          <p:cNvSpPr/>
          <p:nvPr/>
        </p:nvSpPr>
        <p:spPr>
          <a:xfrm>
            <a:off x="8136000" y="4140000"/>
            <a:ext cx="3096000" cy="864000"/>
          </a:xfrm>
          <a:prstGeom prst="roundRect">
            <a:avLst/>
          </a:prstGeom>
          <a:solidFill>
            <a:srgbClr val="1E3A2C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algun Gothic"/>
                <a:ea typeface="Malgun Gothic"/>
              </a:rPr>
              <a:t>가입률 차이 = 효과</a:t>
            </a:r>
          </a:p>
        </p:txBody>
      </p:sp>
      <p:cxnSp>
        <p:nvCxnSpPr>
          <p:cNvPr id="100405" name="Connector 4"/>
          <p:cNvCxnSpPr>
            <a:stCxn id="100402" idx="0"/>
            <a:endCxn id="100403" idx="0"/>
          </p:cNvCxnSpPr>
          <p:nvPr/>
        </p:nvCxnSpPr>
        <p:spPr>
          <a:xfrm>
            <a:off x="3744000" y="4572000"/>
            <a:ext cx="6480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cxnSp>
        <p:nvCxnSpPr>
          <p:cNvPr id="100406" name="Connector 5"/>
          <p:cNvCxnSpPr>
            <a:stCxn id="100403" idx="0"/>
            <a:endCxn id="100404" idx="0"/>
          </p:cNvCxnSpPr>
          <p:nvPr/>
        </p:nvCxnSpPr>
        <p:spPr>
          <a:xfrm>
            <a:off x="7488000" y="4572000"/>
            <a:ext cx="648000" cy="0"/>
          </a:xfrm>
          <a:prstGeom prst="straightConnector1">
            <a:avLst/>
          </a:prstGeom>
          <a:ln w="12700">
            <a:solidFill>
              <a:srgbClr val="A9B1D0"/>
            </a:solidFill>
            <a:tailEnd type="triangle"/>
          </a:ln>
        </p:spPr>
      </p:cxnSp>
      <p:sp>
        <p:nvSpPr>
          <p:cNvPr id="100407" name="ABFoot"/>
          <p:cNvSpPr txBox="1"/>
          <p:nvPr/>
        </p:nvSpPr>
        <p:spPr>
          <a:xfrm>
            <a:off x="612000" y="5004000"/>
            <a:ext cx="10944000" cy="324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전원 상담하면 비교 대상이 없어집니다 — 그래서 절반만 상담합니다</a:t>
            </a:r>
          </a:p>
        </p:txBody>
      </p:sp>
      <p:sp>
        <p:nvSpPr>
          <p:cNvPr id="100408" name="Kpi1"/>
          <p:cNvSpPr/>
          <p:nvPr/>
        </p:nvSpPr>
        <p:spPr>
          <a:xfrm>
            <a:off x="486000" y="5724000"/>
            <a:ext cx="3556800" cy="79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450" b="1">
                <a:solidFill>
                  <a:srgbClr val="F3F4F6"/>
                </a:solidFill>
                <a:latin typeface="Malgun Gothic"/>
                <a:ea typeface="Malgun Gothic"/>
              </a:rPr>
              <a:t>KPI — 명단 농도 8.2%±0.5</a:t>
            </a:r>
          </a:p>
        </p:txBody>
      </p:sp>
      <p:sp>
        <p:nvSpPr>
          <p:cNvPr id="100409" name="Kpi2"/>
          <p:cNvSpPr/>
          <p:nvPr/>
        </p:nvSpPr>
        <p:spPr>
          <a:xfrm>
            <a:off x="4316400" y="5724000"/>
            <a:ext cx="3556800" cy="79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450" b="1">
                <a:solidFill>
                  <a:srgbClr val="F3F4F6"/>
                </a:solidFill>
                <a:latin typeface="Malgun Gothic"/>
                <a:ea typeface="Malgun Gothic"/>
              </a:rPr>
              <a:t>KPI — 상담 전환율 (축적 시작)</a:t>
            </a:r>
          </a:p>
        </p:txBody>
      </p:sp>
      <p:sp>
        <p:nvSpPr>
          <p:cNvPr id="100410" name="Kpi3"/>
          <p:cNvSpPr/>
          <p:nvPr/>
        </p:nvSpPr>
        <p:spPr>
          <a:xfrm>
            <a:off x="8146800" y="5724000"/>
            <a:ext cx="3556800" cy="79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450" b="1">
                <a:solidFill>
                  <a:srgbClr val="F3F4F6"/>
                </a:solidFill>
                <a:latin typeface="Malgun Gothic"/>
                <a:ea typeface="Malgun Gothic"/>
              </a:rPr>
              <a:t>KPI — 대조군 대비 리프트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7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E8B44C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100358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7 · 한계</a:t>
            </a:r>
          </a:p>
        </p:txBody>
      </p:sp>
      <p:sp>
        <p:nvSpPr>
          <p:cNvPr id="100359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한계 — 신뢰의 경계</a:t>
            </a:r>
          </a:p>
        </p:txBody>
      </p:sp>
      <p:sp>
        <p:nvSpPr>
          <p:cNvPr id="100360" name="Strap"/>
          <p:cNvSpPr/>
          <p:nvPr/>
        </p:nvSpPr>
        <p:spPr>
          <a:xfrm>
            <a:off x="457200" y="1512000"/>
            <a:ext cx="11278800" cy="936000"/>
          </a:xfrm>
          <a:prstGeom prst="roundRect">
            <a:avLst/>
          </a:prstGeom>
          <a:solidFill>
            <a:srgbClr val="332A14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Malgun Gothic"/>
                <a:ea typeface="Malgun Gothic"/>
              </a:rPr>
              <a:t>이 판정은 예측 성능의 판정이지, 상담의 실전 효과 증명이 아닙니다</a:t>
            </a:r>
          </a:p>
        </p:txBody>
      </p:sp>
      <p:sp>
        <p:nvSpPr>
          <p:cNvPr id="100361" name="L1"/>
          <p:cNvSpPr/>
          <p:nvPr/>
        </p:nvSpPr>
        <p:spPr>
          <a:xfrm>
            <a:off x="486000" y="2736000"/>
            <a:ext cx="3556800" cy="12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>
                <a:solidFill>
                  <a:srgbClr val="F3F4F6"/>
                </a:solidFill>
                <a:latin typeface="Malgun Gothic"/>
                <a:ea typeface="Malgun Gothic"/>
              </a:rPr>
              <a:t>① 속성 열 = 2025 스냅샷</a:t>
            </a:r>
          </a:p>
        </p:txBody>
      </p:sp>
      <p:sp>
        <p:nvSpPr>
          <p:cNvPr id="100362" name="L2"/>
          <p:cNvSpPr/>
          <p:nvPr/>
        </p:nvSpPr>
        <p:spPr>
          <a:xfrm>
            <a:off x="4316400" y="2736000"/>
            <a:ext cx="3556800" cy="12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>
                <a:solidFill>
                  <a:srgbClr val="F3F4F6"/>
                </a:solidFill>
                <a:latin typeface="Malgun Gothic"/>
                <a:ea typeface="Malgun Gothic"/>
              </a:rPr>
              <a:t>② 지역 원인 불명 — 후순위 전용</a:t>
            </a:r>
          </a:p>
        </p:txBody>
      </p:sp>
      <p:sp>
        <p:nvSpPr>
          <p:cNvPr id="100363" name="L3"/>
          <p:cNvSpPr/>
          <p:nvPr/>
        </p:nvSpPr>
        <p:spPr>
          <a:xfrm>
            <a:off x="8146800" y="2736000"/>
            <a:ext cx="3556800" cy="12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>
                <a:solidFill>
                  <a:srgbClr val="F3F4F6"/>
                </a:solidFill>
                <a:latin typeface="Malgun Gothic"/>
                <a:ea typeface="Malgun Gothic"/>
              </a:rPr>
              <a:t>③ 타겟 = '무엇이든 신규 가입'</a:t>
            </a:r>
          </a:p>
        </p:txBody>
      </p:sp>
      <p:sp>
        <p:nvSpPr>
          <p:cNvPr id="100364" name="L4"/>
          <p:cNvSpPr/>
          <p:nvPr/>
        </p:nvSpPr>
        <p:spPr>
          <a:xfrm>
            <a:off x="486000" y="4248000"/>
            <a:ext cx="3556800" cy="12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>
                <a:solidFill>
                  <a:srgbClr val="F3F4F6"/>
                </a:solidFill>
                <a:latin typeface="Malgun Gothic"/>
                <a:ea typeface="Malgun Gothic"/>
              </a:rPr>
              <a:t>④ 2024 코호트 외삽</a:t>
            </a:r>
          </a:p>
        </p:txBody>
      </p:sp>
      <p:sp>
        <p:nvSpPr>
          <p:cNvPr id="100365" name="L5"/>
          <p:cNvSpPr/>
          <p:nvPr/>
        </p:nvSpPr>
        <p:spPr>
          <a:xfrm>
            <a:off x="4316400" y="4248000"/>
            <a:ext cx="3556800" cy="12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>
                <a:solidFill>
                  <a:srgbClr val="F3F4F6"/>
                </a:solidFill>
                <a:latin typeface="Malgun Gothic"/>
                <a:ea typeface="Malgun Gothic"/>
              </a:rPr>
              <a:t>⑤ 특약 메커니즘 = 가설 수준</a:t>
            </a:r>
          </a:p>
        </p:txBody>
      </p:sp>
      <p:sp>
        <p:nvSpPr>
          <p:cNvPr id="100366" name="L6"/>
          <p:cNvSpPr/>
          <p:nvPr/>
        </p:nvSpPr>
        <p:spPr>
          <a:xfrm>
            <a:off x="8146800" y="4248000"/>
            <a:ext cx="3556800" cy="1296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600">
                <a:solidFill>
                  <a:srgbClr val="F3F4F6"/>
                </a:solidFill>
                <a:latin typeface="Malgun Gothic"/>
                <a:ea typeface="Malgun Gothic"/>
              </a:rPr>
              <a:t>⑥ 월 단위 부재 — 시즌성 불가</a:t>
            </a:r>
          </a:p>
        </p:txBody>
      </p:sp>
      <p:sp>
        <p:nvSpPr>
          <p:cNvPr id="100367" name="Foot"/>
          <p:cNvSpPr txBox="1"/>
          <p:nvPr/>
        </p:nvSpPr>
        <p:spPr>
          <a:xfrm>
            <a:off x="457200" y="5760000"/>
            <a:ext cx="112788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50">
                <a:solidFill>
                  <a:srgbClr val="A9B1D0"/>
                </a:solidFill>
                <a:latin typeface="Malgun Gothic"/>
                <a:ea typeface="Malgun Gothic"/>
              </a:rPr>
              <a:t>전문은 리포트 7절 · 각 한계의 운용상 방어는 이미 운용안에 반영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74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8</a:t>
            </a:r>
          </a:p>
        </p:txBody>
      </p:sp>
      <p:sp>
        <p:nvSpPr>
          <p:cNvPr id="100375" name="Kicker"/>
          <p:cNvSpPr txBox="1"/>
          <p:nvPr/>
        </p:nvSpPr>
        <p:spPr>
          <a:xfrm>
            <a:off x="1008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8 · 결론</a:t>
            </a:r>
          </a:p>
        </p:txBody>
      </p:sp>
      <p:sp>
        <p:nvSpPr>
          <p:cNvPr id="100376" name="Title"/>
          <p:cNvSpPr txBox="1"/>
          <p:nvPr/>
        </p:nvSpPr>
        <p:spPr>
          <a:xfrm>
            <a:off x="1008000" y="612000"/>
            <a:ext cx="10548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결론 — 한 문장, 세 숫자</a:t>
            </a:r>
          </a:p>
        </p:txBody>
      </p:sp>
      <p:sp>
        <p:nvSpPr>
          <p:cNvPr id="100377" name="Statement"/>
          <p:cNvSpPr txBox="1"/>
          <p:nvPr/>
        </p:nvSpPr>
        <p:spPr>
          <a:xfrm>
            <a:off x="457200" y="1512000"/>
            <a:ext cx="11278800" cy="72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3200" b="1">
                <a:solidFill>
                  <a:srgbClr val="7FB2E8"/>
                </a:solidFill>
                <a:latin typeface="Malgun Gothic"/>
                <a:ea typeface="Malgun Gothic"/>
              </a:rPr>
              <a:t>신호가 겹치는 고객을 먼저 만난다</a:t>
            </a:r>
          </a:p>
        </p:txBody>
      </p:sp>
      <p:sp>
        <p:nvSpPr>
          <p:cNvPr id="100378" name="Qualify"/>
          <p:cNvSpPr txBox="1"/>
          <p:nvPr/>
        </p:nvSpPr>
        <p:spPr>
          <a:xfrm>
            <a:off x="457200" y="2340000"/>
            <a:ext cx="112788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50">
                <a:solidFill>
                  <a:srgbClr val="A9B1D0"/>
                </a:solidFill>
                <a:latin typeface="Malgun Gothic"/>
                <a:ea typeface="Malgun Gothic"/>
              </a:rPr>
              <a:t>한계 여섯 개를 인정한 위에서도, 사전 합의된 판정 기준 안에서 이 결론은 유효합니다</a:t>
            </a:r>
          </a:p>
        </p:txBody>
      </p:sp>
      <p:sp>
        <p:nvSpPr>
          <p:cNvPr id="100379" name="K1"/>
          <p:cNvSpPr/>
          <p:nvPr/>
        </p:nvSpPr>
        <p:spPr>
          <a:xfrm>
            <a:off x="540000" y="3024000"/>
            <a:ext cx="3520800" cy="230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80" name="K1N"/>
          <p:cNvSpPr txBox="1"/>
          <p:nvPr/>
        </p:nvSpPr>
        <p:spPr>
          <a:xfrm>
            <a:off x="540000" y="3312000"/>
            <a:ext cx="3520800" cy="86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4000" b="1">
                <a:solidFill>
                  <a:srgbClr val="7FB2E8"/>
                </a:solidFill>
                <a:latin typeface="Malgun Gothic"/>
                <a:ea typeface="Malgun Gothic"/>
              </a:rPr>
              <a:t>0.720</a:t>
            </a:r>
          </a:p>
        </p:txBody>
      </p:sp>
      <p:sp>
        <p:nvSpPr>
          <p:cNvPr id="100381" name="K2"/>
          <p:cNvSpPr/>
          <p:nvPr/>
        </p:nvSpPr>
        <p:spPr>
          <a:xfrm>
            <a:off x="4334400" y="3024000"/>
            <a:ext cx="3520800" cy="230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82" name="K2N"/>
          <p:cNvSpPr txBox="1"/>
          <p:nvPr/>
        </p:nvSpPr>
        <p:spPr>
          <a:xfrm>
            <a:off x="4334400" y="3312000"/>
            <a:ext cx="3520800" cy="86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4000" b="1">
                <a:solidFill>
                  <a:srgbClr val="E8B44C"/>
                </a:solidFill>
                <a:latin typeface="Malgun Gothic"/>
                <a:ea typeface="Malgun Gothic"/>
              </a:rPr>
              <a:t>8.2%</a:t>
            </a:r>
          </a:p>
        </p:txBody>
      </p:sp>
      <p:sp>
        <p:nvSpPr>
          <p:cNvPr id="100383" name="K3"/>
          <p:cNvSpPr/>
          <p:nvPr/>
        </p:nvSpPr>
        <p:spPr>
          <a:xfrm>
            <a:off x="8128800" y="3024000"/>
            <a:ext cx="3520800" cy="2304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384" name="K3N"/>
          <p:cNvSpPr txBox="1"/>
          <p:nvPr/>
        </p:nvSpPr>
        <p:spPr>
          <a:xfrm>
            <a:off x="8128800" y="3312000"/>
            <a:ext cx="3520800" cy="86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4000" b="1">
                <a:solidFill>
                  <a:srgbClr val="5EC98A"/>
                </a:solidFill>
                <a:latin typeface="Malgun Gothic"/>
                <a:ea typeface="Malgun Gothic"/>
              </a:rPr>
              <a:t>82명</a:t>
            </a:r>
          </a:p>
        </p:txBody>
      </p:sp>
      <p:sp>
        <p:nvSpPr>
          <p:cNvPr id="100385" name="Closing"/>
          <p:cNvSpPr txBox="1"/>
          <p:nvPr/>
        </p:nvSpPr>
        <p:spPr>
          <a:xfrm>
            <a:off x="457200" y="5616000"/>
            <a:ext cx="11278800" cy="72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600" b="1">
                <a:solidFill>
                  <a:srgbClr val="F3F4F6"/>
                </a:solidFill>
                <a:latin typeface="Malgun Gothic"/>
                <a:ea typeface="Malgun Gothic"/>
              </a:rPr>
              <a:t>정답을 만들고, 검증하고, 운용으로 바꿨습니다 — 다음 달 1일, 명단이 갱신됩니다</a:t>
            </a:r>
          </a:p>
        </p:txBody>
      </p:sp>
      <p:sp>
        <p:nvSpPr>
          <p:cNvPr id="100368" name="K1S"/>
          <p:cNvSpPr txBox="1"/>
          <p:nvPr/>
        </p:nvSpPr>
        <p:spPr>
          <a:xfrm>
            <a:off x="684000" y="4320000"/>
            <a:ext cx="32328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450" b="1">
                <a:solidFill>
                  <a:srgbClr val="A9B1D0"/>
                </a:solidFill>
                <a:latin typeface="Malgun Gothic"/>
                <a:ea typeface="Malgun Gothic"/>
              </a:rPr>
              <a:t>확정 모델 AUC — 판정 통과</a:t>
            </a:r>
          </a:p>
        </p:txBody>
      </p:sp>
      <p:sp>
        <p:nvSpPr>
          <p:cNvPr id="100369" name="K1T"/>
          <p:cNvSpPr txBox="1"/>
          <p:nvPr/>
        </p:nvSpPr>
        <p:spPr>
          <a:xfrm>
            <a:off x="684000" y="4788000"/>
            <a:ext cx="32328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하한 7.1% &gt; 판정선 5.8%</a:t>
            </a:r>
          </a:p>
        </p:txBody>
      </p:sp>
      <p:sp>
        <p:nvSpPr>
          <p:cNvPr id="100370" name="K2S"/>
          <p:cNvSpPr txBox="1"/>
          <p:nvPr/>
        </p:nvSpPr>
        <p:spPr>
          <a:xfrm>
            <a:off x="4478400" y="4320000"/>
            <a:ext cx="32328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450" b="1">
                <a:solidFill>
                  <a:srgbClr val="A9B1D0"/>
                </a:solidFill>
                <a:latin typeface="Malgun Gothic"/>
                <a:ea typeface="Malgun Gothic"/>
              </a:rPr>
              <a:t>상위 1,000명 — 기준선 2.8배</a:t>
            </a:r>
          </a:p>
        </p:txBody>
      </p:sp>
      <p:sp>
        <p:nvSpPr>
          <p:cNvPr id="100371" name="K2T"/>
          <p:cNvSpPr txBox="1"/>
          <p:nvPr/>
        </p:nvSpPr>
        <p:spPr>
          <a:xfrm>
            <a:off x="4478400" y="4788000"/>
            <a:ext cx="32328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판정선 5.8% 통과</a:t>
            </a:r>
          </a:p>
        </p:txBody>
      </p:sp>
      <p:sp>
        <p:nvSpPr>
          <p:cNvPr id="100372" name="K3S"/>
          <p:cNvSpPr txBox="1"/>
          <p:nvPr/>
        </p:nvSpPr>
        <p:spPr>
          <a:xfrm>
            <a:off x="8272800" y="4320000"/>
            <a:ext cx="32328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450" b="1">
                <a:solidFill>
                  <a:srgbClr val="A9B1D0"/>
                </a:solidFill>
                <a:latin typeface="Malgun Gothic"/>
                <a:ea typeface="Malgun Gothic"/>
              </a:rPr>
              <a:t>실제 가입자 — +53명</a:t>
            </a:r>
          </a:p>
        </p:txBody>
      </p:sp>
      <p:sp>
        <p:nvSpPr>
          <p:cNvPr id="100373" name="K3T"/>
          <p:cNvSpPr txBox="1"/>
          <p:nvPr/>
        </p:nvSpPr>
        <p:spPr>
          <a:xfrm>
            <a:off x="8272800" y="4788000"/>
            <a:ext cx="32328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무작위 29명 대비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11" name="SecNum"/>
          <p:cNvSpPr/>
          <p:nvPr/>
        </p:nvSpPr>
        <p:spPr>
          <a:xfrm>
            <a:off x="457200" y="342000"/>
            <a:ext cx="468000" cy="468000"/>
          </a:xfrm>
          <a:prstGeom prst="ellipse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 anchor="ctr"/>
          <a:lstStyle/>
          <a:p>
            <a:pPr algn="ctr"/>
            <a:r>
              <a:rPr lang="en-US" sz="1500" b="1">
                <a:solidFill>
                  <a:srgbClr val="1C1F26"/>
                </a:solidFill>
                <a:latin typeface="Malgun Gothic"/>
                <a:ea typeface="Malgun Gothic"/>
              </a:rPr>
              <a:t>9</a:t>
            </a:r>
          </a:p>
        </p:txBody>
      </p:sp>
      <p:sp>
        <p:nvSpPr>
          <p:cNvPr id="100212" name="Kicker"/>
          <p:cNvSpPr txBox="1"/>
          <p:nvPr/>
        </p:nvSpPr>
        <p:spPr>
          <a:xfrm>
            <a:off x="936000" y="342000"/>
            <a:ext cx="7200000" cy="30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9 · 데이터 출처 · 재현 경로</a:t>
            </a:r>
          </a:p>
        </p:txBody>
      </p:sp>
      <p:sp>
        <p:nvSpPr>
          <p:cNvPr id="100213" name="Title"/>
          <p:cNvSpPr txBox="1"/>
          <p:nvPr/>
        </p:nvSpPr>
        <p:spPr>
          <a:xfrm>
            <a:off x="936000" y="522000"/>
            <a:ext cx="10620000" cy="79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3600" b="1">
                <a:solidFill>
                  <a:srgbClr val="F3F4F6"/>
                </a:solidFill>
                <a:latin typeface="Malgun Gothic"/>
                <a:ea typeface="Malgun Gothic"/>
              </a:rPr>
              <a:t>사용한 데이터와 재현성</a:t>
            </a:r>
          </a:p>
        </p:txBody>
      </p:sp>
      <p:sp>
        <p:nvSpPr>
          <p:cNvPr id="100214" name="SrcCard"/>
          <p:cNvSpPr/>
          <p:nvPr/>
        </p:nvSpPr>
        <p:spPr>
          <a:xfrm>
            <a:off x="457200" y="1368000"/>
            <a:ext cx="11278800" cy="2088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/>
          <a:lstStyle/>
          <a:p>
            <a:endParaRPr/>
          </a:p>
        </p:txBody>
      </p:sp>
      <p:sp>
        <p:nvSpPr>
          <p:cNvPr id="100215" name="SrcH"/>
          <p:cNvSpPr txBox="1"/>
          <p:nvPr/>
        </p:nvSpPr>
        <p:spPr>
          <a:xfrm>
            <a:off x="612000" y="1512000"/>
            <a:ext cx="10944000" cy="39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700" b="1">
                <a:solidFill>
                  <a:srgbClr val="7FB2E8"/>
                </a:solidFill>
                <a:latin typeface="Malgun Gothic"/>
                <a:ea typeface="Malgun Gothic"/>
              </a:rPr>
              <a:t>사용한 데이터</a:t>
            </a:r>
          </a:p>
        </p:txBody>
      </p:sp>
      <p:sp>
        <p:nvSpPr>
          <p:cNvPr id="100216" name="SrcB"/>
          <p:cNvSpPr txBox="1"/>
          <p:nvPr/>
        </p:nvSpPr>
        <p:spPr>
          <a:xfrm>
            <a:off x="612000" y="1872000"/>
            <a:ext cx="10944000" cy="151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>
                <a:solidFill>
                  <a:srgbClr val="F3F4F6"/>
                </a:solidFill>
                <a:latin typeface="Malgun Gothic"/>
                <a:ea typeface="Malgun Gothic"/>
              </a:rPr>
              <a:t>[데이터] 보험상품가입자의 보험유지 특성 분석(보험계약 등)</a:t>
            </a:r>
          </a:p>
          <a:p>
            <a:r>
              <a:rPr lang="en-US" sz="1500">
                <a:solidFill>
                  <a:srgbClr val="F3F4F6"/>
                </a:solidFill>
                <a:latin typeface="Malgun Gothic"/>
                <a:ea typeface="Malgun Gothic"/>
              </a:rPr>
              <a:t>파일: Training/02.라벨링데이터/TL_2.소비자.zip — 385,019행 × 22열 (utf-8-sig)</a:t>
            </a:r>
          </a:p>
          <a:p>
            <a:r>
              <a:rPr lang="en-US" sz="1500">
                <a:solidFill>
                  <a:srgbClr val="F3F4F6"/>
                </a:solidFill>
                <a:latin typeface="Malgun Gothic"/>
                <a:ea typeface="Malgun Gothic"/>
              </a:rPr>
              <a:t>사용 범위: 보험 거래 77,305건 · 고객 74,776명 (증권 거래는 본 프로젝트 대상 외)</a:t>
            </a:r>
          </a:p>
        </p:txBody>
      </p:sp>
      <p:sp>
        <p:nvSpPr>
          <p:cNvPr id="100217" name="RepCard"/>
          <p:cNvSpPr/>
          <p:nvPr/>
        </p:nvSpPr>
        <p:spPr>
          <a:xfrm>
            <a:off x="457200" y="3636000"/>
            <a:ext cx="11278800" cy="2088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 lIns="28800" tIns="28800" rIns="28800" bIns="28800"/>
          <a:lstStyle/>
          <a:p>
            <a:endParaRPr/>
          </a:p>
        </p:txBody>
      </p:sp>
      <p:sp>
        <p:nvSpPr>
          <p:cNvPr id="100218" name="RepH"/>
          <p:cNvSpPr txBox="1"/>
          <p:nvPr/>
        </p:nvSpPr>
        <p:spPr>
          <a:xfrm>
            <a:off x="612000" y="3780000"/>
            <a:ext cx="10944000" cy="396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700" b="1">
                <a:solidFill>
                  <a:srgbClr val="7FB2E8"/>
                </a:solidFill>
                <a:latin typeface="Malgun Gothic"/>
                <a:ea typeface="Malgun Gothic"/>
              </a:rPr>
              <a:t>재현 경로 · 재실행 검증</a:t>
            </a:r>
          </a:p>
        </p:txBody>
      </p:sp>
      <p:sp>
        <p:nvSpPr>
          <p:cNvPr id="100219" name="RepB"/>
          <p:cNvSpPr txBox="1"/>
          <p:nvPr/>
        </p:nvSpPr>
        <p:spPr>
          <a:xfrm>
            <a:off x="612000" y="4140000"/>
            <a:ext cx="10944000" cy="1512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500">
                <a:solidFill>
                  <a:srgbClr val="F3F4F6"/>
                </a:solidFill>
                <a:latin typeface="Malgun Gothic"/>
                <a:ea typeface="Malgun Gothic"/>
              </a:rPr>
              <a:t>스크립트: step1_verify → step2_eda → step3_hypothesis · model_v3 · model_compare · check_EF_strength → step4_next_three</a:t>
            </a:r>
          </a:p>
          <a:p>
            <a:r>
              <a:rPr lang="en-US" sz="1500">
                <a:solidFill>
                  <a:srgbClr val="F3F4F6"/>
                </a:solidFill>
                <a:latin typeface="Malgun Gothic"/>
                <a:ea typeface="Malgun Gothic"/>
              </a:rPr>
              <a:t>재실행 검증 PASS (2026-10-18) — AUC 0.72±0.01 · 상위 1,000명 8.19% 재현 (본 자료 수치와 일치)</a:t>
            </a:r>
          </a:p>
        </p:txBody>
      </p:sp>
      <p:sp>
        <p:nvSpPr>
          <p:cNvPr id="100220" name="Foot"/>
          <p:cNvSpPr txBox="1"/>
          <p:nvPr/>
        </p:nvSpPr>
        <p:spPr>
          <a:xfrm>
            <a:off x="457200" y="5976000"/>
            <a:ext cx="11278800" cy="360000"/>
          </a:xfrm>
          <a:prstGeom prst="rect">
            <a:avLst/>
          </a:prstGeom>
        </p:spPr>
        <p:txBody>
          <a:bodyPr lIns="28800" tIns="28800" rIns="28800" bIns="28800"/>
          <a:lstStyle/>
          <a:p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상세 근거 전문 — 제출 리포트(프로젝트1_최종발표자료.html) 및 EDA·모델링·인사이트 보고서 참조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21" name="Band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7FB2E8"/>
          </a:solidFill>
          <a:ln>
            <a:noFill/>
          </a:ln>
        </p:spPr>
        <p:txBody>
          <a:bodyPr lIns="28800" tIns="28800" rIns="28800" bIns="28800"/>
          <a:lstStyle/>
          <a:p>
            <a:endParaRPr/>
          </a:p>
        </p:txBody>
      </p:sp>
      <p:sp>
        <p:nvSpPr>
          <p:cNvPr id="100222" name="Thanks"/>
          <p:cNvSpPr txBox="1"/>
          <p:nvPr/>
        </p:nvSpPr>
        <p:spPr>
          <a:xfrm>
            <a:off x="720000" y="2376000"/>
            <a:ext cx="10753200" cy="1008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4400" b="1">
                <a:solidFill>
                  <a:srgbClr val="F3F4F6"/>
                </a:solidFill>
                <a:latin typeface="Malgun Gothic"/>
                <a:ea typeface="Malgun Gothic"/>
              </a:rPr>
              <a:t>감사합니다</a:t>
            </a:r>
          </a:p>
        </p:txBody>
      </p:sp>
      <p:sp>
        <p:nvSpPr>
          <p:cNvPr id="100223" name="Next"/>
          <p:cNvSpPr txBox="1"/>
          <p:nvPr/>
        </p:nvSpPr>
        <p:spPr>
          <a:xfrm>
            <a:off x="720000" y="3672000"/>
            <a:ext cx="10753200" cy="504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2000" b="1">
                <a:solidFill>
                  <a:srgbClr val="7FB2E8"/>
                </a:solidFill>
                <a:latin typeface="Malgun Gothic"/>
                <a:ea typeface="Malgun Gothic"/>
              </a:rPr>
              <a:t>다음 달 1일, 명단이 갱신됩니다</a:t>
            </a:r>
          </a:p>
        </p:txBody>
      </p:sp>
      <p:sp>
        <p:nvSpPr>
          <p:cNvPr id="100224" name="Recap"/>
          <p:cNvSpPr txBox="1"/>
          <p:nvPr/>
        </p:nvSpPr>
        <p:spPr>
          <a:xfrm>
            <a:off x="720000" y="4320000"/>
            <a:ext cx="10753200" cy="432000"/>
          </a:xfrm>
          <a:prstGeom prst="rect">
            <a:avLst/>
          </a:prstGeom>
        </p:spPr>
        <p:txBody>
          <a:bodyPr lIns="28800" tIns="28800" rIns="28800" bIns="28800"/>
          <a:lstStyle/>
          <a:p>
            <a:pPr algn="ctr"/>
            <a:r>
              <a:rPr lang="en-US" sz="1500">
                <a:solidFill>
                  <a:srgbClr val="A9B1D0"/>
                </a:solidFill>
                <a:latin typeface="Malgun Gothic"/>
                <a:ea typeface="Malgun Gothic"/>
              </a:rPr>
              <a:t>반복 구매 · 특약 보유 · 기혼 중년 · 중간 소득 고객부터 먼저 만납니다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C1F26"/>
        </a:solidFill>
      </p:bgPr>
    </p:bg>
    <p:spTree>
      <p:nvGrpSpPr>
        <p:cNvPr id="1" name=""/>
        <p:cNvGrpSpPr/>
        <p:nvPr/>
      </p:nvGrpSpPr>
      <p:grpSpPr/>
      <p:sp>
        <p:nvSpPr>
          <p:cNvPr id="100463" name="Band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7FB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64" name="Kicker"/>
          <p:cNvSpPr txBox="1"/>
          <p:nvPr/>
        </p:nvSpPr>
        <p:spPr>
          <a:xfrm>
            <a:off x="457200" y="1404000"/>
            <a:ext cx="11278800" cy="32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400">
                <a:solidFill>
                  <a:srgbClr val="A9B1D0"/>
                </a:solidFill>
                <a:latin typeface="Malgun Gothic"/>
                <a:ea typeface="Malgun Gothic"/>
              </a:rPr>
              <a:t>1차 프로젝트 · 최종 발표</a:t>
            </a:r>
          </a:p>
        </p:txBody>
      </p:sp>
      <p:sp>
        <p:nvSpPr>
          <p:cNvPr id="100465" name="CoverTitle"/>
          <p:cNvSpPr txBox="1"/>
          <p:nvPr/>
        </p:nvSpPr>
        <p:spPr>
          <a:xfrm>
            <a:off x="457200" y="1728000"/>
            <a:ext cx="11278800" cy="104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400" b="1">
                <a:solidFill>
                  <a:srgbClr val="F3F4F6"/>
                </a:solidFill>
                <a:latin typeface="Malgun Gothic"/>
                <a:ea typeface="Malgun Gothic"/>
              </a:rPr>
              <a:t>보장only 프로젝트</a:t>
            </a:r>
          </a:p>
        </p:txBody>
      </p:sp>
      <p:sp>
        <p:nvSpPr>
          <p:cNvPr id="100466" name="CoverSub"/>
          <p:cNvSpPr txBox="1"/>
          <p:nvPr/>
        </p:nvSpPr>
        <p:spPr>
          <a:xfrm>
            <a:off x="457200" y="2772000"/>
            <a:ext cx="11278800" cy="5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900">
                <a:solidFill>
                  <a:srgbClr val="B9C2D0"/>
                </a:solidFill>
                <a:latin typeface="Malgun Gothic"/>
                <a:ea typeface="Malgun Gothic"/>
              </a:rPr>
              <a:t>반복 구매 고객의 추가 가입을 예측합니다</a:t>
            </a:r>
          </a:p>
        </p:txBody>
      </p:sp>
      <p:sp>
        <p:nvSpPr>
          <p:cNvPr id="100467" name="Divider"/>
          <p:cNvSpPr/>
          <p:nvPr/>
        </p:nvSpPr>
        <p:spPr>
          <a:xfrm>
            <a:off x="5018400" y="3564000"/>
            <a:ext cx="2160000" cy="21600"/>
          </a:xfrm>
          <a:prstGeom prst="rect">
            <a:avLst/>
          </a:prstGeom>
          <a:solidFill>
            <a:srgbClr val="7FB2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68" name="CardA"/>
          <p:cNvSpPr/>
          <p:nvPr/>
        </p:nvSpPr>
        <p:spPr>
          <a:xfrm>
            <a:off x="2340000" y="3996000"/>
            <a:ext cx="3528000" cy="133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69" name="CardAL"/>
          <p:cNvSpPr txBox="1"/>
          <p:nvPr/>
        </p:nvSpPr>
        <p:spPr>
          <a:xfrm>
            <a:off x="2484000" y="4212000"/>
            <a:ext cx="3240000" cy="32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선택한 산업</a:t>
            </a:r>
          </a:p>
        </p:txBody>
      </p:sp>
      <p:sp>
        <p:nvSpPr>
          <p:cNvPr id="100470" name="CardAV"/>
          <p:cNvSpPr txBox="1"/>
          <p:nvPr/>
        </p:nvSpPr>
        <p:spPr>
          <a:xfrm>
            <a:off x="2484000" y="4500000"/>
            <a:ext cx="3240000" cy="68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>
                <a:solidFill>
                  <a:srgbClr val="7FB2E8"/>
                </a:solidFill>
                <a:latin typeface="Malgun Gothic"/>
                <a:ea typeface="Malgun Gothic"/>
              </a:rPr>
              <a:t>금융</a:t>
            </a:r>
          </a:p>
        </p:txBody>
      </p:sp>
      <p:sp>
        <p:nvSpPr>
          <p:cNvPr id="100471" name="CardB"/>
          <p:cNvSpPr/>
          <p:nvPr/>
        </p:nvSpPr>
        <p:spPr>
          <a:xfrm>
            <a:off x="6325200" y="3996000"/>
            <a:ext cx="3528000" cy="1332000"/>
          </a:xfrm>
          <a:prstGeom prst="roundRect">
            <a:avLst/>
          </a:prstGeom>
          <a:solidFill>
            <a:srgbClr val="2B30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72" name="CardBL"/>
          <p:cNvSpPr txBox="1"/>
          <p:nvPr/>
        </p:nvSpPr>
        <p:spPr>
          <a:xfrm>
            <a:off x="6469200" y="4212000"/>
            <a:ext cx="3240000" cy="32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이름</a:t>
            </a:r>
          </a:p>
        </p:txBody>
      </p:sp>
      <p:sp>
        <p:nvSpPr>
          <p:cNvPr id="100473" name="CardBV"/>
          <p:cNvSpPr txBox="1"/>
          <p:nvPr/>
        </p:nvSpPr>
        <p:spPr>
          <a:xfrm>
            <a:off x="6469200" y="4500000"/>
            <a:ext cx="3240000" cy="684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 b="1">
                <a:solidFill>
                  <a:srgbClr val="E8B44C"/>
                </a:solidFill>
                <a:latin typeface="Malgun Gothic"/>
                <a:ea typeface="Malgun Gothic"/>
              </a:rPr>
              <a:t>ABA3_최대석</a:t>
            </a:r>
          </a:p>
        </p:txBody>
      </p:sp>
      <p:sp>
        <p:nvSpPr>
          <p:cNvPr id="100474" name="Date"/>
          <p:cNvSpPr txBox="1"/>
          <p:nvPr/>
        </p:nvSpPr>
        <p:spPr>
          <a:xfrm>
            <a:off x="457200" y="5796000"/>
            <a:ext cx="11278800" cy="288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200">
                <a:solidFill>
                  <a:srgbClr val="8A93A6"/>
                </a:solidFill>
                <a:latin typeface="Malgun Gothic"/>
                <a:ea typeface="Malgun Gothic"/>
              </a:rPr>
              <a:t>2026. 10. 27</a:t>
            </a: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C1F26"/>
        </a:solidFill>
      </p:bgPr>
    </p:bg>
    <p:spTree>
      <p:nvGrpSpPr>
        <p:cNvPr id="1" name=""/>
        <p:cNvGrpSpPr/>
        <p:nvPr/>
      </p:nvGrpSpPr>
      <p:grpSpPr/>
      <p:sp>
        <p:nvSpPr>
          <p:cNvPr id="100475" name="SecNum"/>
          <p:cNvSpPr/>
          <p:nvPr/>
        </p:nvSpPr>
        <p:spPr>
          <a:xfrm xmlns:a="http://schemas.openxmlformats.org/drawingml/2006/main">
            <a:off x="457200" y="457200"/>
            <a:ext cx="684000" cy="68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2E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1C1F2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00476" name="Kicker"/>
          <p:cNvSpPr txBox="1"/>
          <p:nvPr/>
        </p:nvSpPr>
        <p:spPr>
          <a:xfrm xmlns:a="http://schemas.openxmlformats.org/drawingml/2006/main">
            <a:off x="1296000" y="540000"/>
            <a:ext cx="1008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9B1D0"/>
                </a:solidFill>
                <a:latin typeface="Malgun Gothic"/>
                <a:ea typeface="Malgun Gothic"/>
              </a:rPr>
              <a:t>1 · 산업과 데이터 · 발표 동기</a:t>
            </a:r>
          </a:p>
        </p:txBody>
      </p:sp>
      <p:sp>
        <p:nvSpPr>
          <p:cNvPr id="100477" name="Title"/>
          <p:cNvSpPr txBox="1"/>
          <p:nvPr/>
        </p:nvSpPr>
        <p:spPr>
          <a:xfrm xmlns:a="http://schemas.openxmlformats.org/drawingml/2006/main">
            <a:off x="1278000" y="90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3F4F6"/>
                </a:solidFill>
                <a:latin typeface="Malgun Gothic"/>
                <a:ea typeface="Malgun Gothic"/>
              </a:rPr>
              <a:t>선택한 산업과 데이터 — 왜 이 문제인가</a:t>
            </a:r>
          </a:p>
        </p:txBody>
      </p:sp>
      <p:sp>
        <p:nvSpPr>
          <p:cNvPr id="100478" name="IndCard"/>
          <p:cNvSpPr/>
          <p:nvPr/>
        </p:nvSpPr>
        <p:spPr>
          <a:xfrm xmlns:a="http://schemas.openxmlformats.org/drawingml/2006/main">
            <a:off x="457200" y="1566000"/>
            <a:ext cx="55440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B303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79" name="IndL"/>
          <p:cNvSpPr txBox="1"/>
          <p:nvPr/>
        </p:nvSpPr>
        <p:spPr>
          <a:xfrm xmlns:a="http://schemas.openxmlformats.org/drawingml/2006/main">
            <a:off x="673200" y="1674000"/>
            <a:ext cx="5112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선택한 산업</a:t>
            </a:r>
          </a:p>
        </p:txBody>
      </p:sp>
      <p:sp>
        <p:nvSpPr>
          <p:cNvPr id="100480" name="IndV"/>
          <p:cNvSpPr txBox="1"/>
          <p:nvPr/>
        </p:nvSpPr>
        <p:spPr>
          <a:xfrm xmlns:a="http://schemas.openxmlformats.org/drawingml/2006/main">
            <a:off x="673200" y="1998000"/>
            <a:ext cx="5112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7FB2E8"/>
                </a:solidFill>
                <a:latin typeface="Malgun Gothic"/>
                <a:ea typeface="Malgun Gothic"/>
              </a:rPr>
              <a:t>금융 — 보험</a:t>
            </a:r>
          </a:p>
        </p:txBody>
      </p:sp>
      <p:sp>
        <p:nvSpPr>
          <p:cNvPr id="100481" name="IndS"/>
          <p:cNvSpPr txBox="1"/>
          <p:nvPr/>
        </p:nvSpPr>
        <p:spPr>
          <a:xfrm xmlns:a="http://schemas.openxmlformats.org/drawingml/2006/main">
            <a:off x="673200" y="2520000"/>
            <a:ext cx="5112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B9C2D0"/>
                </a:solidFill>
                <a:latin typeface="Malgun Gothic"/>
                <a:ea typeface="Malgun Gothic"/>
              </a:rPr>
              <a:t>보험상품가입자의 보험유지 특성 분석 (보험계약 등)</a:t>
            </a:r>
          </a:p>
        </p:txBody>
      </p:sp>
      <p:sp>
        <p:nvSpPr>
          <p:cNvPr id="100482" name="IndS2"/>
          <p:cNvSpPr txBox="1"/>
          <p:nvPr/>
        </p:nvSpPr>
        <p:spPr>
          <a:xfrm xmlns:a="http://schemas.openxmlformats.org/drawingml/2006/main">
            <a:off x="673200" y="2844000"/>
            <a:ext cx="5112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B9C2D0"/>
                </a:solidFill>
                <a:latin typeface="Malgun Gothic"/>
                <a:ea typeface="Malgun Gothic"/>
              </a:rPr>
              <a:t>TL_2.소비자.zip — 거래 385,019행 × 22열 (utf-8-sig)</a:t>
            </a:r>
          </a:p>
        </p:txBody>
      </p:sp>
      <p:sp>
        <p:nvSpPr>
          <p:cNvPr id="100483" name="DataCard"/>
          <p:cNvSpPr/>
          <p:nvPr/>
        </p:nvSpPr>
        <p:spPr>
          <a:xfrm xmlns:a="http://schemas.openxmlformats.org/drawingml/2006/main">
            <a:off x="6192000" y="1566000"/>
            <a:ext cx="55440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B303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84" name="DataL"/>
          <p:cNvSpPr txBox="1"/>
          <p:nvPr/>
        </p:nvSpPr>
        <p:spPr>
          <a:xfrm xmlns:a="http://schemas.openxmlformats.org/drawingml/2006/main">
            <a:off x="6408000" y="1674000"/>
            <a:ext cx="5112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9B1D0"/>
                </a:solidFill>
                <a:latin typeface="Malgun Gothic"/>
                <a:ea typeface="Malgun Gothic"/>
              </a:rPr>
              <a:t>사용한 데이터</a:t>
            </a:r>
          </a:p>
        </p:txBody>
      </p:sp>
      <p:sp>
        <p:nvSpPr>
          <p:cNvPr id="100485" name="DataV"/>
          <p:cNvSpPr txBox="1"/>
          <p:nvPr/>
        </p:nvSpPr>
        <p:spPr>
          <a:xfrm xmlns:a="http://schemas.openxmlformats.org/drawingml/2006/main">
            <a:off x="6408000" y="1998000"/>
            <a:ext cx="5112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FB2E8"/>
                </a:solidFill>
                <a:latin typeface="Malgun Gothic"/>
                <a:ea typeface="Malgun Gothic"/>
              </a:rPr>
              <a:t>보험 거래 77,305건 — 고객 74,776명</a:t>
            </a:r>
          </a:p>
        </p:txBody>
      </p:sp>
      <p:sp>
        <p:nvSpPr>
          <p:cNvPr id="100486" name="DataS1"/>
          <p:cNvSpPr txBox="1"/>
          <p:nvPr/>
        </p:nvSpPr>
        <p:spPr>
          <a:xfrm xmlns:a="http://schemas.openxmlformats.org/drawingml/2006/main">
            <a:off x="6408000" y="2502000"/>
            <a:ext cx="5112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B9C2D0"/>
                </a:solidFill>
                <a:latin typeface="Malgun Gothic"/>
                <a:ea typeface="Malgun Gothic"/>
              </a:rPr>
              <a:t>분석 풀 — 보장 보험만 보유한 38,932명 (2024년 말)</a:t>
            </a:r>
          </a:p>
        </p:txBody>
      </p:sp>
      <p:sp>
        <p:nvSpPr>
          <p:cNvPr id="100487" name="DataS2"/>
          <p:cNvSpPr txBox="1"/>
          <p:nvPr/>
        </p:nvSpPr>
        <p:spPr>
          <a:xfrm xmlns:a="http://schemas.openxmlformats.org/drawingml/2006/main">
            <a:off x="6408000" y="2826000"/>
            <a:ext cx="5112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B9C2D0"/>
                </a:solidFill>
                <a:latin typeface="Malgun Gothic"/>
                <a:ea typeface="Malgun Gothic"/>
              </a:rPr>
              <a:t>정답 열 없음 → 가입 연도를 뒤집어 정답 직접 생성</a:t>
            </a:r>
          </a:p>
        </p:txBody>
      </p:sp>
      <p:sp>
        <p:nvSpPr>
          <p:cNvPr id="100488" name="MotiveBox"/>
          <p:cNvSpPr/>
          <p:nvPr/>
        </p:nvSpPr>
        <p:spPr>
          <a:xfrm xmlns:a="http://schemas.openxmlformats.org/drawingml/2006/main">
            <a:off x="457200" y="3420000"/>
            <a:ext cx="11278800" cy="14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22B"/>
          </a:solidFill>
          <a:ln xmlns:a="http://schemas.openxmlformats.org/drawingml/2006/main" w="19050">
            <a:solidFill>
              <a:srgbClr val="7FB2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89" name="MotiveL"/>
          <p:cNvSpPr txBox="1"/>
          <p:nvPr/>
        </p:nvSpPr>
        <p:spPr>
          <a:xfrm xmlns:a="http://schemas.openxmlformats.org/drawingml/2006/main">
            <a:off x="684000" y="3546000"/>
            <a:ext cx="18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FB2E8"/>
                </a:solidFill>
                <a:latin typeface="Malgun Gothic"/>
                <a:ea typeface="Malgun Gothic"/>
              </a:rPr>
              <a:t>발표 동기</a:t>
            </a:r>
          </a:p>
        </p:txBody>
      </p:sp>
      <p:sp>
        <p:nvSpPr>
          <p:cNvPr id="100490" name="MotiveT"/>
          <p:cNvSpPr txBox="1"/>
          <p:nvPr/>
        </p:nvSpPr>
        <p:spPr>
          <a:xfrm xmlns:a="http://schemas.openxmlformats.org/drawingml/2006/main">
            <a:off x="684000" y="3870000"/>
            <a:ext cx="10836000" cy="97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>
            <a:r>
              <a:rPr lang="en-US" sz="1600">
                <a:solidFill>
                  <a:srgbClr val="F3F4F6"/>
                </a:solidFill>
                <a:latin typeface="Malgun Gothic"/>
                <a:ea typeface="Malgun Gothic"/>
              </a:rPr>
              <a:t>출발점 — 또 걸려온 상담 권유전화. 받는 쪽도, 거는 쪽도 근거가 없습니다.</a:t>
            </a:r>
          </a:p>
          <a:p>
            <a:r>
              <a:rPr lang="en-US" sz="1600">
                <a:solidFill>
                  <a:srgbClr val="F3F4F6"/>
                </a:solidFill>
                <a:latin typeface="Malgun Gothic"/>
                <a:ea typeface="Malgun Gothic"/>
              </a:rPr>
              <a:t>38,932명 전원 상담은 불가능 — '누구를 먼저 만날지'를 정해야 합니다.</a:t>
            </a:r>
          </a:p>
          <a:p>
            <a:r>
              <a:rPr lang="en-US" sz="1600">
                <a:solidFill>
                  <a:srgbClr val="F3F4F6"/>
                </a:solidFill>
                <a:latin typeface="Malgun Gothic"/>
                <a:ea typeface="Malgun Gothic"/>
              </a:rPr>
              <a:t>정답이 없다면 정답을 만들어 검증한다 — 이 발표는 그 기록입니다.</a:t>
            </a:r>
          </a:p>
        </p:txBody>
      </p:sp>
      <p:sp>
        <p:nvSpPr>
          <p:cNvPr id="100491" name="QBox"/>
          <p:cNvSpPr/>
          <p:nvPr/>
        </p:nvSpPr>
        <p:spPr>
          <a:xfrm xmlns:a="http://schemas.openxmlformats.org/drawingml/2006/main">
            <a:off x="457200" y="5040000"/>
            <a:ext cx="11278800" cy="8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3A2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92" name="QL"/>
          <p:cNvSpPr txBox="1"/>
          <p:nvPr/>
        </p:nvSpPr>
        <p:spPr>
          <a:xfrm xmlns:a="http://schemas.openxmlformats.org/drawingml/2006/main">
            <a:off x="684000" y="5148000"/>
            <a:ext cx="180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EC98A"/>
                </a:solidFill>
                <a:latin typeface="Malgun Gothic"/>
                <a:ea typeface="Malgun Gothic"/>
              </a:rPr>
              <a:t>검토 질문</a:t>
            </a:r>
          </a:p>
        </p:txBody>
      </p:sp>
      <p:sp>
        <p:nvSpPr>
          <p:cNvPr id="100493" name="QT"/>
          <p:cNvSpPr txBox="1"/>
          <p:nvPr/>
        </p:nvSpPr>
        <p:spPr>
          <a:xfrm xmlns:a="http://schemas.openxmlformats.org/drawingml/2006/main">
            <a:off x="684000" y="5472000"/>
            <a:ext cx="10836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50" b="1">
                <a:solidFill>
                  <a:srgbClr val="F3F4F6"/>
                </a:solidFill>
                <a:latin typeface="Malgun Gothic"/>
                <a:ea typeface="Malgun Gothic"/>
              </a:rPr>
              <a:t>보장 보험만 가진 고객 38,932명 중, 누구에게 먼저 추가 가입을 제안해야 상담 자원을 가장 잘 쓸 수 있는가?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맑은 고딕"/>
        <a:cs typeface=""/>
      </a:majorFont>
      <a:minorFont>
        <a:latin typeface="Malgun Gothic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맑은 고딕"/>
        <a:cs typeface=""/>
      </a:majorFont>
      <a:minorFont>
        <a:latin typeface="Malgun Gothic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2208</Words>
  <Application>Microsoft Office PowerPoint</Application>
  <PresentationFormat>와이드스크린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OfficeCLI</dc:creator>
  <cp:lastModifiedBy>user</cp:lastModifiedBy>
  <cp:revision>3</cp:revision>
  <dcterms:created xsi:type="dcterms:W3CDTF">2026-10-26T05:03:03Z</dcterms:created>
  <dcterms:modified xsi:type="dcterms:W3CDTF">2026-10-26T08:16:29Z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OfficeCLI.Version">
    <vt:lpwstr>1.0.143</vt:lpwstr>
  </op:property>
  <op:property fmtid="{D5CDD505-2E9C-101B-9397-08002B2CF9AE}" pid="3" name="OfficeCLI.LastModified">
    <vt:lpwstr>2026-10-27T02:45:50Z</vt:lpwstr>
  </op:property>
</op:Properties>
</file>