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73" r:id="Rd8c6601cad174d80"/>
    <p:sldId id="274" r:id="R0eb8d2d4339d4f63"/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slides/slide7.xml" Id="rId8" /><Relationship Type="http://schemas.openxmlformats.org/officeDocument/2006/relationships/slide" Target="slides/slide12.xml" Id="rId13" /><Relationship Type="http://schemas.openxmlformats.org/officeDocument/2006/relationships/notesMaster" Target="notesMasters/notesMaster1.xml" Id="rId18" /><Relationship Type="http://schemas.openxmlformats.org/officeDocument/2006/relationships/slide" Target="slides/slide2.xml" Id="rId3" /><Relationship Type="http://schemas.openxmlformats.org/officeDocument/2006/relationships/theme" Target="theme/theme1.xml" Id="rId21" /><Relationship Type="http://schemas.openxmlformats.org/officeDocument/2006/relationships/slide" Target="slides/slide6.xml" Id="rId7" /><Relationship Type="http://schemas.openxmlformats.org/officeDocument/2006/relationships/slide" Target="slides/slide11.xml" Id="rId12" /><Relationship Type="http://schemas.openxmlformats.org/officeDocument/2006/relationships/slide" Target="slides/slide16.xml" Id="rId17" /><Relationship Type="http://schemas.openxmlformats.org/officeDocument/2006/relationships/slide" Target="slides/slide1.xml" Id="rId2" /><Relationship Type="http://schemas.openxmlformats.org/officeDocument/2006/relationships/slide" Target="slides/slide15.xml" Id="rId16" /><Relationship Type="http://schemas.openxmlformats.org/officeDocument/2006/relationships/viewProps" Target="viewProps.xml" Id="rId20" /><Relationship Type="http://schemas.openxmlformats.org/officeDocument/2006/relationships/slideMaster" Target="slideMasters/slideMaster1.xml" Id="rId1" /><Relationship Type="http://schemas.openxmlformats.org/officeDocument/2006/relationships/slide" Target="slides/slide5.xml" Id="rId6" /><Relationship Type="http://schemas.openxmlformats.org/officeDocument/2006/relationships/slide" Target="slides/slide10.xml" Id="rId11" /><Relationship Type="http://schemas.openxmlformats.org/officeDocument/2006/relationships/slide" Target="slides/slide4.xml" Id="rId5" /><Relationship Type="http://schemas.openxmlformats.org/officeDocument/2006/relationships/slide" Target="slides/slide14.xml" Id="rId15" /><Relationship Type="http://schemas.openxmlformats.org/officeDocument/2006/relationships/slide" Target="slides/slide9.xml" Id="rId10" /><Relationship Type="http://schemas.openxmlformats.org/officeDocument/2006/relationships/presProps" Target="presProps.xml" Id="rId19" /><Relationship Type="http://schemas.openxmlformats.org/officeDocument/2006/relationships/slide" Target="slides/slide3.xml" Id="rId4" /><Relationship Type="http://schemas.openxmlformats.org/officeDocument/2006/relationships/slide" Target="slides/slide8.xml" Id="rId9" /><Relationship Type="http://schemas.openxmlformats.org/officeDocument/2006/relationships/slide" Target="slides/slide13.xml" Id="rId14" /><Relationship Type="http://schemas.openxmlformats.org/officeDocument/2006/relationships/tableStyles" Target="tableStyles.xml" Id="rId22" /><Relationship Type="http://schemas.openxmlformats.org/officeDocument/2006/relationships/slide" Target="/ppt/slides/slide18.xml" Id="Rd8c6601cad174d80" /><Relationship Type="http://schemas.openxmlformats.org/officeDocument/2006/relationships/slide" Target="/ppt/slides/slide19.xml" Id="R0eb8d2d4339d4f63" /></Relationships>
</file>

<file path=ppt/charts/chart1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신호 그룹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1.6</c:v>
              </c:pt>
              <c:pt idx="1">
                <c:v>3.8</c:v>
              </c:pt>
              <c:pt idx="2">
                <c:v>3.4</c:v>
              </c:pt>
              <c:pt idx="3">
                <c:v>3.9</c:v>
              </c:pt>
              <c:pt idx="4">
                <c:v>3.7</c:v>
              </c:pt>
              <c:pt idx="5">
                <c:v>11.6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EFDA-437E-B248-15917FB8D534}"/>
            </c:ext>
          </c:extLst>
        </c:ser>
        <c:ser>
          <c:idx val="1"/>
          <c:order val="1"/>
          <c:tx>
            <c:v>비교 그룹</c:v>
          </c:tx>
          <c:spPr>
            <a:solidFill>
              <a:srgbClr val="A9B1D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2.9</c:v>
              </c:pt>
              <c:pt idx="1">
                <c:v>0.8</c:v>
              </c:pt>
              <c:pt idx="2">
                <c:v>2.9</c:v>
              </c:pt>
              <c:pt idx="3">
                <c:v>0.7</c:v>
              </c:pt>
              <c:pt idx="4">
                <c:v>0.7</c:v>
              </c:pt>
              <c:pt idx="5">
                <c:v>2.8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1-EFDA-437E-B248-15917FB8D5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3F4F6"/>
              </a:solidFill>
              <a:latin typeface="Malgun Gothic"/>
              <a:ea typeface="Malgun Gothic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2B303D"/>
    </a:solidFill>
  </c:spPr>
</c:chartSpace>
</file>

<file path=ppt/charts/chart2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4"/>
              <c:pt idx="0">
                <c:v>더미(전원 미가입)</c:v>
              </c:pt>
              <c:pt idx="1">
                <c:v>로지스틱 v3(확정)</c:v>
              </c:pt>
              <c:pt idx="2">
                <c:v>LightGBM</c:v>
              </c:pt>
              <c:pt idx="3">
                <c:v>랜덤포레스트</c:v>
              </c:pt>
            </c:strLit>
          </c:cat>
          <c:val>
            <c:numLit>
              <c:formatCode>General</c:formatCode>
              <c:ptCount val="4"/>
              <c:pt idx="0">
                <c:v>2.9</c:v>
              </c:pt>
              <c:pt idx="1">
                <c:v>8.1999999999999993</c:v>
              </c:pt>
              <c:pt idx="2">
                <c:v>8.8000000000000007</c:v>
              </c:pt>
              <c:pt idx="3">
                <c:v>9.8000000000000007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20B6-488D-9B23-F8B29AC7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3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가입 방향(+) · 미가입 방향(−) — 반복 20회 평균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표준화 계수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60대</c:v>
              </c:pt>
              <c:pt idx="1">
                <c:v>지역 대구</c:v>
              </c:pt>
              <c:pt idx="2">
                <c:v>위험등급 D</c:v>
              </c:pt>
              <c:pt idx="3">
                <c:v>소득 8000미만</c:v>
              </c:pt>
              <c:pt idx="4">
                <c:v>위험등급 A</c:v>
              </c:pt>
              <c:pt idx="5">
                <c:v>지역 경기</c:v>
              </c:pt>
              <c:pt idx="6">
                <c:v>20대</c:v>
              </c:pt>
              <c:pt idx="7">
                <c:v>특약 보유</c:v>
              </c:pt>
            </c:strLit>
          </c:cat>
          <c:val>
            <c:numLit>
              <c:formatCode>General</c:formatCode>
              <c:ptCount val="8"/>
              <c:pt idx="0">
                <c:v>-1.42</c:v>
              </c:pt>
              <c:pt idx="1">
                <c:v>-0.99</c:v>
              </c:pt>
              <c:pt idx="2">
                <c:v>-0.65</c:v>
              </c:pt>
              <c:pt idx="3">
                <c:v>-0.46</c:v>
              </c:pt>
              <c:pt idx="4">
                <c:v>0.48</c:v>
              </c:pt>
              <c:pt idx="5">
                <c:v>0.61</c:v>
              </c:pt>
              <c:pt idx="6">
                <c:v>0.7</c:v>
              </c:pt>
              <c:pt idx="7">
                <c:v>0.84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F6E0-43D9-B937-04D99BA8EF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4.xml><?xml version="1.0" encoding="utf-8"?>
<c:chartSpace xmlns:c15="http://schemas.microsoft.com/office/drawing/2012/chart" xmlns:c16="http://schemas.microsoft.com/office/drawing/2014/chart"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보정 곡선 — 확률 등급별 실제 가입률(%)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5EC98A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</c:strLit>
          </c:cat>
          <c:val>
            <c:numLit>
              <c:formatCode>General</c:formatCode>
              <c:ptCount val="5"/>
              <c:pt idx="0">
                <c:v>2.2999999999999998</c:v>
              </c:pt>
              <c:pt idx="1">
                <c:v>2.52</c:v>
              </c:pt>
              <c:pt idx="2">
                <c:v>2.92</c:v>
              </c:pt>
              <c:pt idx="3">
                <c:v>3.19</c:v>
              </c:pt>
              <c:pt idx="4">
                <c:v>3.66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80CC-429D-A479-FCB935CD21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b5f84b716947f2" /><Relationship Type="http://schemas.openxmlformats.org/officeDocument/2006/relationships/slide" Target="/ppt/slides/slide18.xml" Id="R928f7988c5a04e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1e37eeb581747c3" /><Relationship Type="http://schemas.openxmlformats.org/officeDocument/2006/relationships/slide" Target="/ppt/slides/slide19.xml" Id="R4baedc6c15ca460a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이야기는 '누구에게 먼저 전화할까'를 데이터로 푼 과정입니다. 화면의 숫자 3개 — 2.9%, 8.2%, 0.720 — 만 기억하시면 됩니다. 앵커: 2.9%를 8.2%로 올렸다.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흐름: 문제 정의 → 데이터 정리 → 신호 탐색 → 모델 확인 → 상담 계획. 가운데 호박색 3단계(EDA·모델링·인사이트)가 핵심입니다. 앵커: 가운데 3단계가 핵심.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출발점은 권유 전화. 38,932명 전원 전화는 불가 — 누구 먼저? 데이터에 정답이 없어서 우리가 만들었다: 2025년 실제 가입 1,137명. 합격선 5.8%도 미리 합의. 2.9%는 함정 — 전부 '안 가입'이어도 정답률 97.1%라 채점법을 바꿨다. 하단 칩이 효과 3가지(+53명, 관행 폐기, A/B 준비). 앵커: 정답이 없어서 만들었고, 합격선은 5.8%.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깔때기: 385,019줄 → 보험 거래만(77,305건) → 고객별 1줄 → 38,932명. 결정 3가지: '기타'는 지우면 고객이 사라지니 보존, 이상한 큰 숫자를 다 버리지 않음(핵심 고객 방지), 가입 연도가 있어 정답 생성 가능. 앵커: 385,019줄을 38,932명으로 정리했다.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처음 예상은 전부 틀렸다 — 소득은 중간 구간이 정점, 최근 가입자가 잘 가입. 그래서 규칙: 2023·2024 두 해 연속 나타난 신호만 믿는다. 운 같은 신호가 걸러졌다. 앵커: 두 해 연속 나온 것만 믿었다.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막대 그래프 — 진한 막대(신호 고객) vs 연한 막대(나머지). 상품 2개 이상 11.6% = 4.1배, 특약 5.3배, 지역 경기 4.8배. 신호 하나는 약하지만 겹치면 3배 이상 — 그래서 모델이 필요. 앵커: 신호는 겹칠 때 세 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같은 시험 4방식 비교: 아무것도 안 함 2.9% → 우리 모델 8.2%(합격선 5.8% 통과). 다른 방법이 조금 더 높지만 차이는 운 범위 — 설명 되는 모델 선택(다음 슬라이드). 오른쪽: 같은 1,000명, 모델 82명 vs 무작위 29명 — +53명. 앵커: 같은 1,000명 — 29명 대신 82명.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핵심 반박 대응 — 'RF가 9.8% 더 높은데 왜 8.2%를 골랐나?' ① 차이가 운 범위: 같은 조건 20회 승부에서 13승 7패, 평균 차이 +0.10%p±0.60 — 동전 던지면 뒤집히는 크기. ② RF는 설정에 흔들린다: 12가지 튜닝하면 오히려 8.3%로 하락(9.8%는 상한일 뿐), 과하게 자란 트리는 급락. ③ 로지스틱은 이유를 말한다: '왜 1순위?'에 '특약 보유라서'라고 답할 수 있음 — RF도 특약을 1등으로 뽑아 같은 신호. 운용안 티어 변동 없음.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믿음 확인 3가지. ① 계단 일치(오른쪽): 모델이 매긴 등급과 실제 가입률이 Q1 2.30% → Q5 3.66%로 순서대로 일치 — 확률이 거짓말 안 하므로 티어 수치를 실제 빈도처럼 말할 수 있음. ② 말한 것을 시험: '특약이 중요하다'고 말했는데 실제로 빼보니 8.15% → 7.24%로 뚝 떨어짐 — 말한 대로 진짜 중요. ③ 같은 작업 재실행: 성적 그대로 재현(PASS, 2026-10-18) — 운이 아니라 다시 나오는 결과. 왼쪽 그래프는 모델이 중요하다고 본 항목 — 특약이 1등.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잘 가입한 고객 = 상품 2개 이상 + 특약 + 기혼 중년 + 중간 소득. 고소득이 아니었다. 배수 근거: 4.1배 / 6.9배 / 4.8배. 영향 크기: 특약 1등, 보유수 2등 — 행동이 갈랐다. 앵커: 2개 이상 + 특약 + 기혼 중년 + 중간 소득.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상위 500명 9.7% 전문 상담사 전화 / 1,000명 8.2% 확장 / 2,000명 6.7% 문자·알림. 예외: 20대 기혼 뒤로, 신용 낮으면 가장 뒤로. 제안은 새 상품이 아니라 같은 계열 채우기(신규 90%·보유자 87%가 M케어 계열). 앵커: 500명 전화 → 1,000명 확장 → 2,000명 문자.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매달 1일 순위 재계산 → 상담 → 기록. 상위 1,000명 중 절반만 전화하면 전화한 쪽 vs 안 한 쪽 차이 = 전화의 진짜 효과. KPI 3개. 앵커: 매달 갱신하고, 절반만 전화해 효과를 증명한다.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결과는 '예측 성공'까지. 매출 효과는 다음 실험(A/B) 몫. 속성은 2025년 데이터, 지역 이유 불명. 앵커: 예측 성공 ≠ 매출 증명.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한 문장: 신호가 겹치는 고객을 먼저 만난다. 숫자 3개: 0.720, 8.2%(2.8배), 82명(+53명). 한계는 있지만 시작 전에 인정했고, 판정 기준도 미리 정했기에 지금 상황에서 쓸 만한 근거. 매월 1일 갱신. 앵커: 0.720 · 8.2% · 82명.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데이터: 공공데이터 '보험상품가입자의 보험유지 특성 분석'. 모든 숫자 재실행 검증 통과. 앵커: 출처 · 재실행 검증 통과.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감사합니다. 질문 환영. 앵커: 감사합니다.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표지 — 인사. '안녕하세요, ABA3_최대석입니다. 선택한 산업은 금융이고, 1차 프로젝트로 반복 구매 고객의 추가 가입을 예측했습니다. 13분 동안 문제 정의부터 상담 운용안까지 소개하겠습니다.' (약 10초, 넘기면서 말한다)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산업·데이터·동기 — 선택한 산업은 금융(보험)이고, 데이터는 보험상품가입자의 보험유지 특성 분석 — 거래 385,019행 중 보험 거래 77,305건(고객 74,776명)을 사용해, 보장 보험만 보유한 38,932명을 분석 풀로 삼았다. 발표 동기는 일상의 권유전화: 받는 쪽도 성가시지만 거는 쪽도 근거가 없다 — 전원을 상담할 수 없으니 순서를 정해야 하고, 정답이 없으면 만들어 검증하면 된다. 검토 질문: 38,932명 중 누구를 먼저 만날 것인가. (약 40초)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28d2453694f4b" /><Relationship Type="http://schemas.openxmlformats.org/officeDocument/2006/relationships/notesSlide" Target="/ppt/notesSlides/notesSlide17.xml" Id="R0def25e0f5b340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d14c4bf5e4403" /><Relationship Type="http://schemas.openxmlformats.org/officeDocument/2006/relationships/notesSlide" Target="/ppt/notesSlides/notesSlide18.xml" Id="Rb91c47bbe1ed4418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1" name="Kicker"/>
          <p:cNvSpPr txBox="1"/>
          <p:nvPr/>
        </p:nvSpPr>
        <p:spPr>
          <a:xfrm>
            <a:off x="720000" y="1260000"/>
            <a:ext cx="107532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ABA 1차 프로젝트 · 최종발표 제출 자료 · 2026-10-26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720000" y="1692000"/>
            <a:ext cx="10753200" cy="165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보장only 고객 중</a:t>
            </a:r>
          </a:p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누구에게 먼저 상담할 것인가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3492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>
                <a:solidFill>
                  <a:srgbClr val="A9B1D0"/>
                </a:solidFill>
                <a:latin typeface="Malgun Gothic"/>
                <a:ea typeface="Malgun Gothic"/>
              </a:rPr>
              <a:t>정답이 없는 데이터에서 정답을 만들고, 판정 기준으로 검증하고, 상담 운용으로 바꿨습니다</a:t>
            </a:r>
          </a:p>
        </p:txBody>
      </p:sp>
      <p:sp>
        <p:nvSpPr>
          <p:cNvPr id="100004" name="KpiCard1"/>
          <p:cNvSpPr/>
          <p:nvPr/>
        </p:nvSpPr>
        <p:spPr>
          <a:xfrm>
            <a:off x="5400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5" name="KpiNum1"/>
          <p:cNvSpPr txBox="1"/>
          <p:nvPr/>
        </p:nvSpPr>
        <p:spPr>
          <a:xfrm>
            <a:off x="5400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006" name="KpiSub1"/>
          <p:cNvSpPr txBox="1"/>
          <p:nvPr/>
        </p:nvSpPr>
        <p:spPr>
          <a:xfrm>
            <a:off x="6840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기준선 — 아무나 전화했을 때의 가입률</a:t>
            </a:r>
          </a:p>
        </p:txBody>
      </p:sp>
      <p:sp>
        <p:nvSpPr>
          <p:cNvPr id="100007" name="KpiCard2"/>
          <p:cNvSpPr/>
          <p:nvPr/>
        </p:nvSpPr>
        <p:spPr>
          <a:xfrm>
            <a:off x="43344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8" name="KpiNum2"/>
          <p:cNvSpPr txBox="1"/>
          <p:nvPr/>
        </p:nvSpPr>
        <p:spPr>
          <a:xfrm>
            <a:off x="43344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009" name="KpiSub2"/>
          <p:cNvSpPr txBox="1"/>
          <p:nvPr/>
        </p:nvSpPr>
        <p:spPr>
          <a:xfrm>
            <a:off x="44784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— 2.8배 · 판정선 5.8% 통과</a:t>
            </a:r>
          </a:p>
        </p:txBody>
      </p:sp>
      <p:sp>
        <p:nvSpPr>
          <p:cNvPr id="100010" name="KpiCard3"/>
          <p:cNvSpPr/>
          <p:nvPr/>
        </p:nvSpPr>
        <p:spPr>
          <a:xfrm>
            <a:off x="81288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11" name="KpiNum3"/>
          <p:cNvSpPr txBox="1"/>
          <p:nvPr/>
        </p:nvSpPr>
        <p:spPr>
          <a:xfrm>
            <a:off x="81288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012" name="KpiSub3"/>
          <p:cNvSpPr txBox="1"/>
          <p:nvPr/>
        </p:nvSpPr>
        <p:spPr>
          <a:xfrm>
            <a:off x="82728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확정 모델 AUC — 반복 20회 ±0.010</a:t>
            </a:r>
          </a:p>
        </p:txBody>
      </p:sp>
      <p:sp>
        <p:nvSpPr>
          <p:cNvPr id="100013" name="CoverFooter"/>
          <p:cNvSpPr txBox="1"/>
          <p:nvPr/>
        </p:nvSpPr>
        <p:spPr>
          <a:xfrm>
            <a:off x="540000" y="6336000"/>
            <a:ext cx="111132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150">
                <a:solidFill>
                  <a:srgbClr val="A9B1D0"/>
                </a:solidFill>
                <a:latin typeface="Malgun Gothic"/>
                <a:ea typeface="Malgun Gothic"/>
              </a:rPr>
              <a:t>데이터: [공공데이터] 보험상품가입자의 보험유지 특성 분석(보험계약 등) — TL_2.소비자.zip (보험 거래만 사용)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5" name="Title"/>
          <p:cNvSpPr txBox="1"/>
          <p:nvPr/>
        </p:nvSpPr>
        <p:spPr>
          <a:xfrm>
            <a:off x="457200" y="432000"/>
            <a:ext cx="11278800" cy="79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발표 구성 — 9절 여정</a:t>
            </a:r>
          </a:p>
        </p:txBody>
      </p:sp>
      <p:sp>
        <p:nvSpPr>
          <p:cNvPr id="100226" name="JourneyLine"/>
          <p:cNvSpPr/>
          <p:nvPr/>
        </p:nvSpPr>
        <p:spPr>
          <a:xfrm>
            <a:off x="720000" y="3175200"/>
            <a:ext cx="10800000" cy="21600"/>
          </a:xfrm>
          <a:prstGeom prst="rect">
            <a:avLst/>
          </a:prstGeom>
          <a:solidFill>
            <a:srgbClr val="383E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27" name="C1"/>
          <p:cNvSpPr/>
          <p:nvPr/>
        </p:nvSpPr>
        <p:spPr>
          <a:xfrm>
            <a:off x="4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28" name="L1"/>
          <p:cNvSpPr txBox="1"/>
          <p:nvPr/>
        </p:nvSpPr>
        <p:spPr>
          <a:xfrm>
            <a:off x="1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문제 정의</a:t>
            </a:r>
          </a:p>
        </p:txBody>
      </p:sp>
      <p:sp>
        <p:nvSpPr>
          <p:cNvPr id="100229" name="C2"/>
          <p:cNvSpPr/>
          <p:nvPr/>
        </p:nvSpPr>
        <p:spPr>
          <a:xfrm>
            <a:off x="18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30" name="L2"/>
          <p:cNvSpPr txBox="1"/>
          <p:nvPr/>
        </p:nvSpPr>
        <p:spPr>
          <a:xfrm>
            <a:off x="14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소개</a:t>
            </a:r>
          </a:p>
        </p:txBody>
      </p:sp>
      <p:sp>
        <p:nvSpPr>
          <p:cNvPr id="100231" name="C3"/>
          <p:cNvSpPr/>
          <p:nvPr/>
        </p:nvSpPr>
        <p:spPr>
          <a:xfrm>
            <a:off x="31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32" name="L3"/>
          <p:cNvSpPr txBox="1"/>
          <p:nvPr/>
        </p:nvSpPr>
        <p:spPr>
          <a:xfrm>
            <a:off x="28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EDA 분석</a:t>
            </a:r>
          </a:p>
        </p:txBody>
      </p:sp>
      <p:sp>
        <p:nvSpPr>
          <p:cNvPr id="100233" name="C4"/>
          <p:cNvSpPr/>
          <p:nvPr/>
        </p:nvSpPr>
        <p:spPr>
          <a:xfrm>
            <a:off x="451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234" name="L4"/>
          <p:cNvSpPr txBox="1"/>
          <p:nvPr/>
        </p:nvSpPr>
        <p:spPr>
          <a:xfrm>
            <a:off x="41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모델링 결과</a:t>
            </a:r>
          </a:p>
        </p:txBody>
      </p:sp>
      <p:sp>
        <p:nvSpPr>
          <p:cNvPr id="100235" name="C5"/>
          <p:cNvSpPr/>
          <p:nvPr/>
        </p:nvSpPr>
        <p:spPr>
          <a:xfrm>
            <a:off x="58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236" name="L5"/>
          <p:cNvSpPr txBox="1"/>
          <p:nvPr/>
        </p:nvSpPr>
        <p:spPr>
          <a:xfrm>
            <a:off x="55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인사이트</a:t>
            </a:r>
          </a:p>
        </p:txBody>
      </p:sp>
      <p:sp>
        <p:nvSpPr>
          <p:cNvPr id="100237" name="C6"/>
          <p:cNvSpPr/>
          <p:nvPr/>
        </p:nvSpPr>
        <p:spPr>
          <a:xfrm>
            <a:off x="72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238" name="L6"/>
          <p:cNvSpPr txBox="1"/>
          <p:nvPr/>
        </p:nvSpPr>
        <p:spPr>
          <a:xfrm>
            <a:off x="68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향후 활용</a:t>
            </a:r>
          </a:p>
        </p:txBody>
      </p:sp>
      <p:sp>
        <p:nvSpPr>
          <p:cNvPr id="100239" name="C7"/>
          <p:cNvSpPr/>
          <p:nvPr/>
        </p:nvSpPr>
        <p:spPr>
          <a:xfrm>
            <a:off x="85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240" name="L7"/>
          <p:cNvSpPr txBox="1"/>
          <p:nvPr/>
        </p:nvSpPr>
        <p:spPr>
          <a:xfrm>
            <a:off x="82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100241" name="C8"/>
          <p:cNvSpPr/>
          <p:nvPr/>
        </p:nvSpPr>
        <p:spPr>
          <a:xfrm>
            <a:off x="99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242" name="L8"/>
          <p:cNvSpPr txBox="1"/>
          <p:nvPr/>
        </p:nvSpPr>
        <p:spPr>
          <a:xfrm>
            <a:off x="95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결론</a:t>
            </a:r>
          </a:p>
        </p:txBody>
      </p:sp>
      <p:sp>
        <p:nvSpPr>
          <p:cNvPr id="100243" name="C9"/>
          <p:cNvSpPr/>
          <p:nvPr/>
        </p:nvSpPr>
        <p:spPr>
          <a:xfrm>
            <a:off x="112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44" name="L9"/>
          <p:cNvSpPr txBox="1"/>
          <p:nvPr/>
        </p:nvSpPr>
        <p:spPr>
          <a:xfrm>
            <a:off x="109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출처</a:t>
            </a:r>
          </a:p>
        </p:txBody>
      </p:sp>
      <p:sp>
        <p:nvSpPr>
          <p:cNvPr id="100245" name="CoreChip"/>
          <p:cNvSpPr txBox="1"/>
          <p:nvPr/>
        </p:nvSpPr>
        <p:spPr>
          <a:xfrm>
            <a:off x="457200" y="4608000"/>
            <a:ext cx="11278800" cy="576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핵심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3절 — EDA · </a:t>
            </a:r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모델링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· </a:t>
            </a:r>
            <a:r>
              <a:rPr lang="en-US" sz="1800" b="1" dirty="0" err="1" smtClean="0">
                <a:solidFill>
                  <a:srgbClr val="7FB2E8"/>
                </a:solidFill>
                <a:latin typeface="Malgun Gothic"/>
                <a:ea typeface="Malgun Gothic"/>
              </a:rPr>
              <a:t>인사이트</a:t>
            </a:r>
            <a:endParaRPr lang="en-US" sz="1800" b="1" dirty="0">
              <a:solidFill>
                <a:srgbClr val="7FB2E8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4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4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문제 정의 · 기대효과</a:t>
            </a:r>
          </a:p>
        </p:txBody>
      </p:sp>
      <p:sp>
        <p:nvSpPr>
          <p:cNvPr id="10024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정답지가 없는 시험 문제</a:t>
            </a:r>
          </a:p>
        </p:txBody>
      </p:sp>
      <p:sp>
        <p:nvSpPr>
          <p:cNvPr id="100249" name="B1"/>
          <p:cNvSpPr/>
          <p:nvPr/>
        </p:nvSpPr>
        <p:spPr>
          <a:xfrm>
            <a:off x="4572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정답 열이 없다</a:t>
            </a:r>
          </a:p>
        </p:txBody>
      </p:sp>
      <p:sp>
        <p:nvSpPr>
          <p:cNvPr id="100250" name="B2"/>
          <p:cNvSpPr/>
          <p:nvPr/>
        </p:nvSpPr>
        <p:spPr>
          <a:xfrm>
            <a:off x="45648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Malgun Gothic"/>
                <a:ea typeface="Malgun Gothic"/>
              </a:rPr>
              <a:t>가입 연도로 정답 생성</a:t>
            </a:r>
          </a:p>
        </p:txBody>
      </p:sp>
      <p:sp>
        <p:nvSpPr>
          <p:cNvPr id="100251" name="B3"/>
          <p:cNvSpPr/>
          <p:nvPr/>
        </p:nvSpPr>
        <p:spPr>
          <a:xfrm>
            <a:off x="86724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판정 기준 사전 합의</a:t>
            </a:r>
          </a:p>
        </p:txBody>
      </p:sp>
      <p:cxnSp>
        <p:nvCxnSpPr>
          <p:cNvPr id="100252" name="Connector 1"/>
          <p:cNvCxnSpPr>
            <a:stCxn id="100249" idx="0"/>
            <a:endCxn id="100250" idx="0"/>
          </p:cNvCxnSpPr>
          <p:nvPr/>
        </p:nvCxnSpPr>
        <p:spPr>
          <a:xfrm>
            <a:off x="35172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53" name="Connector 2"/>
          <p:cNvCxnSpPr>
            <a:stCxn id="100250" idx="0"/>
            <a:endCxn id="100251" idx="0"/>
          </p:cNvCxnSpPr>
          <p:nvPr/>
        </p:nvCxnSpPr>
        <p:spPr>
          <a:xfrm>
            <a:off x="76248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54" name="StatL"/>
          <p:cNvSpPr/>
          <p:nvPr/>
        </p:nvSpPr>
        <p:spPr>
          <a:xfrm>
            <a:off x="4572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5" name="StatLN"/>
          <p:cNvSpPr txBox="1"/>
          <p:nvPr/>
        </p:nvSpPr>
        <p:spPr>
          <a:xfrm>
            <a:off x="4572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E8B44C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256" name="StatLS"/>
          <p:cNvSpPr txBox="1"/>
          <p:nvPr/>
        </p:nvSpPr>
        <p:spPr>
          <a:xfrm>
            <a:off x="612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정답 비율 — 전원 '미가입' 답해도 정확도 97.1%</a:t>
            </a:r>
          </a:p>
        </p:txBody>
      </p:sp>
      <p:sp>
        <p:nvSpPr>
          <p:cNvPr id="100257" name="StatR"/>
          <p:cNvSpPr/>
          <p:nvPr/>
        </p:nvSpPr>
        <p:spPr>
          <a:xfrm>
            <a:off x="61920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8" name="StatRN"/>
          <p:cNvSpPr txBox="1"/>
          <p:nvPr/>
        </p:nvSpPr>
        <p:spPr>
          <a:xfrm>
            <a:off x="61920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7FB2E8"/>
                </a:solidFill>
                <a:latin typeface="Malgun Gothic"/>
                <a:ea typeface="Malgun Gothic"/>
              </a:rPr>
              <a:t>5.8%</a:t>
            </a:r>
          </a:p>
        </p:txBody>
      </p:sp>
      <p:sp>
        <p:nvSpPr>
          <p:cNvPr id="100259" name="StatRS"/>
          <p:cNvSpPr txBox="1"/>
          <p:nvPr/>
        </p:nvSpPr>
        <p:spPr>
          <a:xfrm>
            <a:off x="6336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합격선 — 기준선의 2배 · 모델 전 사전 합의</a:t>
            </a:r>
          </a:p>
        </p:txBody>
      </p:sp>
      <p:sp>
        <p:nvSpPr>
          <p:cNvPr id="100260" name="Eff1"/>
          <p:cNvSpPr/>
          <p:nvPr/>
        </p:nvSpPr>
        <p:spPr>
          <a:xfrm>
            <a:off x="4860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+53명 — 상담 효율</a:t>
            </a:r>
          </a:p>
        </p:txBody>
      </p:sp>
      <p:sp>
        <p:nvSpPr>
          <p:cNvPr id="100261" name="Eff2"/>
          <p:cNvSpPr/>
          <p:nvPr/>
        </p:nvSpPr>
        <p:spPr>
          <a:xfrm>
            <a:off x="43164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관행 폐기 — 데이터 우선순위</a:t>
            </a:r>
          </a:p>
        </p:txBody>
      </p:sp>
      <p:sp>
        <p:nvSpPr>
          <p:cNvPr id="100262" name="Eff3"/>
          <p:cNvSpPr/>
          <p:nvPr/>
        </p:nvSpPr>
        <p:spPr>
          <a:xfrm>
            <a:off x="81468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파일럿 A/B — 준비 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63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64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2 · 데이터 소개</a:t>
            </a:r>
          </a:p>
        </p:txBody>
      </p:sp>
      <p:sp>
        <p:nvSpPr>
          <p:cNvPr id="100265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385,019행에서 38,932명으로</a:t>
            </a:r>
          </a:p>
        </p:txBody>
      </p:sp>
      <p:sp>
        <p:nvSpPr>
          <p:cNvPr id="100266" name="Flow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385,019행</a:t>
            </a:r>
          </a:p>
        </p:txBody>
      </p:sp>
      <p:sp>
        <p:nvSpPr>
          <p:cNvPr id="100267" name="Flow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원본 · 22열 · 보험+증권</a:t>
            </a:r>
          </a:p>
        </p:txBody>
      </p:sp>
      <p:sp>
        <p:nvSpPr>
          <p:cNvPr id="100268" name="Flow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77,305건</a:t>
            </a:r>
          </a:p>
        </p:txBody>
      </p:sp>
      <p:sp>
        <p:nvSpPr>
          <p:cNvPr id="100269" name="Flow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보험 거래만 · 20.1%</a:t>
            </a:r>
          </a:p>
        </p:txBody>
      </p:sp>
      <p:sp>
        <p:nvSpPr>
          <p:cNvPr id="100270" name="Flow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74,776명</a:t>
            </a:r>
          </a:p>
        </p:txBody>
      </p:sp>
      <p:sp>
        <p:nvSpPr>
          <p:cNvPr id="100271" name="Flow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고객 편성 — 1행=1명</a:t>
            </a:r>
          </a:p>
        </p:txBody>
      </p:sp>
      <p:sp>
        <p:nvSpPr>
          <p:cNvPr id="100272" name="Flow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38,932명</a:t>
            </a:r>
          </a:p>
        </p:txBody>
      </p:sp>
      <p:sp>
        <p:nvSpPr>
          <p:cNvPr id="100273" name="Flow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분석 풀 · 정답 2.9%</a:t>
            </a:r>
          </a:p>
        </p:txBody>
      </p:sp>
      <p:cxnSp>
        <p:nvCxnSpPr>
          <p:cNvPr id="100274" name="Connector 1"/>
          <p:cNvCxnSpPr>
            <a:stCxn id="100266" idx="0"/>
            <a:endCxn id="100268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5" name="Connector 2"/>
          <p:cNvCxnSpPr>
            <a:stCxn id="100268" idx="0"/>
            <a:endCxn id="100270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6" name="Connector 3"/>
          <p:cNvCxnSpPr>
            <a:stCxn id="100270" idx="0"/>
            <a:endCxn id="100272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77" name="C1"/>
          <p:cNvSpPr/>
          <p:nvPr/>
        </p:nvSpPr>
        <p:spPr>
          <a:xfrm>
            <a:off x="4860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78" name="C1H"/>
          <p:cNvSpPr txBox="1"/>
          <p:nvPr/>
        </p:nvSpPr>
        <p:spPr>
          <a:xfrm>
            <a:off x="6300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결측</a:t>
            </a:r>
          </a:p>
        </p:txBody>
      </p:sp>
      <p:sp>
        <p:nvSpPr>
          <p:cNvPr id="100279" name="C1B"/>
          <p:cNvSpPr txBox="1"/>
          <p:nvPr/>
        </p:nvSpPr>
        <p:spPr>
          <a:xfrm>
            <a:off x="6300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NaN 0건 — '기타' 보존</a:t>
            </a:r>
          </a:p>
        </p:txBody>
      </p:sp>
      <p:sp>
        <p:nvSpPr>
          <p:cNvPr id="100280" name="C2"/>
          <p:cNvSpPr/>
          <p:nvPr/>
        </p:nvSpPr>
        <p:spPr>
          <a:xfrm>
            <a:off x="43164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1" name="C2H"/>
          <p:cNvSpPr txBox="1"/>
          <p:nvPr/>
        </p:nvSpPr>
        <p:spPr>
          <a:xfrm>
            <a:off x="44604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이상치</a:t>
            </a:r>
          </a:p>
        </p:txBody>
      </p:sp>
      <p:sp>
        <p:nvSpPr>
          <p:cNvPr id="100282" name="C2B"/>
          <p:cNvSpPr txBox="1"/>
          <p:nvPr/>
        </p:nvSpPr>
        <p:spPr>
          <a:xfrm>
            <a:off x="44604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8,964 오경보 vs 680 진짜 꼬리</a:t>
            </a:r>
          </a:p>
        </p:txBody>
      </p:sp>
      <p:sp>
        <p:nvSpPr>
          <p:cNvPr id="100283" name="C3"/>
          <p:cNvSpPr/>
          <p:nvPr/>
        </p:nvSpPr>
        <p:spPr>
          <a:xfrm>
            <a:off x="81468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4" name="C3H"/>
          <p:cNvSpPr txBox="1"/>
          <p:nvPr/>
        </p:nvSpPr>
        <p:spPr>
          <a:xfrm>
            <a:off x="82908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시간</a:t>
            </a:r>
          </a:p>
        </p:txBody>
      </p:sp>
      <p:sp>
        <p:nvSpPr>
          <p:cNvPr id="100285" name="C3B"/>
          <p:cNvSpPr txBox="1"/>
          <p:nvPr/>
        </p:nvSpPr>
        <p:spPr>
          <a:xfrm>
            <a:off x="82908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가입 연도 → 정답 생성</a:t>
            </a:r>
          </a:p>
        </p:txBody>
      </p:sp>
      <p:sp>
        <p:nvSpPr>
          <p:cNvPr id="100286" name="Foot"/>
          <p:cNvSpPr txBox="1"/>
          <p:nvPr/>
        </p:nvSpPr>
        <p:spPr>
          <a:xfrm>
            <a:off x="457200" y="518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고객당 1행 96.9% · 최대 5행 · 가입 연도의 88.3%가 2024~2025 스냅샷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8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8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28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가설은 네 번 무너졌다</a:t>
            </a:r>
          </a:p>
        </p:txBody>
      </p:sp>
      <p:sp>
        <p:nvSpPr>
          <p:cNvPr id="100290" name="Step1"/>
          <p:cNvSpPr/>
          <p:nvPr/>
        </p:nvSpPr>
        <p:spPr>
          <a:xfrm>
            <a:off x="4572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① 대용라벨 가설 4개</a:t>
            </a:r>
          </a:p>
        </p:txBody>
      </p:sp>
      <p:sp>
        <p:nvSpPr>
          <p:cNvPr id="100291" name="Step1R"/>
          <p:cNvSpPr txBox="1"/>
          <p:nvPr/>
        </p:nvSpPr>
        <p:spPr>
          <a:xfrm>
            <a:off x="4572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반박</a:t>
            </a:r>
          </a:p>
        </p:txBody>
      </p:sp>
      <p:sp>
        <p:nvSpPr>
          <p:cNvPr id="100292" name="Step2"/>
          <p:cNvSpPr/>
          <p:nvPr/>
        </p:nvSpPr>
        <p:spPr>
          <a:xfrm>
            <a:off x="33768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② 실제 타겟 재검증</a:t>
            </a:r>
          </a:p>
        </p:txBody>
      </p:sp>
      <p:sp>
        <p:nvSpPr>
          <p:cNvPr id="100293" name="Step2R"/>
          <p:cNvSpPr txBox="1"/>
          <p:nvPr/>
        </p:nvSpPr>
        <p:spPr>
          <a:xfrm>
            <a:off x="33768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뒤집힘</a:t>
            </a:r>
          </a:p>
        </p:txBody>
      </p:sp>
      <p:sp>
        <p:nvSpPr>
          <p:cNvPr id="100294" name="Step3"/>
          <p:cNvSpPr/>
          <p:nvPr/>
        </p:nvSpPr>
        <p:spPr>
          <a:xfrm>
            <a:off x="62964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③ 새 가설 A~D</a:t>
            </a:r>
          </a:p>
        </p:txBody>
      </p:sp>
      <p:sp>
        <p:nvSpPr>
          <p:cNvPr id="100295" name="Step3R"/>
          <p:cNvSpPr txBox="1"/>
          <p:nvPr/>
        </p:nvSpPr>
        <p:spPr>
          <a:xfrm>
            <a:off x="62964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A·B 지지 · C·D 반박</a:t>
            </a:r>
          </a:p>
        </p:txBody>
      </p:sp>
      <p:sp>
        <p:nvSpPr>
          <p:cNvPr id="100296" name="Step4"/>
          <p:cNvSpPr/>
          <p:nvPr/>
        </p:nvSpPr>
        <p:spPr>
          <a:xfrm>
            <a:off x="92160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④ 미개척 축 E·F</a:t>
            </a:r>
          </a:p>
        </p:txBody>
      </p:sp>
      <p:sp>
        <p:nvSpPr>
          <p:cNvPr id="100297" name="Step4R"/>
          <p:cNvSpPr txBox="1"/>
          <p:nvPr/>
        </p:nvSpPr>
        <p:spPr>
          <a:xfrm>
            <a:off x="92160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E 지지·강화 · F 철회</a:t>
            </a:r>
          </a:p>
        </p:txBody>
      </p:sp>
      <p:cxnSp>
        <p:nvCxnSpPr>
          <p:cNvPr id="100298" name="Connector 1"/>
          <p:cNvCxnSpPr>
            <a:stCxn id="100290" idx="0"/>
            <a:endCxn id="100292" idx="0"/>
          </p:cNvCxnSpPr>
          <p:nvPr/>
        </p:nvCxnSpPr>
        <p:spPr>
          <a:xfrm>
            <a:off x="29772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99" name="Connector 2"/>
          <p:cNvCxnSpPr>
            <a:stCxn id="100292" idx="0"/>
            <a:endCxn id="100294" idx="0"/>
          </p:cNvCxnSpPr>
          <p:nvPr/>
        </p:nvCxnSpPr>
        <p:spPr>
          <a:xfrm>
            <a:off x="58968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00" name="Connector 3"/>
          <p:cNvCxnSpPr>
            <a:stCxn id="100294" idx="0"/>
            <a:endCxn id="100296" idx="0"/>
          </p:cNvCxnSpPr>
          <p:nvPr/>
        </p:nvCxnSpPr>
        <p:spPr>
          <a:xfrm>
            <a:off x="88164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301" name="RuleBand"/>
          <p:cNvSpPr/>
          <p:nvPr/>
        </p:nvSpPr>
        <p:spPr>
          <a:xfrm>
            <a:off x="457200" y="3456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algun Gothic"/>
                <a:ea typeface="Malgun Gothic"/>
              </a:rPr>
              <a:t>채택 규칙 — 두 시점 프레임(T=2023 / T=2024)에서 재현될 때만</a:t>
            </a:r>
          </a:p>
        </p:txBody>
      </p:sp>
      <p:sp>
        <p:nvSpPr>
          <p:cNvPr id="100302" name="Flip"/>
          <p:cNvSpPr txBox="1"/>
          <p:nvPr/>
        </p:nvSpPr>
        <p:spPr>
          <a:xfrm>
            <a:off x="457200" y="4608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뒤집힌 것 — 소득 정점 5000미만 · 신용 계단 없음 · 최근 가입자 최고</a:t>
            </a:r>
          </a:p>
        </p:txBody>
      </p:sp>
      <p:sp>
        <p:nvSpPr>
          <p:cNvPr id="100303" name="Foot"/>
          <p:cNvSpPr txBox="1"/>
          <p:nvPr/>
        </p:nvSpPr>
        <p:spPr>
          <a:xfrm>
            <a:off x="457200" y="511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반박된 기록이 피처 선택을 결정한 정보 — 무너진 가설이 다음 가설의 재료였습니다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0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30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30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두 프레임을 통과한 신호 여섯 개</a:t>
            </a:r>
          </a:p>
        </p:txBody>
      </p:sp>
      <p:graphicFrame>
        <p:nvGraphicFramePr>
          <p:cNvPr id="100307" name="차트 100306"/>
          <p:cNvGraphicFramePr/>
          <p:nvPr/>
        </p:nvGraphicFramePr>
        <p:xfrm>
          <a:off x="457200" y="1512000"/>
          <a:ext cx="11278800" cy="374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08" name="Cap"/>
          <p:cNvSpPr txBox="1"/>
          <p:nvPr/>
        </p:nvSpPr>
        <p:spPr>
          <a:xfrm>
            <a:off x="457200" y="540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실제 가입률 (%) — 진한 막대 = 신호 그룹 · 연한 막대 = 비교 그룹 (하단 = 신호명)</a:t>
            </a:r>
          </a:p>
        </p:txBody>
      </p:sp>
      <p:sp>
        <p:nvSpPr>
          <p:cNvPr id="100309" name="Takeaway"/>
          <p:cNvSpPr txBox="1"/>
          <p:nvPr/>
        </p:nvSpPr>
        <p:spPr>
          <a:xfrm>
            <a:off x="457200" y="583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격차 — 보유수 4.1배 · 특약 5.3배(통제 후 6.9배) · 지역 4.8배 · 개별 상관은 최고 +0.070 → 조합의 힘</a:t>
            </a:r>
          </a:p>
        </p:txBody>
      </p:sp>
      <p:sp>
        <p:nvSpPr>
          <p:cNvPr id="100310" name="Dropped"/>
          <p:cNvSpPr txBox="1"/>
          <p:nvPr/>
        </p:nvSpPr>
        <p:spPr>
          <a:xfrm>
            <a:off x="457200" y="6336000"/>
            <a:ext cx="1127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E08080"/>
                </a:solidFill>
                <a:latin typeface="Malgun Gothic"/>
                <a:ea typeface="Malgun Gothic"/>
              </a:rPr>
              <a:t>버려진 신호 — 갱신형 · 경과 기간 · 병력 · 결혼 단독 · 보유수×납입액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108" name="차트 100107"/>
          <p:cNvGraphicFramePr/>
          <p:nvPr/>
        </p:nvGraphicFramePr>
        <p:xfrm>
          <a:off x="457200" y="1656000"/>
          <a:ext cx="7020000" cy="45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11" name="InsightCard"/>
          <p:cNvSpPr/>
          <p:nvPr/>
        </p:nvSpPr>
        <p:spPr>
          <a:xfrm>
            <a:off x="7776000" y="1296000"/>
            <a:ext cx="3960000" cy="48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1" name="CmpHead"/>
          <p:cNvSpPr txBox="1"/>
          <p:nvPr/>
        </p:nvSpPr>
        <p:spPr>
          <a:xfrm>
            <a:off x="7956000" y="1422000"/>
            <a:ext cx="360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같은 1,000명 — 누구를 고르느냐</a:t>
            </a:r>
          </a:p>
        </p:txBody>
      </p:sp>
      <p:sp>
        <p:nvSpPr>
          <p:cNvPr id="100412" name="Bar82"/>
          <p:cNvSpPr/>
          <p:nvPr/>
        </p:nvSpPr>
        <p:spPr>
          <a:xfrm>
            <a:off x="8010000" y="2016000"/>
            <a:ext cx="1548000" cy="262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3" name="Bar82N"/>
          <p:cNvSpPr txBox="1"/>
          <p:nvPr/>
        </p:nvSpPr>
        <p:spPr>
          <a:xfrm>
            <a:off x="8010000" y="2106000"/>
            <a:ext cx="1548000" cy="46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400" b="1">
                <a:solidFill>
                  <a:srgbClr val="1C1F26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414" name="Lab82"/>
          <p:cNvSpPr txBox="1"/>
          <p:nvPr/>
        </p:nvSpPr>
        <p:spPr>
          <a:xfrm>
            <a:off x="7884000" y="171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모델이 고른 1,000명</a:t>
            </a:r>
          </a:p>
        </p:txBody>
      </p:sp>
      <p:sp>
        <p:nvSpPr>
          <p:cNvPr id="100415" name="Sub82"/>
          <p:cNvSpPr txBox="1"/>
          <p:nvPr/>
        </p:nvSpPr>
        <p:spPr>
          <a:xfrm>
            <a:off x="7884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 b="1">
                <a:solidFill>
                  <a:srgbClr val="E8B44C"/>
                </a:solidFill>
                <a:latin typeface="Malgun Gothic"/>
                <a:ea typeface="Malgun Gothic"/>
              </a:rPr>
              <a:t>실제 가입 8.2%</a:t>
            </a:r>
          </a:p>
        </p:txBody>
      </p:sp>
      <p:sp>
        <p:nvSpPr>
          <p:cNvPr id="100416" name="Bar29"/>
          <p:cNvSpPr/>
          <p:nvPr/>
        </p:nvSpPr>
        <p:spPr>
          <a:xfrm>
            <a:off x="9918000" y="3708000"/>
            <a:ext cx="1548000" cy="936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7" name="Bar29N"/>
          <p:cNvSpPr txBox="1"/>
          <p:nvPr/>
        </p:nvSpPr>
        <p:spPr>
          <a:xfrm>
            <a:off x="9918000" y="3744000"/>
            <a:ext cx="1548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 b="1">
                <a:solidFill>
                  <a:srgbClr val="1C1F26"/>
                </a:solidFill>
                <a:latin typeface="Malgun Gothic"/>
                <a:ea typeface="Malgun Gothic"/>
              </a:rPr>
              <a:t>29명</a:t>
            </a:r>
          </a:p>
        </p:txBody>
      </p:sp>
      <p:sp>
        <p:nvSpPr>
          <p:cNvPr id="100418" name="Lab29"/>
          <p:cNvSpPr txBox="1"/>
          <p:nvPr/>
        </p:nvSpPr>
        <p:spPr>
          <a:xfrm>
            <a:off x="9792000" y="3366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무작위 1,000명</a:t>
            </a:r>
          </a:p>
        </p:txBody>
      </p:sp>
      <p:sp>
        <p:nvSpPr>
          <p:cNvPr id="100419" name="Sub29"/>
          <p:cNvSpPr txBox="1"/>
          <p:nvPr/>
        </p:nvSpPr>
        <p:spPr>
          <a:xfrm>
            <a:off x="9792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실제 가입 2.9%</a:t>
            </a:r>
          </a:p>
        </p:txBody>
      </p:sp>
      <p:sp>
        <p:nvSpPr>
          <p:cNvPr id="100420" name="BaseLine"/>
          <p:cNvSpPr/>
          <p:nvPr/>
        </p:nvSpPr>
        <p:spPr>
          <a:xfrm>
            <a:off x="7956000" y="4644000"/>
            <a:ext cx="3510000" cy="18000"/>
          </a:xfrm>
          <a:prstGeom prst="rect">
            <a:avLst/>
          </a:prstGeom>
          <a:solidFill>
            <a:srgbClr val="A9B1D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0421" name="Connector 1"/>
          <p:cNvCxnSpPr>
            <a:stCxn id="100412" idx="0"/>
            <a:endCxn id="100416" idx="0"/>
          </p:cNvCxnSpPr>
          <p:nvPr/>
        </p:nvCxnSpPr>
        <p:spPr>
          <a:xfrm>
            <a:off x="9558000" y="3330000"/>
            <a:ext cx="360000" cy="846000"/>
          </a:xfrm>
          <a:prstGeom prst="straightConnector1">
            <a:avLst/>
          </a:prstGeom>
          <a:ln w="12700">
            <a:solidFill>
              <a:srgbClr val="E8B44C"/>
            </a:solidFill>
            <a:tailEnd type="triangle"/>
          </a:ln>
        </p:spPr>
      </p:cxnSp>
      <p:sp>
        <p:nvSpPr>
          <p:cNvPr id="100422" name="Mult"/>
          <p:cNvSpPr txBox="1"/>
          <p:nvPr/>
        </p:nvSpPr>
        <p:spPr>
          <a:xfrm>
            <a:off x="9468000" y="2880000"/>
            <a:ext cx="11520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F3F4F6"/>
                </a:solidFill>
                <a:latin typeface="Malgun Gothic"/>
                <a:ea typeface="Malgun Gothic"/>
              </a:rPr>
              <a:t>2.8배</a:t>
            </a:r>
          </a:p>
        </p:txBody>
      </p:sp>
      <p:sp>
        <p:nvSpPr>
          <p:cNvPr id="100423" name="CmpFoot"/>
          <p:cNvSpPr txBox="1"/>
          <p:nvPr/>
        </p:nvSpPr>
        <p:spPr>
          <a:xfrm>
            <a:off x="7956000" y="5076000"/>
            <a:ext cx="3600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+53명 = 증분 (실측)</a:t>
            </a:r>
          </a:p>
        </p:txBody>
      </p:sp>
      <p:sp>
        <p:nvSpPr>
          <p:cNvPr id="1004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네 모델의 경주 — 판정선 통과</a:t>
            </a:r>
          </a:p>
        </p:txBody>
      </p:sp>
      <p:sp>
        <p:nvSpPr>
          <p:cNvPr id="100427" name="ChartCap"/>
          <p:cNvSpPr txBox="1"/>
          <p:nvPr/>
        </p:nvSpPr>
        <p:spPr>
          <a:xfrm>
            <a:off x="457200" y="1422000"/>
            <a:ext cx="702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(%) — 같은 시험 · 반복 20회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9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30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31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왜 로지스틱인가 — 세 가지 이유</a:t>
            </a:r>
          </a:p>
        </p:txBody>
      </p:sp>
      <p:sp>
        <p:nvSpPr>
          <p:cNvPr id="100432" name="RaceH"/>
          <p:cNvSpPr txBox="1"/>
          <p:nvPr/>
        </p:nvSpPr>
        <p:spPr>
          <a:xfrm>
            <a:off x="457200" y="144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점수는 근접했습니다 — 상위 1,000명 실제 가입률</a:t>
            </a:r>
          </a:p>
        </p:txBody>
      </p:sp>
      <p:sp>
        <p:nvSpPr>
          <p:cNvPr id="100433" name="R1L"/>
          <p:cNvSpPr txBox="1"/>
          <p:nvPr/>
        </p:nvSpPr>
        <p:spPr>
          <a:xfrm>
            <a:off x="457200" y="1656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더미 · 기준선</a:t>
            </a:r>
          </a:p>
        </p:txBody>
      </p:sp>
      <p:sp>
        <p:nvSpPr>
          <p:cNvPr id="100434" name="R1B"/>
          <p:cNvSpPr/>
          <p:nvPr/>
        </p:nvSpPr>
        <p:spPr>
          <a:xfrm>
            <a:off x="2124000" y="1699200"/>
            <a:ext cx="640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5" name="R1V"/>
          <p:cNvSpPr txBox="1"/>
          <p:nvPr/>
        </p:nvSpPr>
        <p:spPr>
          <a:xfrm>
            <a:off x="2826000" y="1656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436" name="R2L"/>
          <p:cNvSpPr txBox="1"/>
          <p:nvPr/>
        </p:nvSpPr>
        <p:spPr>
          <a:xfrm>
            <a:off x="457200" y="2070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 b="1">
                <a:solidFill>
                  <a:srgbClr val="E8B44C"/>
                </a:solidFill>
                <a:latin typeface="Malgun Gothic"/>
                <a:ea typeface="Malgun Gothic"/>
              </a:rPr>
              <a:t>로지스틱 ★ 확정</a:t>
            </a:r>
          </a:p>
        </p:txBody>
      </p:sp>
      <p:sp>
        <p:nvSpPr>
          <p:cNvPr id="100437" name="R2B"/>
          <p:cNvSpPr/>
          <p:nvPr/>
        </p:nvSpPr>
        <p:spPr>
          <a:xfrm>
            <a:off x="2124000" y="2113200"/>
            <a:ext cx="1807200" cy="19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8" name="R2V"/>
          <p:cNvSpPr txBox="1"/>
          <p:nvPr/>
        </p:nvSpPr>
        <p:spPr>
          <a:xfrm>
            <a:off x="3996000" y="2070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439" name="R3L"/>
          <p:cNvSpPr txBox="1"/>
          <p:nvPr/>
        </p:nvSpPr>
        <p:spPr>
          <a:xfrm>
            <a:off x="457200" y="2484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LightGBM</a:t>
            </a:r>
          </a:p>
        </p:txBody>
      </p:sp>
      <p:sp>
        <p:nvSpPr>
          <p:cNvPr id="100440" name="R3B"/>
          <p:cNvSpPr/>
          <p:nvPr/>
        </p:nvSpPr>
        <p:spPr>
          <a:xfrm>
            <a:off x="2124000" y="2527200"/>
            <a:ext cx="19404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1" name="R3V"/>
          <p:cNvSpPr txBox="1"/>
          <p:nvPr/>
        </p:nvSpPr>
        <p:spPr>
          <a:xfrm>
            <a:off x="4140000" y="2484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8.8%</a:t>
            </a:r>
          </a:p>
        </p:txBody>
      </p:sp>
      <p:sp>
        <p:nvSpPr>
          <p:cNvPr id="100442" name="R4L"/>
          <p:cNvSpPr txBox="1"/>
          <p:nvPr/>
        </p:nvSpPr>
        <p:spPr>
          <a:xfrm>
            <a:off x="457200" y="2898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랜덤포레스트</a:t>
            </a:r>
          </a:p>
        </p:txBody>
      </p:sp>
      <p:sp>
        <p:nvSpPr>
          <p:cNvPr id="100443" name="R4B"/>
          <p:cNvSpPr/>
          <p:nvPr/>
        </p:nvSpPr>
        <p:spPr>
          <a:xfrm>
            <a:off x="2124000" y="2941200"/>
            <a:ext cx="21600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4" name="R4V"/>
          <p:cNvSpPr txBox="1"/>
          <p:nvPr/>
        </p:nvSpPr>
        <p:spPr>
          <a:xfrm>
            <a:off x="4356000" y="2898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9.8%</a:t>
            </a:r>
          </a:p>
        </p:txBody>
      </p:sp>
      <p:sp>
        <p:nvSpPr>
          <p:cNvPr id="100445" name="R5L"/>
          <p:cNvSpPr txBox="1"/>
          <p:nvPr/>
        </p:nvSpPr>
        <p:spPr>
          <a:xfrm>
            <a:off x="457200" y="3312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RF튜닝</a:t>
            </a:r>
          </a:p>
        </p:txBody>
      </p:sp>
      <p:sp>
        <p:nvSpPr>
          <p:cNvPr id="100446" name="R5B"/>
          <p:cNvSpPr/>
          <p:nvPr/>
        </p:nvSpPr>
        <p:spPr>
          <a:xfrm>
            <a:off x="2124000" y="3355200"/>
            <a:ext cx="1828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7" name="R5V"/>
          <p:cNvSpPr txBox="1"/>
          <p:nvPr/>
        </p:nvSpPr>
        <p:spPr>
          <a:xfrm>
            <a:off x="4032000" y="3312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8.3%</a:t>
            </a:r>
          </a:p>
        </p:txBody>
      </p:sp>
      <p:sp>
        <p:nvSpPr>
          <p:cNvPr id="100448" name="RaceCap"/>
          <p:cNvSpPr txBox="1"/>
          <p:nvPr/>
        </p:nvSpPr>
        <p:spPr>
          <a:xfrm>
            <a:off x="457200" y="378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RF 12가지 설정 튜닝 → 8.3%: 9.8%는 상한일 뿐</a:t>
            </a:r>
          </a:p>
        </p:txBody>
      </p:sp>
      <p:sp>
        <p:nvSpPr>
          <p:cNvPr id="100449" name="RaceFoot"/>
          <p:cNvSpPr txBox="1"/>
          <p:nvPr/>
        </p:nvSpPr>
        <p:spPr>
          <a:xfrm>
            <a:off x="457200" y="4176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로지스틱 8.2%는 이 상한 안의 운 범위</a:t>
            </a:r>
          </a:p>
        </p:txBody>
      </p:sp>
      <p:sp>
        <p:nvSpPr>
          <p:cNvPr id="100450" name="Why1"/>
          <p:cNvSpPr/>
          <p:nvPr/>
        </p:nvSpPr>
        <p:spPr>
          <a:xfrm>
            <a:off x="6192000" y="1440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1" name="Why1H"/>
          <p:cNvSpPr txBox="1"/>
          <p:nvPr/>
        </p:nvSpPr>
        <p:spPr>
          <a:xfrm>
            <a:off x="6336000" y="1566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① 차이는 운 범위</a:t>
            </a:r>
          </a:p>
        </p:txBody>
      </p:sp>
      <p:sp>
        <p:nvSpPr>
          <p:cNvPr id="100452" name="Why1B"/>
          <p:cNvSpPr txBox="1"/>
          <p:nvPr/>
        </p:nvSpPr>
        <p:spPr>
          <a:xfrm>
            <a:off x="6336000" y="1926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같은 조건으로 20번 겨룸 — 13승 7패, 평균 차이 +0.10%p±0.60. 동전 던지면 뒤집히는 크기입니다.</a:t>
            </a:r>
          </a:p>
        </p:txBody>
      </p:sp>
      <p:sp>
        <p:nvSpPr>
          <p:cNvPr id="100453" name="Why2"/>
          <p:cNvSpPr/>
          <p:nvPr/>
        </p:nvSpPr>
        <p:spPr>
          <a:xfrm>
            <a:off x="6192000" y="2664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4" name="Why2H"/>
          <p:cNvSpPr txBox="1"/>
          <p:nvPr/>
        </p:nvSpPr>
        <p:spPr>
          <a:xfrm>
            <a:off x="6336000" y="2790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② RF는 설정에 흔들린다</a:t>
            </a:r>
          </a:p>
        </p:txBody>
      </p:sp>
      <p:sp>
        <p:nvSpPr>
          <p:cNvPr id="100455" name="Why2B"/>
          <p:cNvSpPr txBox="1"/>
          <p:nvPr/>
        </p:nvSpPr>
        <p:spPr>
          <a:xfrm>
            <a:off x="6336000" y="315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설정 12가지 튜닝 → 오히려 8.3% 하락. 과하게 자란 트리는 AUC 0.65대로 급락(과적합) — 결과가 출렁입니다.</a:t>
            </a:r>
          </a:p>
        </p:txBody>
      </p:sp>
      <p:sp>
        <p:nvSpPr>
          <p:cNvPr id="100456" name="Why3"/>
          <p:cNvSpPr/>
          <p:nvPr/>
        </p:nvSpPr>
        <p:spPr>
          <a:xfrm>
            <a:off x="6192000" y="3888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7" name="Why3H"/>
          <p:cNvSpPr txBox="1"/>
          <p:nvPr/>
        </p:nvSpPr>
        <p:spPr>
          <a:xfrm>
            <a:off x="6336000" y="4014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③ 로지스틱은 이유를 말한다</a:t>
            </a:r>
          </a:p>
        </p:txBody>
      </p:sp>
      <p:sp>
        <p:nvSpPr>
          <p:cNvPr id="100458" name="Why3B"/>
          <p:cNvSpPr txBox="1"/>
          <p:nvPr/>
        </p:nvSpPr>
        <p:spPr>
          <a:xfrm>
            <a:off x="6336000" y="4374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계수로 '이 고객은 왜?'에 답합니다 — 특약 +0.84가 1등. RF도 특약을 1등으로 뽑아 같은 신호입니다.</a:t>
            </a:r>
          </a:p>
        </p:txBody>
      </p:sp>
      <p:sp>
        <p:nvSpPr>
          <p:cNvPr id="100459" name="SameBand"/>
          <p:cNvSpPr/>
          <p:nvPr/>
        </p:nvSpPr>
        <p:spPr>
          <a:xfrm>
            <a:off x="6192000" y="5112000"/>
            <a:ext cx="5544000" cy="720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운용안 동일 — 티어 9.7 / 8.2 / 6.7% 변동 없음 · 바꿔서 얻는 것 없음</a:t>
            </a:r>
          </a:p>
        </p:txBody>
      </p:sp>
    </p:spTree>
  </p:cSld>
  <p:clrMapOvr>
    <a:masterClrMapping/>
  </p:clrMapOvr>
</p:sld>
</file>

<file path=ppt/slides/slide9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1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31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31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이 모델을 믿을 수 있는가 — 세 가지 확인</a:t>
            </a:r>
          </a:p>
        </p:txBody>
      </p:sp>
      <p:graphicFrame>
        <p:nvGraphicFramePr>
          <p:cNvPr id="100320" name="가입 방향(+) · 미가입 방향(−) — 반복 20회 평균"/>
          <p:cNvGraphicFramePr/>
          <p:nvPr/>
        </p:nvGraphicFramePr>
        <p:xfrm>
          <a:off x="457200" y="1512000"/>
          <a:ext cx="6840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0428" name="보정 곡선 — 확률 등급별 실제 가입률(%)"/>
          <p:cNvGraphicFramePr/>
          <p:nvPr/>
        </p:nvGraphicFramePr>
        <p:xfrm>
          <a:off x="7560000" y="1512000"/>
          <a:ext cx="4176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460" name="Chk1"/>
          <p:cNvSpPr/>
          <p:nvPr/>
        </p:nvSpPr>
        <p:spPr>
          <a:xfrm>
            <a:off x="4860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① 계단 일치 — 등급 = 실제 빈도</a:t>
            </a:r>
          </a:p>
        </p:txBody>
      </p:sp>
      <p:sp>
        <p:nvSpPr>
          <p:cNvPr id="100461" name="Chk2"/>
          <p:cNvSpPr/>
          <p:nvPr/>
        </p:nvSpPr>
        <p:spPr>
          <a:xfrm>
            <a:off x="43164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② 소거 실험 — 특약 빼면 8.15→7.24%</a:t>
            </a:r>
          </a:p>
        </p:txBody>
      </p:sp>
      <p:sp>
        <p:nvSpPr>
          <p:cNvPr id="100462" name="Chk3"/>
          <p:cNvSpPr/>
          <p:nvPr/>
        </p:nvSpPr>
        <p:spPr>
          <a:xfrm>
            <a:off x="81468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③ 재실행 검증 — PASS (2026-10-18)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</a:t>
            </a:r>
          </a:p>
        </p:txBody>
      </p:sp>
      <p:sp>
        <p:nvSpPr>
          <p:cNvPr id="1003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잘 가입한 고객의 얼굴</a:t>
            </a:r>
          </a:p>
        </p:txBody>
      </p:sp>
      <p:sp>
        <p:nvSpPr>
          <p:cNvPr id="100327" name="FaceCard"/>
          <p:cNvSpPr/>
          <p:nvPr/>
        </p:nvSpPr>
        <p:spPr>
          <a:xfrm>
            <a:off x="457200" y="1440000"/>
            <a:ext cx="11278800" cy="158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28" name="FaceMain"/>
          <p:cNvSpPr txBox="1"/>
          <p:nvPr/>
        </p:nvSpPr>
        <p:spPr>
          <a:xfrm>
            <a:off x="648000" y="1620000"/>
            <a:ext cx="109080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'반복 구매 · 특약 보유 · 기혼 중년 · 중간 소득'</a:t>
            </a:r>
          </a:p>
        </p:txBody>
      </p:sp>
      <p:sp>
        <p:nvSpPr>
          <p:cNvPr id="100329" name="FaceSub"/>
          <p:cNvSpPr txBox="1"/>
          <p:nvPr/>
        </p:nvSpPr>
        <p:spPr>
          <a:xfrm>
            <a:off x="648000" y="2376000"/>
            <a:ext cx="109080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고소득 · 고신용 · 오래된 고객이 아니었습니다 — 초기 가설은 전부 반박됐습니다</a:t>
            </a:r>
          </a:p>
        </p:txBody>
      </p:sp>
      <p:sp>
        <p:nvSpPr>
          <p:cNvPr id="100330" name="N1"/>
          <p:cNvSpPr/>
          <p:nvPr/>
        </p:nvSpPr>
        <p:spPr>
          <a:xfrm>
            <a:off x="4860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1" name="N1N"/>
          <p:cNvSpPr txBox="1"/>
          <p:nvPr/>
        </p:nvSpPr>
        <p:spPr>
          <a:xfrm>
            <a:off x="4860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4.1배</a:t>
            </a:r>
          </a:p>
        </p:txBody>
      </p:sp>
      <p:sp>
        <p:nvSpPr>
          <p:cNvPr id="100332" name="N1S"/>
          <p:cNvSpPr txBox="1"/>
          <p:nvPr/>
        </p:nvSpPr>
        <p:spPr>
          <a:xfrm>
            <a:off x="6300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보유수 2개 이상 — 11.6% vs 2.8%</a:t>
            </a:r>
          </a:p>
        </p:txBody>
      </p:sp>
      <p:sp>
        <p:nvSpPr>
          <p:cNvPr id="100333" name="N2"/>
          <p:cNvSpPr/>
          <p:nvPr/>
        </p:nvSpPr>
        <p:spPr>
          <a:xfrm>
            <a:off x="43164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4" name="N2N"/>
          <p:cNvSpPr txBox="1"/>
          <p:nvPr/>
        </p:nvSpPr>
        <p:spPr>
          <a:xfrm>
            <a:off x="43164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6.9배</a:t>
            </a:r>
          </a:p>
        </p:txBody>
      </p:sp>
      <p:sp>
        <p:nvSpPr>
          <p:cNvPr id="100335" name="N2S"/>
          <p:cNvSpPr txBox="1"/>
          <p:nvPr/>
        </p:nvSpPr>
        <p:spPr>
          <a:xfrm>
            <a:off x="44604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특약 보유 — 주력 계열 통제 후</a:t>
            </a:r>
          </a:p>
        </p:txBody>
      </p:sp>
      <p:sp>
        <p:nvSpPr>
          <p:cNvPr id="100336" name="N3"/>
          <p:cNvSpPr/>
          <p:nvPr/>
        </p:nvSpPr>
        <p:spPr>
          <a:xfrm>
            <a:off x="81468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7" name="N3N"/>
          <p:cNvSpPr txBox="1"/>
          <p:nvPr/>
        </p:nvSpPr>
        <p:spPr>
          <a:xfrm>
            <a:off x="81468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4.8배</a:t>
            </a:r>
          </a:p>
        </p:txBody>
      </p:sp>
      <p:sp>
        <p:nvSpPr>
          <p:cNvPr id="100338" name="N3S"/>
          <p:cNvSpPr txBox="1"/>
          <p:nvPr/>
        </p:nvSpPr>
        <p:spPr>
          <a:xfrm>
            <a:off x="82908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지역 — 경기 3.8% vs 대구 0.8%</a:t>
            </a:r>
          </a:p>
        </p:txBody>
      </p:sp>
      <p:sp>
        <p:nvSpPr>
          <p:cNvPr id="100339" name="Takeaway"/>
          <p:cNvSpPr txBox="1"/>
          <p:nvPr/>
        </p:nvSpPr>
        <p:spPr>
          <a:xfrm>
            <a:off x="457200" y="554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예측 기여 1위 특약 · 2위 보유수 — 고객의 '등급'이 아니라 행동과 상품 구성이 가입을 갈랐습니다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40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41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 — 상담 운용안</a:t>
            </a:r>
          </a:p>
        </p:txBody>
      </p:sp>
      <p:sp>
        <p:nvSpPr>
          <p:cNvPr id="100342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티어 3단 — 상담 배치와 제안</a:t>
            </a:r>
          </a:p>
        </p:txBody>
      </p:sp>
      <p:sp>
        <p:nvSpPr>
          <p:cNvPr id="100343" name="TierA"/>
          <p:cNvSpPr/>
          <p:nvPr/>
        </p:nvSpPr>
        <p:spPr>
          <a:xfrm>
            <a:off x="4860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4" name="TierAH"/>
          <p:cNvSpPr txBox="1"/>
          <p:nvPr/>
        </p:nvSpPr>
        <p:spPr>
          <a:xfrm>
            <a:off x="6300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A — 최우선</a:t>
            </a:r>
          </a:p>
        </p:txBody>
      </p:sp>
      <p:sp>
        <p:nvSpPr>
          <p:cNvPr id="100345" name="TierAN"/>
          <p:cNvSpPr txBox="1"/>
          <p:nvPr/>
        </p:nvSpPr>
        <p:spPr>
          <a:xfrm>
            <a:off x="6300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9.7%</a:t>
            </a:r>
          </a:p>
        </p:txBody>
      </p:sp>
      <p:sp>
        <p:nvSpPr>
          <p:cNvPr id="100346" name="TierAD"/>
          <p:cNvSpPr txBox="1"/>
          <p:nvPr/>
        </p:nvSpPr>
        <p:spPr>
          <a:xfrm>
            <a:off x="6300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~500명 · 3.3배 · 숙련 상담사</a:t>
            </a:r>
          </a:p>
        </p:txBody>
      </p:sp>
      <p:sp>
        <p:nvSpPr>
          <p:cNvPr id="100347" name="TierB"/>
          <p:cNvSpPr/>
          <p:nvPr/>
        </p:nvSpPr>
        <p:spPr>
          <a:xfrm>
            <a:off x="43164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8" name="TierBH"/>
          <p:cNvSpPr txBox="1"/>
          <p:nvPr/>
        </p:nvSpPr>
        <p:spPr>
          <a:xfrm>
            <a:off x="44604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B — 1차 확장</a:t>
            </a:r>
          </a:p>
        </p:txBody>
      </p:sp>
      <p:sp>
        <p:nvSpPr>
          <p:cNvPr id="100349" name="TierBN"/>
          <p:cNvSpPr txBox="1"/>
          <p:nvPr/>
        </p:nvSpPr>
        <p:spPr>
          <a:xfrm>
            <a:off x="44604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50" name="TierBD"/>
          <p:cNvSpPr txBox="1"/>
          <p:nvPr/>
        </p:nvSpPr>
        <p:spPr>
          <a:xfrm>
            <a:off x="44604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~1,000명 · 2.8배 · 약 82명</a:t>
            </a:r>
          </a:p>
        </p:txBody>
      </p:sp>
      <p:sp>
        <p:nvSpPr>
          <p:cNvPr id="100351" name="TierC"/>
          <p:cNvSpPr/>
          <p:nvPr/>
        </p:nvSpPr>
        <p:spPr>
          <a:xfrm>
            <a:off x="81468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52" name="TierCH"/>
          <p:cNvSpPr txBox="1"/>
          <p:nvPr/>
        </p:nvSpPr>
        <p:spPr>
          <a:xfrm>
            <a:off x="82908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C — 2차 확장</a:t>
            </a:r>
          </a:p>
        </p:txBody>
      </p:sp>
      <p:sp>
        <p:nvSpPr>
          <p:cNvPr id="100353" name="TierCN"/>
          <p:cNvSpPr txBox="1"/>
          <p:nvPr/>
        </p:nvSpPr>
        <p:spPr>
          <a:xfrm>
            <a:off x="82908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6.7%</a:t>
            </a:r>
          </a:p>
        </p:txBody>
      </p:sp>
      <p:sp>
        <p:nvSpPr>
          <p:cNvPr id="100354" name="TierCD"/>
          <p:cNvSpPr txBox="1"/>
          <p:nvPr/>
        </p:nvSpPr>
        <p:spPr>
          <a:xfrm>
            <a:off x="82908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~2,000명 · 2.3배 · 문자·푸시</a:t>
            </a:r>
          </a:p>
        </p:txBody>
      </p:sp>
      <p:sp>
        <p:nvSpPr>
          <p:cNvPr id="100355" name="Exc"/>
          <p:cNvSpPr/>
          <p:nvPr/>
        </p:nvSpPr>
        <p:spPr>
          <a:xfrm>
            <a:off x="457200" y="396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예외 — 20대 기혼 · 대구·대전·인천 · 신용 300점대 → 후순위 (충돌 시 신용 → 지역 → 20대 순)</a:t>
            </a:r>
          </a:p>
        </p:txBody>
      </p:sp>
      <p:sp>
        <p:nvSpPr>
          <p:cNvPr id="100356" name="Prod"/>
          <p:cNvSpPr/>
          <p:nvPr/>
        </p:nvSpPr>
        <p:spPr>
          <a:xfrm>
            <a:off x="457200" y="504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Malgun Gothic"/>
                <a:ea typeface="Malgun Gothic"/>
              </a:rPr>
              <a:t>제안 — 같은 계열 보강부터 (2025 신규의 90% · 보유자 87%가 M케어 계열)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38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6 · 향후 활용 계획</a:t>
            </a:r>
          </a:p>
        </p:txBody>
      </p:sp>
      <p:sp>
        <p:nvSpPr>
          <p:cNvPr id="10038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월간 운용과 파일럿 A/B</a:t>
            </a:r>
          </a:p>
        </p:txBody>
      </p:sp>
      <p:sp>
        <p:nvSpPr>
          <p:cNvPr id="100389" name="M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01 스코어 갱신</a:t>
            </a:r>
          </a:p>
        </p:txBody>
      </p:sp>
      <p:sp>
        <p:nvSpPr>
          <p:cNvPr id="100390" name="M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매월 1일 · 13개 피처</a:t>
            </a:r>
          </a:p>
        </p:txBody>
      </p:sp>
      <p:sp>
        <p:nvSpPr>
          <p:cNvPr id="100391" name="M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02 티어 배정</a:t>
            </a:r>
          </a:p>
        </p:txBody>
      </p:sp>
      <p:sp>
        <p:nvSpPr>
          <p:cNvPr id="100392" name="M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예외 3개로 재조정</a:t>
            </a:r>
          </a:p>
        </p:txBody>
      </p:sp>
      <p:sp>
        <p:nvSpPr>
          <p:cNvPr id="100393" name="M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03 상담 실행·기록</a:t>
            </a:r>
          </a:p>
        </p:txBody>
      </p:sp>
      <p:sp>
        <p:nvSpPr>
          <p:cNvPr id="100394" name="M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다음 달 검증 데이터 축적</a:t>
            </a:r>
          </a:p>
        </p:txBody>
      </p:sp>
      <p:sp>
        <p:nvSpPr>
          <p:cNvPr id="100395" name="M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04 월간 대조</a:t>
            </a:r>
          </a:p>
        </p:txBody>
      </p:sp>
      <p:sp>
        <p:nvSpPr>
          <p:cNvPr id="100396" name="M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A 하회 시 재점검 신호</a:t>
            </a:r>
          </a:p>
        </p:txBody>
      </p:sp>
      <p:cxnSp>
        <p:nvCxnSpPr>
          <p:cNvPr id="100397" name="Connector 1"/>
          <p:cNvCxnSpPr>
            <a:stCxn id="100389" idx="0"/>
            <a:endCxn id="100391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8" name="Connector 2"/>
          <p:cNvCxnSpPr>
            <a:stCxn id="100391" idx="0"/>
            <a:endCxn id="100393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9" name="Connector 3"/>
          <p:cNvCxnSpPr>
            <a:stCxn id="100393" idx="0"/>
            <a:endCxn id="100395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0" name="ABCard"/>
          <p:cNvSpPr/>
          <p:nvPr/>
        </p:nvSpPr>
        <p:spPr>
          <a:xfrm>
            <a:off x="457200" y="3528000"/>
            <a:ext cx="11278800" cy="194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01" name="ABH"/>
          <p:cNvSpPr txBox="1"/>
          <p:nvPr/>
        </p:nvSpPr>
        <p:spPr>
          <a:xfrm>
            <a:off x="612000" y="3672000"/>
            <a:ext cx="10944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E8B44C"/>
                </a:solidFill>
                <a:latin typeface="Malgun Gothic"/>
                <a:ea typeface="Malgun Gothic"/>
              </a:rPr>
              <a:t>파일럿 A/B — 상담의 실제 효과를 증명</a:t>
            </a:r>
          </a:p>
        </p:txBody>
      </p:sp>
      <p:sp>
        <p:nvSpPr>
          <p:cNvPr id="100402" name="ABB1"/>
          <p:cNvSpPr/>
          <p:nvPr/>
        </p:nvSpPr>
        <p:spPr>
          <a:xfrm>
            <a:off x="648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상위 1,000명</a:t>
            </a:r>
          </a:p>
        </p:txBody>
      </p:sp>
      <p:sp>
        <p:nvSpPr>
          <p:cNvPr id="100403" name="ABB2"/>
          <p:cNvSpPr/>
          <p:nvPr/>
        </p:nvSpPr>
        <p:spPr>
          <a:xfrm>
            <a:off x="4392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무작위 절반 — A 500 / B 500</a:t>
            </a:r>
          </a:p>
        </p:txBody>
      </p:sp>
      <p:sp>
        <p:nvSpPr>
          <p:cNvPr id="100404" name="ABB3"/>
          <p:cNvSpPr/>
          <p:nvPr/>
        </p:nvSpPr>
        <p:spPr>
          <a:xfrm>
            <a:off x="8136000" y="4140000"/>
            <a:ext cx="30960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algun Gothic"/>
                <a:ea typeface="Malgun Gothic"/>
              </a:rPr>
              <a:t>가입률 차이 = 효과</a:t>
            </a:r>
          </a:p>
        </p:txBody>
      </p:sp>
      <p:cxnSp>
        <p:nvCxnSpPr>
          <p:cNvPr id="100405" name="Connector 4"/>
          <p:cNvCxnSpPr>
            <a:stCxn id="100402" idx="0"/>
            <a:endCxn id="100403" idx="0"/>
          </p:cNvCxnSpPr>
          <p:nvPr/>
        </p:nvCxnSpPr>
        <p:spPr>
          <a:xfrm>
            <a:off x="3744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406" name="Connector 5"/>
          <p:cNvCxnSpPr>
            <a:stCxn id="100403" idx="0"/>
            <a:endCxn id="100404" idx="0"/>
          </p:cNvCxnSpPr>
          <p:nvPr/>
        </p:nvCxnSpPr>
        <p:spPr>
          <a:xfrm>
            <a:off x="7488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7" name="ABFoot"/>
          <p:cNvSpPr txBox="1"/>
          <p:nvPr/>
        </p:nvSpPr>
        <p:spPr>
          <a:xfrm>
            <a:off x="612000" y="5004000"/>
            <a:ext cx="109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전원 상담하면 비교 대상이 없어집니다 — 그래서 절반만 상담합니다</a:t>
            </a:r>
          </a:p>
        </p:txBody>
      </p:sp>
      <p:sp>
        <p:nvSpPr>
          <p:cNvPr id="100408" name="Kpi1"/>
          <p:cNvSpPr/>
          <p:nvPr/>
        </p:nvSpPr>
        <p:spPr>
          <a:xfrm>
            <a:off x="4860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명단 농도 8.2%±0.5</a:t>
            </a:r>
          </a:p>
        </p:txBody>
      </p:sp>
      <p:sp>
        <p:nvSpPr>
          <p:cNvPr id="100409" name="Kpi2"/>
          <p:cNvSpPr/>
          <p:nvPr/>
        </p:nvSpPr>
        <p:spPr>
          <a:xfrm>
            <a:off x="43164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상담 전환율 (축적 시작)</a:t>
            </a:r>
          </a:p>
        </p:txBody>
      </p:sp>
      <p:sp>
        <p:nvSpPr>
          <p:cNvPr id="100410" name="Kpi3"/>
          <p:cNvSpPr/>
          <p:nvPr/>
        </p:nvSpPr>
        <p:spPr>
          <a:xfrm>
            <a:off x="81468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대조군 대비 리프트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35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7 · 한계</a:t>
            </a:r>
          </a:p>
        </p:txBody>
      </p:sp>
      <p:sp>
        <p:nvSpPr>
          <p:cNvPr id="10035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한계 — 신뢰의 경계</a:t>
            </a:r>
          </a:p>
        </p:txBody>
      </p:sp>
      <p:sp>
        <p:nvSpPr>
          <p:cNvPr id="100360" name="Strap"/>
          <p:cNvSpPr/>
          <p:nvPr/>
        </p:nvSpPr>
        <p:spPr>
          <a:xfrm>
            <a:off x="457200" y="1512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Malgun Gothic"/>
                <a:ea typeface="Malgun Gothic"/>
              </a:rPr>
              <a:t>이 판정은 예측 성능의 판정이지, 상담의 실전 효과 증명이 아닙니다</a:t>
            </a:r>
          </a:p>
        </p:txBody>
      </p:sp>
      <p:sp>
        <p:nvSpPr>
          <p:cNvPr id="100361" name="L1"/>
          <p:cNvSpPr/>
          <p:nvPr/>
        </p:nvSpPr>
        <p:spPr>
          <a:xfrm>
            <a:off x="4860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① 속성 열 = 2025 스냅샷</a:t>
            </a:r>
          </a:p>
        </p:txBody>
      </p:sp>
      <p:sp>
        <p:nvSpPr>
          <p:cNvPr id="100362" name="L2"/>
          <p:cNvSpPr/>
          <p:nvPr/>
        </p:nvSpPr>
        <p:spPr>
          <a:xfrm>
            <a:off x="43164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② 지역 원인 불명 — 후순위 전용</a:t>
            </a:r>
          </a:p>
        </p:txBody>
      </p:sp>
      <p:sp>
        <p:nvSpPr>
          <p:cNvPr id="100363" name="L3"/>
          <p:cNvSpPr/>
          <p:nvPr/>
        </p:nvSpPr>
        <p:spPr>
          <a:xfrm>
            <a:off x="81468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③ 타겟 = '무엇이든 신규 가입'</a:t>
            </a:r>
          </a:p>
        </p:txBody>
      </p:sp>
      <p:sp>
        <p:nvSpPr>
          <p:cNvPr id="100364" name="L4"/>
          <p:cNvSpPr/>
          <p:nvPr/>
        </p:nvSpPr>
        <p:spPr>
          <a:xfrm>
            <a:off x="4860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④ 2024 코호트 외삽</a:t>
            </a:r>
          </a:p>
        </p:txBody>
      </p:sp>
      <p:sp>
        <p:nvSpPr>
          <p:cNvPr id="100365" name="L5"/>
          <p:cNvSpPr/>
          <p:nvPr/>
        </p:nvSpPr>
        <p:spPr>
          <a:xfrm>
            <a:off x="43164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⑤ 특약 메커니즘 = 가설 수준</a:t>
            </a:r>
          </a:p>
        </p:txBody>
      </p:sp>
      <p:sp>
        <p:nvSpPr>
          <p:cNvPr id="100366" name="L6"/>
          <p:cNvSpPr/>
          <p:nvPr/>
        </p:nvSpPr>
        <p:spPr>
          <a:xfrm>
            <a:off x="81468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⑥ 월 단위 부재 — 시즌성 불가</a:t>
            </a:r>
          </a:p>
        </p:txBody>
      </p:sp>
      <p:sp>
        <p:nvSpPr>
          <p:cNvPr id="100367" name="Foot"/>
          <p:cNvSpPr txBox="1"/>
          <p:nvPr/>
        </p:nvSpPr>
        <p:spPr>
          <a:xfrm>
            <a:off x="457200" y="576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전문은 리포트 7절 · 각 한계의 운용상 방어는 이미 운용안에 반영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37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8 · 결론</a:t>
            </a:r>
          </a:p>
        </p:txBody>
      </p:sp>
      <p:sp>
        <p:nvSpPr>
          <p:cNvPr id="10037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결론 — 한 문장, 세 숫자</a:t>
            </a:r>
          </a:p>
        </p:txBody>
      </p:sp>
      <p:sp>
        <p:nvSpPr>
          <p:cNvPr id="100377" name="Statement"/>
          <p:cNvSpPr txBox="1"/>
          <p:nvPr/>
        </p:nvSpPr>
        <p:spPr>
          <a:xfrm>
            <a:off x="457200" y="1512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200" b="1">
                <a:solidFill>
                  <a:srgbClr val="7FB2E8"/>
                </a:solidFill>
                <a:latin typeface="Malgun Gothic"/>
                <a:ea typeface="Malgun Gothic"/>
              </a:rPr>
              <a:t>신호가 겹치는 고객을 먼저 만난다</a:t>
            </a:r>
          </a:p>
        </p:txBody>
      </p:sp>
      <p:sp>
        <p:nvSpPr>
          <p:cNvPr id="100378" name="Qualify"/>
          <p:cNvSpPr txBox="1"/>
          <p:nvPr/>
        </p:nvSpPr>
        <p:spPr>
          <a:xfrm>
            <a:off x="457200" y="234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50">
                <a:solidFill>
                  <a:srgbClr val="A9B1D0"/>
                </a:solidFill>
                <a:latin typeface="Malgun Gothic"/>
                <a:ea typeface="Malgun Gothic"/>
              </a:rPr>
              <a:t>한계 여섯 개를 인정한 위에서도, 사전 합의된 판정 기준 안에서 이 결론은 유효합니다</a:t>
            </a:r>
          </a:p>
        </p:txBody>
      </p:sp>
      <p:sp>
        <p:nvSpPr>
          <p:cNvPr id="100379" name="K1"/>
          <p:cNvSpPr/>
          <p:nvPr/>
        </p:nvSpPr>
        <p:spPr>
          <a:xfrm>
            <a:off x="5400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0" name="K1N"/>
          <p:cNvSpPr txBox="1"/>
          <p:nvPr/>
        </p:nvSpPr>
        <p:spPr>
          <a:xfrm>
            <a:off x="5400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381" name="K2"/>
          <p:cNvSpPr/>
          <p:nvPr/>
        </p:nvSpPr>
        <p:spPr>
          <a:xfrm>
            <a:off x="43344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2" name="K2N"/>
          <p:cNvSpPr txBox="1"/>
          <p:nvPr/>
        </p:nvSpPr>
        <p:spPr>
          <a:xfrm>
            <a:off x="43344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83" name="K3"/>
          <p:cNvSpPr/>
          <p:nvPr/>
        </p:nvSpPr>
        <p:spPr>
          <a:xfrm>
            <a:off x="81288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4" name="K3N"/>
          <p:cNvSpPr txBox="1"/>
          <p:nvPr/>
        </p:nvSpPr>
        <p:spPr>
          <a:xfrm>
            <a:off x="81288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5EC98A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385" name="Closing"/>
          <p:cNvSpPr txBox="1"/>
          <p:nvPr/>
        </p:nvSpPr>
        <p:spPr>
          <a:xfrm>
            <a:off x="457200" y="5616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정답을 만들고, 검증하고, 운용으로 바꿨습니다 — 다음 달 1일, 명단이 갱신됩니다</a:t>
            </a:r>
          </a:p>
        </p:txBody>
      </p:sp>
      <p:sp>
        <p:nvSpPr>
          <p:cNvPr id="100368" name="K1S"/>
          <p:cNvSpPr txBox="1"/>
          <p:nvPr/>
        </p:nvSpPr>
        <p:spPr>
          <a:xfrm>
            <a:off x="6840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확정 모델 AUC — 판정 통과</a:t>
            </a:r>
          </a:p>
        </p:txBody>
      </p:sp>
      <p:sp>
        <p:nvSpPr>
          <p:cNvPr id="100369" name="K1T"/>
          <p:cNvSpPr txBox="1"/>
          <p:nvPr/>
        </p:nvSpPr>
        <p:spPr>
          <a:xfrm>
            <a:off x="6840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하한 7.1% &gt; 판정선 5.8%</a:t>
            </a:r>
          </a:p>
        </p:txBody>
      </p:sp>
      <p:sp>
        <p:nvSpPr>
          <p:cNvPr id="100370" name="K2S"/>
          <p:cNvSpPr txBox="1"/>
          <p:nvPr/>
        </p:nvSpPr>
        <p:spPr>
          <a:xfrm>
            <a:off x="44784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상위 1,000명 — 기준선 2.8배</a:t>
            </a:r>
          </a:p>
        </p:txBody>
      </p:sp>
      <p:sp>
        <p:nvSpPr>
          <p:cNvPr id="100371" name="K2T"/>
          <p:cNvSpPr txBox="1"/>
          <p:nvPr/>
        </p:nvSpPr>
        <p:spPr>
          <a:xfrm>
            <a:off x="44784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판정선 5.8% 통과</a:t>
            </a:r>
          </a:p>
        </p:txBody>
      </p:sp>
      <p:sp>
        <p:nvSpPr>
          <p:cNvPr id="100372" name="K3S"/>
          <p:cNvSpPr txBox="1"/>
          <p:nvPr/>
        </p:nvSpPr>
        <p:spPr>
          <a:xfrm>
            <a:off x="82728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실제 가입자 — +53명</a:t>
            </a:r>
          </a:p>
        </p:txBody>
      </p:sp>
      <p:sp>
        <p:nvSpPr>
          <p:cNvPr id="100373" name="K3T"/>
          <p:cNvSpPr txBox="1"/>
          <p:nvPr/>
        </p:nvSpPr>
        <p:spPr>
          <a:xfrm>
            <a:off x="82728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무작위 29명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1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12" name="Kicker"/>
          <p:cNvSpPr txBox="1"/>
          <p:nvPr/>
        </p:nvSpPr>
        <p:spPr>
          <a:xfrm>
            <a:off x="936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9 · 데이터 출처 · 재현 경로</a:t>
            </a:r>
          </a:p>
        </p:txBody>
      </p:sp>
      <p:sp>
        <p:nvSpPr>
          <p:cNvPr id="100213" name="Title"/>
          <p:cNvSpPr txBox="1"/>
          <p:nvPr/>
        </p:nvSpPr>
        <p:spPr>
          <a:xfrm>
            <a:off x="936000" y="522000"/>
            <a:ext cx="10620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사용한 데이터와 재현성</a:t>
            </a:r>
          </a:p>
        </p:txBody>
      </p:sp>
      <p:sp>
        <p:nvSpPr>
          <p:cNvPr id="100214" name="SrcCard"/>
          <p:cNvSpPr/>
          <p:nvPr/>
        </p:nvSpPr>
        <p:spPr>
          <a:xfrm>
            <a:off x="457200" y="1368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5" name="SrcH"/>
          <p:cNvSpPr txBox="1"/>
          <p:nvPr/>
        </p:nvSpPr>
        <p:spPr>
          <a:xfrm>
            <a:off x="612000" y="1512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216" name="SrcB"/>
          <p:cNvSpPr txBox="1"/>
          <p:nvPr/>
        </p:nvSpPr>
        <p:spPr>
          <a:xfrm>
            <a:off x="612000" y="1872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[데이터] 보험상품가입자의 보험유지 특성 분석(보험계약 등)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파일: Training/02.라벨링데이터/TL_2.소비자.zip — 385,019행 × 22열 (utf-8-sig)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사용 범위: 보험 거래 77,305건 · 고객 74,776명 (증권 거래는 본 프로젝트 대상 외)</a:t>
            </a:r>
          </a:p>
        </p:txBody>
      </p:sp>
      <p:sp>
        <p:nvSpPr>
          <p:cNvPr id="100217" name="RepCard"/>
          <p:cNvSpPr/>
          <p:nvPr/>
        </p:nvSpPr>
        <p:spPr>
          <a:xfrm>
            <a:off x="457200" y="3636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8" name="RepH"/>
          <p:cNvSpPr txBox="1"/>
          <p:nvPr/>
        </p:nvSpPr>
        <p:spPr>
          <a:xfrm>
            <a:off x="612000" y="3780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재현 경로 · 재실행 검증</a:t>
            </a:r>
          </a:p>
        </p:txBody>
      </p:sp>
      <p:sp>
        <p:nvSpPr>
          <p:cNvPr id="100219" name="RepB"/>
          <p:cNvSpPr txBox="1"/>
          <p:nvPr/>
        </p:nvSpPr>
        <p:spPr>
          <a:xfrm>
            <a:off x="612000" y="4140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스크립트: step1_verify → step2_eda → step3_hypothesis · model_v3 · model_compare · check_EF_strength → step4_next_three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재실행 검증 PASS (2026-10-18) — AUC 0.72±0.01 · 상위 1,000명 8.19% 재현 (본 자료 수치와 일치)</a:t>
            </a:r>
          </a:p>
        </p:txBody>
      </p:sp>
      <p:sp>
        <p:nvSpPr>
          <p:cNvPr id="100220" name="Foot"/>
          <p:cNvSpPr txBox="1"/>
          <p:nvPr/>
        </p:nvSpPr>
        <p:spPr>
          <a:xfrm>
            <a:off x="457200" y="5976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상세 근거 전문 — 제출 리포트(프로젝트1_최종발표자료.html) 및 EDA·모델링·인사이트 보고서 참조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1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22" name="Thanks"/>
          <p:cNvSpPr txBox="1"/>
          <p:nvPr/>
        </p:nvSpPr>
        <p:spPr>
          <a:xfrm>
            <a:off x="720000" y="2376000"/>
            <a:ext cx="107532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00223" name="Next"/>
          <p:cNvSpPr txBox="1"/>
          <p:nvPr/>
        </p:nvSpPr>
        <p:spPr>
          <a:xfrm>
            <a:off x="720000" y="3672000"/>
            <a:ext cx="107532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다음 달 1일, 명단이 갱신됩니다</a:t>
            </a:r>
          </a:p>
        </p:txBody>
      </p:sp>
      <p:sp>
        <p:nvSpPr>
          <p:cNvPr id="100224" name="Recap"/>
          <p:cNvSpPr txBox="1"/>
          <p:nvPr/>
        </p:nvSpPr>
        <p:spPr>
          <a:xfrm>
            <a:off x="720000" y="4320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반복 구매 · 특약 보유 · 기혼 중년 · 중간 소득 고객부터 먼저 만납니다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C1F26"/>
        </a:solidFill>
      </p:bgPr>
    </p:bg>
    <p:spTree>
      <p:nvGrpSpPr>
        <p:cNvPr id="1" name=""/>
        <p:cNvGrpSpPr/>
        <p:nvPr/>
      </p:nvGrpSpPr>
      <p:grpSpPr/>
      <p:sp>
        <p:nvSpPr>
          <p:cNvPr id="100463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4" name="Kicker"/>
          <p:cNvSpPr txBox="1"/>
          <p:nvPr/>
        </p:nvSpPr>
        <p:spPr>
          <a:xfrm>
            <a:off x="457200" y="1404000"/>
            <a:ext cx="112788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1차 프로젝트 · 최종 발표</a:t>
            </a:r>
          </a:p>
        </p:txBody>
      </p:sp>
      <p:sp>
        <p:nvSpPr>
          <p:cNvPr id="100465" name="CoverTitle"/>
          <p:cNvSpPr txBox="1"/>
          <p:nvPr/>
        </p:nvSpPr>
        <p:spPr>
          <a:xfrm>
            <a:off x="457200" y="1728000"/>
            <a:ext cx="11278800" cy="104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보장only 프로젝트</a:t>
            </a:r>
          </a:p>
        </p:txBody>
      </p:sp>
      <p:sp>
        <p:nvSpPr>
          <p:cNvPr id="100466" name="CoverSub"/>
          <p:cNvSpPr txBox="1"/>
          <p:nvPr/>
        </p:nvSpPr>
        <p:spPr>
          <a:xfrm>
            <a:off x="457200" y="2772000"/>
            <a:ext cx="11278800" cy="540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900">
                <a:solidFill>
                  <a:srgbClr val="B9C2D0"/>
                </a:solidFill>
                <a:latin typeface="Malgun Gothic"/>
                <a:ea typeface="Malgun Gothic"/>
              </a:rPr>
              <a:t>반복 구매 고객의 추가 가입을 예측합니다</a:t>
            </a:r>
          </a:p>
        </p:txBody>
      </p:sp>
      <p:sp>
        <p:nvSpPr>
          <p:cNvPr id="100467" name="Divider"/>
          <p:cNvSpPr/>
          <p:nvPr/>
        </p:nvSpPr>
        <p:spPr>
          <a:xfrm>
            <a:off x="5018400" y="3564000"/>
            <a:ext cx="2160000" cy="216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8" name="CardA"/>
          <p:cNvSpPr/>
          <p:nvPr/>
        </p:nvSpPr>
        <p:spPr>
          <a:xfrm>
            <a:off x="23400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69" name="CardAL"/>
          <p:cNvSpPr txBox="1"/>
          <p:nvPr/>
        </p:nvSpPr>
        <p:spPr>
          <a:xfrm>
            <a:off x="24840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70" name="CardAV"/>
          <p:cNvSpPr txBox="1"/>
          <p:nvPr/>
        </p:nvSpPr>
        <p:spPr>
          <a:xfrm>
            <a:off x="24840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금융</a:t>
            </a:r>
          </a:p>
        </p:txBody>
      </p:sp>
      <p:sp>
        <p:nvSpPr>
          <p:cNvPr id="100471" name="CardB"/>
          <p:cNvSpPr/>
          <p:nvPr/>
        </p:nvSpPr>
        <p:spPr>
          <a:xfrm>
            <a:off x="63252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472" name="CardBL"/>
          <p:cNvSpPr txBox="1"/>
          <p:nvPr/>
        </p:nvSpPr>
        <p:spPr>
          <a:xfrm>
            <a:off x="64692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이름</a:t>
            </a:r>
          </a:p>
        </p:txBody>
      </p:sp>
      <p:sp>
        <p:nvSpPr>
          <p:cNvPr id="100473" name="CardBV"/>
          <p:cNvSpPr txBox="1"/>
          <p:nvPr/>
        </p:nvSpPr>
        <p:spPr>
          <a:xfrm>
            <a:off x="64692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400" b="1">
                <a:solidFill>
                  <a:srgbClr val="E8B44C"/>
                </a:solidFill>
                <a:latin typeface="Malgun Gothic"/>
                <a:ea typeface="Malgun Gothic"/>
              </a:rPr>
              <a:t>ABA3_최대석</a:t>
            </a:r>
          </a:p>
        </p:txBody>
      </p:sp>
      <p:sp>
        <p:nvSpPr>
          <p:cNvPr id="100474" name="Date"/>
          <p:cNvSpPr txBox="1"/>
          <p:nvPr/>
        </p:nvSpPr>
        <p:spPr>
          <a:xfrm>
            <a:off x="457200" y="5796000"/>
            <a:ext cx="11278800" cy="288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00">
                <a:solidFill>
                  <a:srgbClr val="8A93A6"/>
                </a:solidFill>
                <a:latin typeface="Malgun Gothic"/>
                <a:ea typeface="Malgun Gothic"/>
              </a:rPr>
              <a:t>2026. 10. 27</a:t>
            </a: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C1F26"/>
        </a:solidFill>
      </p:bgPr>
    </p:bg>
    <p:spTree>
      <p:nvGrpSpPr>
        <p:cNvPr id="1" name=""/>
        <p:cNvGrpSpPr/>
        <p:nvPr/>
      </p:nvGrpSpPr>
      <p:grpSpPr/>
      <p:sp>
        <p:nvSpPr>
          <p:cNvPr id="100475" name="SecNum"/>
          <p:cNvSpPr/>
          <p:nvPr/>
        </p:nvSpPr>
        <p:spPr>
          <a:xfrm xmlns:a="http://schemas.openxmlformats.org/drawingml/2006/main">
            <a:off x="457200" y="457200"/>
            <a:ext cx="684000" cy="68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B2E8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476" name="Kicker"/>
          <p:cNvSpPr txBox="1"/>
          <p:nvPr/>
        </p:nvSpPr>
        <p:spPr>
          <a:xfrm xmlns:a="http://schemas.openxmlformats.org/drawingml/2006/main">
            <a:off x="1296000" y="540000"/>
            <a:ext cx="1008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산업과 데이터 · 발표 동기</a:t>
            </a:r>
          </a:p>
        </p:txBody>
      </p:sp>
      <p:sp>
        <p:nvSpPr>
          <p:cNvPr id="100477" name="Title"/>
          <p:cNvSpPr txBox="1"/>
          <p:nvPr/>
        </p:nvSpPr>
        <p:spPr>
          <a:xfrm xmlns:a="http://schemas.openxmlformats.org/drawingml/2006/main">
            <a:off x="1278000" y="900000"/>
            <a:ext cx="100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3F4F6"/>
                </a:solidFill>
                <a:latin typeface="Malgun Gothic"/>
                <a:ea typeface="Malgun Gothic"/>
              </a:rPr>
              <a:t>선택한 산업과 데이터 — 왜 이 문제인가</a:t>
            </a:r>
          </a:p>
        </p:txBody>
      </p:sp>
      <p:sp>
        <p:nvSpPr>
          <p:cNvPr id="100478" name="IndCard"/>
          <p:cNvSpPr/>
          <p:nvPr/>
        </p:nvSpPr>
        <p:spPr>
          <a:xfrm xmlns:a="http://schemas.openxmlformats.org/drawingml/2006/main">
            <a:off x="457200" y="1566000"/>
            <a:ext cx="55440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B303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79" name="IndL"/>
          <p:cNvSpPr txBox="1"/>
          <p:nvPr/>
        </p:nvSpPr>
        <p:spPr>
          <a:xfrm xmlns:a="http://schemas.openxmlformats.org/drawingml/2006/main">
            <a:off x="673200" y="1674000"/>
            <a:ext cx="5112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80" name="IndV"/>
          <p:cNvSpPr txBox="1"/>
          <p:nvPr/>
        </p:nvSpPr>
        <p:spPr>
          <a:xfrm xmlns:a="http://schemas.openxmlformats.org/drawingml/2006/main">
            <a:off x="673200" y="1998000"/>
            <a:ext cx="5112000" cy="50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7FB2E8"/>
                </a:solidFill>
                <a:latin typeface="Malgun Gothic"/>
                <a:ea typeface="Malgun Gothic"/>
              </a:rPr>
              <a:t>금융 — 보험</a:t>
            </a:r>
          </a:p>
        </p:txBody>
      </p:sp>
      <p:sp>
        <p:nvSpPr>
          <p:cNvPr id="100481" name="IndS"/>
          <p:cNvSpPr txBox="1"/>
          <p:nvPr/>
        </p:nvSpPr>
        <p:spPr>
          <a:xfrm xmlns:a="http://schemas.openxmlformats.org/drawingml/2006/main">
            <a:off x="673200" y="2520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보험상품가입자의 보험유지 특성 분석 (보험계약 등)</a:t>
            </a:r>
          </a:p>
        </p:txBody>
      </p:sp>
      <p:sp>
        <p:nvSpPr>
          <p:cNvPr id="100482" name="IndS2"/>
          <p:cNvSpPr txBox="1"/>
          <p:nvPr/>
        </p:nvSpPr>
        <p:spPr>
          <a:xfrm xmlns:a="http://schemas.openxmlformats.org/drawingml/2006/main">
            <a:off x="673200" y="2844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TL_2.소비자.zip — 거래 385,019행 × 22열 (utf-8-sig)</a:t>
            </a:r>
          </a:p>
        </p:txBody>
      </p:sp>
      <p:sp>
        <p:nvSpPr>
          <p:cNvPr id="100483" name="DataCard"/>
          <p:cNvSpPr/>
          <p:nvPr/>
        </p:nvSpPr>
        <p:spPr>
          <a:xfrm xmlns:a="http://schemas.openxmlformats.org/drawingml/2006/main">
            <a:off x="6192000" y="1566000"/>
            <a:ext cx="55440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B303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84" name="DataL"/>
          <p:cNvSpPr txBox="1"/>
          <p:nvPr/>
        </p:nvSpPr>
        <p:spPr>
          <a:xfrm xmlns:a="http://schemas.openxmlformats.org/drawingml/2006/main">
            <a:off x="6408000" y="1674000"/>
            <a:ext cx="5112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485" name="DataV"/>
          <p:cNvSpPr txBox="1"/>
          <p:nvPr/>
        </p:nvSpPr>
        <p:spPr>
          <a:xfrm xmlns:a="http://schemas.openxmlformats.org/drawingml/2006/main">
            <a:off x="6408000" y="1998000"/>
            <a:ext cx="5112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보험 거래 77,305건 — 고객 74,776명</a:t>
            </a:r>
          </a:p>
        </p:txBody>
      </p:sp>
      <p:sp>
        <p:nvSpPr>
          <p:cNvPr id="100486" name="DataS1"/>
          <p:cNvSpPr txBox="1"/>
          <p:nvPr/>
        </p:nvSpPr>
        <p:spPr>
          <a:xfrm xmlns:a="http://schemas.openxmlformats.org/drawingml/2006/main">
            <a:off x="6408000" y="2502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분석 풀 — 보장 보험만 보유한 38,932명 (2024년 말)</a:t>
            </a:r>
          </a:p>
        </p:txBody>
      </p:sp>
      <p:sp>
        <p:nvSpPr>
          <p:cNvPr id="100487" name="DataS2"/>
          <p:cNvSpPr txBox="1"/>
          <p:nvPr/>
        </p:nvSpPr>
        <p:spPr>
          <a:xfrm xmlns:a="http://schemas.openxmlformats.org/drawingml/2006/main">
            <a:off x="6408000" y="2826000"/>
            <a:ext cx="5112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정답 열 없음 → 가입 연도를 뒤집어 정답 직접 생성</a:t>
            </a:r>
          </a:p>
        </p:txBody>
      </p:sp>
      <p:sp>
        <p:nvSpPr>
          <p:cNvPr id="100488" name="MotiveBox"/>
          <p:cNvSpPr/>
          <p:nvPr/>
        </p:nvSpPr>
        <p:spPr>
          <a:xfrm xmlns:a="http://schemas.openxmlformats.org/drawingml/2006/main">
            <a:off x="457200" y="3420000"/>
            <a:ext cx="11278800" cy="147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22B"/>
          </a:solidFill>
          <a:ln xmlns:a="http://schemas.openxmlformats.org/drawingml/2006/main" w="19050">
            <a:solidFill>
              <a:srgbClr val="7FB2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89" name="MotiveL"/>
          <p:cNvSpPr txBox="1"/>
          <p:nvPr/>
        </p:nvSpPr>
        <p:spPr>
          <a:xfrm xmlns:a="http://schemas.openxmlformats.org/drawingml/2006/main">
            <a:off x="684000" y="3546000"/>
            <a:ext cx="18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FB2E8"/>
                </a:solidFill>
                <a:latin typeface="Malgun Gothic"/>
                <a:ea typeface="Malgun Gothic"/>
              </a:rPr>
              <a:t>발표 동기</a:t>
            </a:r>
          </a:p>
        </p:txBody>
      </p:sp>
      <p:sp>
        <p:nvSpPr>
          <p:cNvPr id="100490" name="MotiveT"/>
          <p:cNvSpPr txBox="1"/>
          <p:nvPr/>
        </p:nvSpPr>
        <p:spPr>
          <a:xfrm xmlns:a="http://schemas.openxmlformats.org/drawingml/2006/main">
            <a:off x="684000" y="3870000"/>
            <a:ext cx="10836000" cy="97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출발점 — 또 걸려온 상담 권유전화. 받는 쪽도, 거는 쪽도 근거가 없습니다.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38,932명 전원 상담은 불가능 — '누구를 먼저 만날지'를 정해야 합니다.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정답이 없다면 정답을 만들어 검증한다 — 이 발표는 그 기록입니다.</a:t>
            </a:r>
          </a:p>
        </p:txBody>
      </p:sp>
      <p:sp>
        <p:nvSpPr>
          <p:cNvPr id="100491" name="QBox"/>
          <p:cNvSpPr/>
          <p:nvPr/>
        </p:nvSpPr>
        <p:spPr>
          <a:xfrm xmlns:a="http://schemas.openxmlformats.org/drawingml/2006/main">
            <a:off x="457200" y="5040000"/>
            <a:ext cx="112788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3A2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492" name="QL"/>
          <p:cNvSpPr txBox="1"/>
          <p:nvPr/>
        </p:nvSpPr>
        <p:spPr>
          <a:xfrm xmlns:a="http://schemas.openxmlformats.org/drawingml/2006/main">
            <a:off x="684000" y="5148000"/>
            <a:ext cx="18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EC98A"/>
                </a:solidFill>
                <a:latin typeface="Malgun Gothic"/>
                <a:ea typeface="Malgun Gothic"/>
              </a:rPr>
              <a:t>검토 질문</a:t>
            </a:r>
          </a:p>
        </p:txBody>
      </p:sp>
      <p:sp>
        <p:nvSpPr>
          <p:cNvPr id="100493" name="QT"/>
          <p:cNvSpPr txBox="1"/>
          <p:nvPr/>
        </p:nvSpPr>
        <p:spPr>
          <a:xfrm xmlns:a="http://schemas.openxmlformats.org/drawingml/2006/main">
            <a:off x="684000" y="5472000"/>
            <a:ext cx="10836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보장 보험만 가진 고객 38,932명 중, 누구에게 먼저 추가 가입을 제안해야 상담 자원을 가장 잘 쓸 수 있는가?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2208</Words>
  <Application>Microsoft Office PowerPoint</Application>
  <PresentationFormat>와이드스크린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OfficeCLI</dc:creator>
  <cp:lastModifiedBy>user</cp:lastModifiedBy>
  <cp:revision>3</cp:revision>
  <dcterms:created xsi:type="dcterms:W3CDTF">2026-10-26T05:03:03Z</dcterms:created>
  <dcterms:modified xsi:type="dcterms:W3CDTF">2026-10-26T08:16:29Z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OfficeCLI.Version">
    <vt:lpwstr>1.0.143</vt:lpwstr>
  </op:property>
  <op:property fmtid="{D5CDD505-2E9C-101B-9397-08002B2CF9AE}" pid="3" name="OfficeCLI.LastModified">
    <vt:lpwstr>2026-10-27T02:44:50Z</vt:lpwstr>
  </op:property>
</op:Properties>
</file>