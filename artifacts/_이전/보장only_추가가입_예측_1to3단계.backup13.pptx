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charts/chart1.xml" ContentType="application/vnd.openxmlformats-officedocument.drawingml.chart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43c571973e85479b" Type="http://schemas.openxmlformats.org/officeDocument/2006/relationships/custom-properties" Target="docProps/custom.xml"/><Relationship Id="Rb29f98ff386e4ee8" Type="http://schemas.openxmlformats.org/officeDocument/2006/relationships/extended-properties" Target="docProps/app.xml"/><Relationship Id="Rb7241a4401f14991" Type="http://schemas.openxmlformats.org/package/2006/relationships/metadata/core-properties" Target="docProps/core.xml"/><Relationship Id="Rbc8e5f782c1e45af" Type="http://schemas.openxmlformats.org/officeDocument/2006/relationships/officeDocument" Target="ppt/presentation.xml"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notesMasterIdLst>
    <p:notesMasterId r:id="R1e9e1fb44ec34b80"/>
  </p:notesMasterIdLst>
  <p:sldIdLst>
    <p:sldId id="256" r:id="Rdd44c5ee5663409f"/>
    <p:sldId id="257" r:id="R299fd867e5ee4b8c"/>
    <p:sldId id="258" r:id="R1fef81e69a0149e8"/>
    <p:sldId id="259" r:id="R82576c5457dd4557"/>
    <p:sldId id="260" r:id="R608dd88c5b734e38"/>
    <p:sldId id="261" r:id="R83218ddfb88f4e5c"/>
    <p:sldId id="262" r:id="Rfab6b322aee5474c"/>
    <p:sldId id="263" r:id="R742d89f9e5854c16"/>
    <p:sldId id="264" r:id="Rb199045759234c4c"/>
    <p:sldId id="268" r:id="rId16"/>
    <p:sldId id="265" r:id="R17b800cd61ea4c20"/>
    <p:sldId id="266" r:id="R1097ad09ee72431e"/>
    <p:sldId id="267" r:id="Rebc4e4f8646f413e"/>
  </p:sldIdLst>
  <p:sldSz cx="12192000" cy="6858000"/>
  <p:notesSz cx="6858000" cy="9144000"/>
</p:presentation>
</file>

<file path=ppt/_rels/presentation.xml.rels><?xml version='1.0' encoding='UTF-8' standalone='yes'?>
<Relationships xmlns="http://schemas.openxmlformats.org/package/2006/relationships"><Relationship Id="R1097ad09ee72431e" Type="http://schemas.openxmlformats.org/officeDocument/2006/relationships/slide" Target="slides/slide11.xml"/><Relationship Id="R17b800cd61ea4c20" Type="http://schemas.openxmlformats.org/officeDocument/2006/relationships/slide" Target="slides/slide10.xml"/><Relationship Id="R1e9e1fb44ec34b80" Type="http://schemas.openxmlformats.org/officeDocument/2006/relationships/notesMaster" Target="notesMasters/notesMaster1.xml"/><Relationship Id="R1fef81e69a0149e8" Type="http://schemas.openxmlformats.org/officeDocument/2006/relationships/slide" Target="slides/slide3.xml"/><Relationship Id="R299fd867e5ee4b8c" Type="http://schemas.openxmlformats.org/officeDocument/2006/relationships/slide" Target="slides/slide2.xml"/><Relationship Id="R608dd88c5b734e38" Type="http://schemas.openxmlformats.org/officeDocument/2006/relationships/slide" Target="slides/slide5.xml"/><Relationship Id="R742d89f9e5854c16" Type="http://schemas.openxmlformats.org/officeDocument/2006/relationships/slide" Target="slides/slide8.xml"/><Relationship Id="R82576c5457dd4557" Type="http://schemas.openxmlformats.org/officeDocument/2006/relationships/slide" Target="slides/slide4.xml"/><Relationship Id="R83218ddfb88f4e5c" Type="http://schemas.openxmlformats.org/officeDocument/2006/relationships/slide" Target="slides/slide6.xml"/><Relationship Id="Rb199045759234c4c" Type="http://schemas.openxmlformats.org/officeDocument/2006/relationships/slide" Target="slides/slide9.xml"/><Relationship Id="Rdd44c5ee5663409f" Type="http://schemas.openxmlformats.org/officeDocument/2006/relationships/slide" Target="slides/slide1.xml"/><Relationship Id="Rebc4e4f8646f413e" Type="http://schemas.openxmlformats.org/officeDocument/2006/relationships/slide" Target="slides/slide12.xml"/><Relationship Id="Rfab6b322aee5474c" Type="http://schemas.openxmlformats.org/officeDocument/2006/relationships/slide" Target="slides/slide7.xml"/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16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ecff22d680424161" Type="http://schemas.openxmlformats.org/officeDocument/2006/relationships/theme" Target="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1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2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맑은 고딕"/>
        <a:cs typeface=""/>
      </a:majorFont>
      <a:minorFont>
        <a:latin typeface="Calibri"/>
        <a:ea typeface="맑은 고딕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14bb16e950f34e5f" Type="http://schemas.openxmlformats.org/officeDocument/2006/relationships/slide" Target="../slides/slide1.xml"/><Relationship Id="R51d770c257d94fb0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1322306a389d47b3" Type="http://schemas.openxmlformats.org/officeDocument/2006/relationships/slide" Target="../slides/slide2.xml"/><Relationship Id="R655f1ce8c80e4896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0a5fd9abda9645be" Type="http://schemas.openxmlformats.org/officeDocument/2006/relationships/notesMaster" Target="../notesMasters/notesMaster1.xml"/><Relationship Id="R64a2b2f8d3e74e40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4c89f519641345b7" Type="http://schemas.openxmlformats.org/officeDocument/2006/relationships/slide" Target="../slides/slide4.xml"/><Relationship Id="Rc43a43eef8f4468d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3b24a85504f54820" Type="http://schemas.openxmlformats.org/officeDocument/2006/relationships/notesMaster" Target="../notesMasters/notesMaster1.xml"/><Relationship Id="R648be16ef7894f90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754e462a8d434904" Type="http://schemas.openxmlformats.org/officeDocument/2006/relationships/notesMaster" Target="../notesMasters/notesMaster1.xml"/><Relationship Id="Rb4fcf4f02548439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044c02a34b37499a" Type="http://schemas.openxmlformats.org/officeDocument/2006/relationships/notesMaster" Target="../notesMasters/notesMaster1.xml"/><Relationship Id="R17e15a130fbd41ee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6e2b3a0e0bd94a06" Type="http://schemas.openxmlformats.org/officeDocument/2006/relationships/notesMaster" Target="../notesMasters/notesMaster1.xml"/><Relationship Id="R82b410e33771460c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17d9eb9fda9a44dd" Type="http://schemas.openxmlformats.org/officeDocument/2006/relationships/notesMaster" Target="../notesMasters/notesMaster1.xml"/><Relationship Id="R68422565942b4039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70c60d3fd7c44203" Type="http://schemas.openxmlformats.org/officeDocument/2006/relationships/notesMaster" Target="../notesMasters/notesMaster1.xml"/><Relationship Id="Rbba5944c880b43af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7dc154eb28fc488d" Type="http://schemas.openxmlformats.org/officeDocument/2006/relationships/notesMaster" Target="../notesMasters/notesMaster1.xml"/><Relationship Id="Rf22ce3c293e64a94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3ab0a609970d4bfc" Type="http://schemas.openxmlformats.org/officeDocument/2006/relationships/notesMaster" Target="../notesMasters/notesMaster1.xml"/><Relationship Id="R8b651674c0884541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표지. 핵심은 세 숫자: 전체 가입률 2.9%, 모델이 뽑은 상위 1,000명에서 8.2%, 판정 기준(5.8%) 충족. 라벨 없는 스냅샷 데이터를 시간 분할로 예측 문제로 바꾼 과정이 이 발표의 본론.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대용라벨로 시작해 예측 프레임으로 전환. 폐기된 것(대용라벨 EDA·구 가설 4개)과 확정된 것(프레임·피처 13개·판정 충족)을 구분해 보여 주는 지도.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1행이 상품 1건이라는 구조 이해가 모든 후속 분석의 전제. 고객 속성은 행 내 고정이므로 고객 단위로 중복 제거. 라벨 열이 없다는 것이 문제 정의의 출발점.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열 이름을 믿으면 틀리는 4가지. 특히 product_period는 만기 연도이고 investment_propensity는 보험 고객에서 전부 '-'. cross_coverage가 83.4%만 일치한다는 사실이 '담보 확장 이벤트'를 타겟으로 못 삼는 이유.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스펙 4요소를 명시한 예측 문제. T=2024 선택 근거: 표본 4.3배·속성 밀림 1년·오늘의 고객과 같은 코호트. 대용라벨 문제 정의와 (a)/(b) 논쟁은 폐기 기록으로 문서에 남아 있음.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4항목 점검이 모델링 결정으로 바로 이어지는 매핑 슬라이드. 개별 신호가 미약하다는 점이 단일 속성 보고가 아니라 모델을 요구하는 구조임을 보여줌.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가설이 전부 반박된 슬라이드. 방향이 뒤집힌 것도 있음(H2·H3). 이 슬라이드가 '예측 프레임 전환이 실질적 가치를 만들었다'는 주장의 증거.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신뢰 절차 슬라이드: 두 프레임 교차 검증이 이 프로젝트에서 가장 견고한 방법론적 자산. 가짜 신호 2개가 걸러진 사례를 강조.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무너진 '프로필' 축을 버리고 '상황·행동·상품 구성' 축으로 옮긴 회차. E는 강도 점검에서 강화, F는 철회 — 큰 배율일수록 그림자 의심이라는 원칙이 작동한 사례.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모델 v3 확정 결과. 차트는 상위 k별 실제 가입률(파랑)과 기준선(연회색). 오른쪽 카드가 모델 구성과 판정. F 교차항 제거로 v2 대비 변화는 ±0.1%p 이내.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규칙을 경시하지 않는 정직한 비교 슬라이드. 동규모 동률이라는 사실을 먼저 인정하고, 모델의 가치를 '규모 확장 + 포착률'로 한정해 주장.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마무리 슬라이드. 확정·한계·다음의 3분할. 리포트는 이 자료의 내용을 문서로 확정하는 작업.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E는 소거 실험 기여 1위로 지지 강화 — 특약 보유는 상품 계열 그림자가 아님(M-케어 없는 고객 안에서도 6.9배). F는 재검증에서 철회 — 교차항은 분위 자르기에 따라 달라지는 인공물로 판정, v3에서 피처 제거(성능 무영향).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77a59ce33e1b40e4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bdf2e3bad24444d6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f1cbecc700474c25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2c9cf2bfd0934f29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4c8fa2e25a544f5f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5a712661ff6c441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<?xml version='1.0' encoding='UTF-8' standalone='yes'?>
<Relationships xmlns="http://schemas.openxmlformats.org/package/2006/relationships"><Relationship Id="R99488b69211b4c9b" Type="http://schemas.openxmlformats.org/officeDocument/2006/relationships/notesSlide" Target="../notesSlides/notesSlide1.xml"/><Relationship Id="Rddc4d03f416f4aeb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4107d6373a82468f" Type="http://schemas.openxmlformats.org/officeDocument/2006/relationships/slideLayout" Target="../slideLayouts/slideLayout1.xml"/><Relationship Id="Rd21f49b328c84c16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4ac2757597fd427f" Type="http://schemas.openxmlformats.org/officeDocument/2006/relationships/slideLayout" Target="../slideLayouts/slideLayout1.xml"/><Relationship Id="R50719ebfcd9f4f6f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0b3b4ad93b4d48d4" Type="http://schemas.openxmlformats.org/officeDocument/2006/relationships/notesSlide" Target="../notesSlides/notesSlide4.xml"/><Relationship Id="Ra066d1de7b87468e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78f5b020b98b4945" Type="http://schemas.openxmlformats.org/officeDocument/2006/relationships/notesSlide" Target="../notesSlides/notesSlide5.xml"/><Relationship Id="Ra0a133dbffd043f4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456f68e459d64035" Type="http://schemas.openxmlformats.org/officeDocument/2006/relationships/notesSlide" Target="../notesSlides/notesSlide6.xml"/><Relationship Id="R960b65b4c38d4612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58d0cffb2d574afa" Type="http://schemas.openxmlformats.org/officeDocument/2006/relationships/notesSlide" Target="../notesSlides/notesSlide7.xml"/><Relationship Id="Raa94f830ad034a1f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1745d265e4ed4765" Type="http://schemas.openxmlformats.org/officeDocument/2006/relationships/notesSlide" Target="../notesSlides/notesSlide8.xml"/><Relationship Id="Rbe55032a59f14a34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c280432407f3467b" Type="http://schemas.openxmlformats.org/officeDocument/2006/relationships/slideLayout" Target="../slideLayouts/slideLayout1.xml"/><Relationship Id="Re469f4e576ab4681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34eb75be4c2e4553" Type="http://schemas.openxmlformats.org/officeDocument/2006/relationships/slideLayout" Target="../slideLayouts/slideLayout1.xml"/><Relationship Id="Rc43cd78bf1194509" Type="http://schemas.openxmlformats.org/officeDocument/2006/relationships/chart" Target="charts/chart1.xml"/><Relationship Id="Rd977a67da9154a76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04249c093a884677" Type="http://schemas.openxmlformats.org/officeDocument/2006/relationships/notesSlide" Target="../notesSlides/notesSlide11.xml"/><Relationship Id="R8e44f9428c4e4185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69b1beb6cbe14317" Type="http://schemas.openxmlformats.org/officeDocument/2006/relationships/notesSlide" Target="../notesSlides/notesSlide12.xml"/><Relationship Id="R6f9a980225884e9e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charts/chart1.xml><?xml version="1.0" encoding="utf-8"?>
<c:chartSpace xmlns:c="http://schemas.openxmlformats.org/drawingml/2006/chart">
  <c:date1904 val="0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1"/>
            </a:pPr>
            <a:r>
              <a:rPr lang="en-US" sz="1400" b="1"/>
              <a:t>상위 k명 중 실제 가입률 (%) — 반복 20회 평균</a:t>
            </a:r>
          </a:p>
        </c:rich>
      </c:tx>
      <c:overlay val="0"/>
    </c:title>
    <c:plotArea>
      <c:layout/>
      <c:barChart>
        <c:barDir val="col"/>
        <c:grouping val="clustered"/>
        <c:varyColors val="0"/>
        <c:ser>
          <c:idx val="0"/>
          <c:order val="0"/>
          <c:tx>
            <c:v>모델 상위 k명 가입률</c:v>
          </c:tx>
          <c:spPr>
            <a:solidFill xmlns:a="http://schemas.openxmlformats.org/drawingml/2006/main">
              <a:srgbClr val="1E2761"/>
            </a:solidFill>
          </c:spPr>
          <c:invertIfNegative val="0"/>
          <c:cat>
            <c:strLit>
              <c:ptCount val="5"/>
              <c:pt idx="0">
                <c:v>상위 500명</c:v>
              </c:pt>
              <c:pt idx="1">
                <c:v>상위 1</c:v>
              </c:pt>
              <c:pt idx="2">
                <c:v>000명</c:v>
              </c:pt>
              <c:pt idx="3">
                <c:v>상위 2</c:v>
              </c:pt>
              <c:pt idx="4">
                <c:v>000명</c:v>
              </c:pt>
            </c:strLit>
          </c:cat>
          <c:val>
            <c:numLit>
              <c:formatCode>General</c:formatCode>
              <c:ptCount val="3"/>
              <c:pt idx="0">
                <c:v>9.7</c:v>
              </c:pt>
              <c:pt idx="1">
                <c:v>8.2</c:v>
              </c:pt>
              <c:pt idx="2">
                <c:v>6.7</c:v>
              </c:pt>
            </c:numLit>
          </c:val>
        </c:ser>
        <c:ser>
          <c:idx val="1"/>
          <c:order val="1"/>
          <c:tx>
            <c:v>기준선</c:v>
          </c:tx>
          <c:spPr>
            <a:solidFill xmlns:a="http://schemas.openxmlformats.org/drawingml/2006/main">
              <a:srgbClr val="CADCFC"/>
            </a:solidFill>
          </c:spPr>
          <c:invertIfNegative val="0"/>
          <c:cat>
            <c:strLit>
              <c:ptCount val="5"/>
              <c:pt idx="0">
                <c:v>상위 500명</c:v>
              </c:pt>
              <c:pt idx="1">
                <c:v>상위 1</c:v>
              </c:pt>
              <c:pt idx="2">
                <c:v>000명</c:v>
              </c:pt>
              <c:pt idx="3">
                <c:v>상위 2</c:v>
              </c:pt>
              <c:pt idx="4">
                <c:v>000명</c:v>
              </c:pt>
            </c:strLit>
          </c:cat>
          <c:val>
            <c:numLit>
              <c:formatCode>General</c:formatCode>
              <c:ptCount val="3"/>
              <c:pt idx="0">
                <c:v>2.9</c:v>
              </c:pt>
              <c:pt idx="1">
                <c:v>2.9</c:v>
              </c:pt>
              <c:pt idx="2">
                <c:v>2.9</c:v>
              </c:pt>
            </c:numLit>
          </c:val>
        </c:ser>
        <c:gapWidth val="150"/>
        <c:axId val="1"/>
        <c:axId val="2"/>
      </c:barChart>
      <c:catAx>
        <c:axId val="1"/>
        <c:scaling>
          <c:orientation val="minMax"/>
        </c:scaling>
        <c:delete val="0"/>
        <c:axPos val="b"/>
        <c:majorTickMark val="out"/>
        <c:minorTickMark val="none"/>
        <c:tickLblPos val="nextTo"/>
        <c:crossAx val="2"/>
        <c:crosses val="autoZero"/>
        <c:auto val="1"/>
        <c:lblAlgn val="ctr"/>
        <c:lblOffset val="100"/>
      </c:catAx>
      <c:valAx>
        <c:axId val="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"/>
        <c:crosses val="autoZero"/>
        <c:crossBetween val="between"/>
      </c:valAx>
    </c:plotArea>
    <c:legend>
      <c:legendPos val="b"/>
      <c:overlay val="0"/>
    </c:legend>
    <c:plotVisOnly val="1"/>
    <c:dispBlanksAs val="gap"/>
  </c:chart>
</c:chartSpace>
</file>

<file path=ppt/slides/slide1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1E2761"/>
        </a:solidFill>
      </p:bgPr>
    </p:bg>
    <p:spTree>
      <p:nvGrpSpPr>
        <p:cNvPr id="1" name=""/>
        <p:cNvGrpSpPr/>
        <p:nvPr/>
      </p:nvGrpSpPr>
      <p:grpSpPr/>
      <p:sp>
        <p:nvSpPr>
          <p:cNvPr id="100000" name="TextBox 1"/>
          <p:cNvSpPr txBox="1"/>
          <p:nvPr/>
        </p:nvSpPr>
        <p:spPr>
          <a:xfrm xmlns:a="http://schemas.openxmlformats.org/drawingml/2006/main">
            <a:off x="720000" y="2232000"/>
            <a:ext cx="10753200" cy="86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4000" b="1">
                <a:solidFill>
                  <a:srgbClr val="FFFFFF"/>
                </a:solidFill>
                <a:latin typeface="Georgia"/>
                <a:ea typeface="Georgia"/>
              </a:rPr>
              <a:t>보장성 보험 고객의 추가 가입 예측</a:t>
            </a:r>
          </a:p>
        </p:txBody>
      </p:sp>
      <p:sp>
        <p:nvSpPr>
          <p:cNvPr id="100001" name="TextBox 2"/>
          <p:cNvSpPr txBox="1"/>
          <p:nvPr/>
        </p:nvSpPr>
        <p:spPr>
          <a:xfrm xmlns:a="http://schemas.openxmlformats.org/drawingml/2006/main">
            <a:off x="720000" y="3240000"/>
            <a:ext cx="107532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000">
                <a:solidFill>
                  <a:srgbClr val="CADCFC"/>
                </a:solidFill>
                <a:latin typeface="Calibri"/>
                <a:ea typeface="Calibri"/>
              </a:rPr>
              <a:t>1~3단계: 데이터 이해 · EDA · 기초 모델링</a:t>
            </a:r>
          </a:p>
        </p:txBody>
      </p:sp>
      <p:sp>
        <p:nvSpPr>
          <p:cNvPr id="100002" name="TextBox 3"/>
          <p:cNvSpPr txBox="1"/>
          <p:nvPr/>
        </p:nvSpPr>
        <p:spPr>
          <a:xfrm xmlns:a="http://schemas.openxmlformats.org/drawingml/2006/main">
            <a:off x="720000" y="3960000"/>
            <a:ext cx="107532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800" b="1">
                <a:solidFill>
                  <a:srgbClr val="02C39A"/>
                </a:solidFill>
                <a:latin typeface="Calibri"/>
                <a:ea typeface="Calibri"/>
              </a:rPr>
              <a:t>기준선 2.9%  →  모델 상위 1,000명 가입률 8.2% (2.8배)  →  판정 기준 충족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03" name="TextBox 1"/>
          <p:cNvSpPr txBox="1"/>
          <p:nvPr/>
        </p:nvSpPr>
        <p:spPr>
          <a:xfrm xmlns:a="http://schemas.openxmlformats.org/drawingml/2006/main">
            <a:off x="540000" y="324000"/>
            <a:ext cx="10800000" cy="64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400" b="1">
                <a:solidFill>
                  <a:srgbClr val="1E2761"/>
                </a:solidFill>
                <a:latin typeface="Georgia"/>
                <a:ea typeface="Georgia"/>
              </a:rPr>
              <a:t>전체 여정 — 6단계</a:t>
            </a:r>
          </a:p>
        </p:txBody>
      </p:sp>
      <p:sp>
        <p:nvSpPr>
          <p:cNvPr id="100004" name="J1"/>
          <p:cNvSpPr/>
          <p:nvPr/>
        </p:nvSpPr>
        <p:spPr>
          <a:xfrm xmlns:a="http://schemas.openxmlformats.org/drawingml/2006/main">
            <a:off x="540000" y="1152000"/>
            <a:ext cx="1584000" cy="936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500" b="1">
                <a:solidFill>
                  <a:srgbClr val="FFFFFF"/>
                </a:solidFill>
                <a:latin typeface="Calibri"/>
                <a:ea typeface="Calibri"/>
              </a:rPr>
              <a:t>데이터 이해</a:t>
            </a:r>
          </a:p>
          <a:p xmlns:a="http://schemas.openxmlformats.org/drawingml/2006/main">
            <a:pPr algn="ctr"/>
            <a:r>
              <a:rPr lang="en-US" sz="1500" b="1">
                <a:solidFill>
                  <a:srgbClr val="FFFFFF"/>
                </a:solidFill>
                <a:latin typeface="Calibri"/>
                <a:ea typeface="Calibri"/>
              </a:rPr>
              <a:t>고객 74,776명</a:t>
            </a:r>
          </a:p>
        </p:txBody>
      </p:sp>
      <p:sp>
        <p:nvSpPr>
          <p:cNvPr id="100005" name="J2"/>
          <p:cNvSpPr/>
          <p:nvPr/>
        </p:nvSpPr>
        <p:spPr>
          <a:xfrm xmlns:a="http://schemas.openxmlformats.org/drawingml/2006/main">
            <a:off x="2282400" y="1152000"/>
            <a:ext cx="1584000" cy="936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CADCFC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500" b="1">
                <a:solidFill>
                  <a:srgbClr val="1E2761"/>
                </a:solidFill>
                <a:latin typeface="Calibri"/>
                <a:ea typeface="Calibri"/>
              </a:rPr>
              <a:t>문제 정의</a:t>
            </a:r>
          </a:p>
          <a:p xmlns:a="http://schemas.openxmlformats.org/drawingml/2006/main">
            <a:pPr algn="ctr"/>
            <a:r>
              <a:rPr lang="en-US" sz="1500" b="1">
                <a:solidFill>
                  <a:srgbClr val="1E2761"/>
                </a:solidFill>
                <a:latin typeface="Calibri"/>
                <a:ea typeface="Calibri"/>
              </a:rPr>
              <a:t>시간 분할 타겟</a:t>
            </a:r>
          </a:p>
        </p:txBody>
      </p:sp>
      <p:sp>
        <p:nvSpPr>
          <p:cNvPr id="100006" name="J3"/>
          <p:cNvSpPr/>
          <p:nvPr/>
        </p:nvSpPr>
        <p:spPr>
          <a:xfrm xmlns:a="http://schemas.openxmlformats.org/drawingml/2006/main">
            <a:off x="4024800" y="1152000"/>
            <a:ext cx="1584000" cy="936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400" b="1">
                <a:solidFill>
                  <a:srgbClr val="FFFFFF"/>
                </a:solidFill>
                <a:latin typeface="Calibri"/>
                <a:ea typeface="Calibri"/>
              </a:rPr>
              <a:t>EDA 점검 4항목</a:t>
            </a:r>
          </a:p>
          <a:p xmlns:a="http://schemas.openxmlformats.org/drawingml/2006/main">
            <a:pPr algn="ctr"/>
            <a:r>
              <a:rPr lang="en-US" sz="1400" b="1">
                <a:solidFill>
                  <a:srgbClr val="FFFFFF"/>
                </a:solidFill>
                <a:latin typeface="Calibri"/>
                <a:ea typeface="Calibri"/>
              </a:rPr>
              <a:t>결측·이상치·불균형</a:t>
            </a:r>
          </a:p>
        </p:txBody>
      </p:sp>
      <p:sp>
        <p:nvSpPr>
          <p:cNvPr id="100007" name="J4"/>
          <p:cNvSpPr/>
          <p:nvPr/>
        </p:nvSpPr>
        <p:spPr>
          <a:xfrm xmlns:a="http://schemas.openxmlformats.org/drawingml/2006/main">
            <a:off x="5767200" y="1152000"/>
            <a:ext cx="1584000" cy="936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CADCFC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400" b="1">
                <a:solidFill>
                  <a:srgbClr val="1E2761"/>
                </a:solidFill>
                <a:latin typeface="Calibri"/>
                <a:ea typeface="Calibri"/>
              </a:rPr>
              <a:t>가설 4회차</a:t>
            </a:r>
          </a:p>
          <a:p xmlns:a="http://schemas.openxmlformats.org/drawingml/2006/main">
            <a:pPr algn="ctr"/>
            <a:r>
              <a:rPr lang="en-US" sz="1400" b="1">
                <a:solidFill>
                  <a:srgbClr val="1E2761"/>
                </a:solidFill>
                <a:latin typeface="Calibri"/>
                <a:ea typeface="Calibri"/>
              </a:rPr>
              <a:t>구4 반박→새6 검증</a:t>
            </a:r>
          </a:p>
        </p:txBody>
      </p:sp>
      <p:sp>
        <p:nvSpPr>
          <p:cNvPr id="100008" name="J5"/>
          <p:cNvSpPr/>
          <p:nvPr/>
        </p:nvSpPr>
        <p:spPr>
          <a:xfrm xmlns:a="http://schemas.openxmlformats.org/drawingml/2006/main">
            <a:off x="7509600" y="1152000"/>
            <a:ext cx="1584000" cy="936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400" b="1">
                <a:solidFill>
                  <a:srgbClr val="FFFFFF"/>
                </a:solidFill>
                <a:latin typeface="Calibri"/>
                <a:ea typeface="Calibri"/>
              </a:rPr>
              <a:t>피처 13개 확정</a:t>
            </a:r>
          </a:p>
          <a:p xmlns:a="http://schemas.openxmlformats.org/drawingml/2006/main">
            <a:pPr algn="ctr"/>
            <a:r>
              <a:rPr lang="en-US" sz="1400" b="1">
                <a:solidFill>
                  <a:srgbClr val="FFFFFF"/>
                </a:solidFill>
                <a:latin typeface="Calibri"/>
                <a:ea typeface="Calibri"/>
              </a:rPr>
              <a:t>연령×결혼·특약</a:t>
            </a:r>
          </a:p>
        </p:txBody>
      </p:sp>
      <p:sp>
        <p:nvSpPr>
          <p:cNvPr id="100009" name="J6"/>
          <p:cNvSpPr/>
          <p:nvPr/>
        </p:nvSpPr>
        <p:spPr>
          <a:xfrm xmlns:a="http://schemas.openxmlformats.org/drawingml/2006/main">
            <a:off x="9252000" y="1152000"/>
            <a:ext cx="1584000" cy="936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C5F2D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500" b="1">
                <a:solidFill>
                  <a:srgbClr val="FFFFFF"/>
                </a:solidFill>
                <a:latin typeface="Calibri"/>
                <a:ea typeface="Calibri"/>
              </a:rPr>
              <a:t>모델 v3</a:t>
            </a:r>
          </a:p>
          <a:p xmlns:a="http://schemas.openxmlformats.org/drawingml/2006/main">
            <a:pPr algn="ctr"/>
            <a:r>
              <a:rPr lang="en-US" sz="1500" b="1">
                <a:solidFill>
                  <a:srgbClr val="FFFFFF"/>
                </a:solidFill>
                <a:latin typeface="Calibri"/>
                <a:ea typeface="Calibri"/>
              </a:rPr>
              <a:t>판정 충족</a:t>
            </a:r>
          </a:p>
        </p:txBody>
      </p:sp>
      <p:cxnSp>
        <p:nvCxnSpPr>
          <p:cNvPr id="100010" name="Connector 1"/>
          <p:cNvCxnSpPr>
            <a:stCxn xmlns:a="http://schemas.openxmlformats.org/drawingml/2006/main" id="100004" idx="0"/>
            <a:endCxn xmlns:a="http://schemas.openxmlformats.org/drawingml/2006/main" id="100005" idx="0"/>
          </p:cNvCxnSpPr>
          <p:nvPr/>
        </p:nvCxnSpPr>
        <p:spPr>
          <a:xfrm xmlns:a="http://schemas.openxmlformats.org/drawingml/2006/main">
            <a:off x="2124000" y="1620000"/>
            <a:ext cx="158400" cy="0"/>
          </a:xfrm>
          <a:prstGeom xmlns:a="http://schemas.openxmlformats.org/drawingml/2006/main" prst="bentConnector3">
            <a:avLst/>
          </a:prstGeom>
          <a:ln xmlns:a="http://schemas.openxmlformats.org/drawingml/2006/main" w="12700">
            <a:solidFill>
              <a:srgbClr val="8899BB"/>
            </a:solidFill>
            <a:tailEnd type="triangle"/>
          </a:ln>
        </p:spPr>
      </p:cxnSp>
      <p:cxnSp>
        <p:nvCxnSpPr>
          <p:cNvPr id="100011" name="Connector 2"/>
          <p:cNvCxnSpPr>
            <a:stCxn xmlns:a="http://schemas.openxmlformats.org/drawingml/2006/main" id="100005" idx="0"/>
            <a:endCxn xmlns:a="http://schemas.openxmlformats.org/drawingml/2006/main" id="100006" idx="0"/>
          </p:cNvCxnSpPr>
          <p:nvPr/>
        </p:nvCxnSpPr>
        <p:spPr>
          <a:xfrm xmlns:a="http://schemas.openxmlformats.org/drawingml/2006/main">
            <a:off x="3866400" y="1620000"/>
            <a:ext cx="158400" cy="0"/>
          </a:xfrm>
          <a:prstGeom xmlns:a="http://schemas.openxmlformats.org/drawingml/2006/main" prst="bentConnector3">
            <a:avLst/>
          </a:prstGeom>
          <a:ln xmlns:a="http://schemas.openxmlformats.org/drawingml/2006/main" w="12700">
            <a:solidFill>
              <a:srgbClr val="8899BB"/>
            </a:solidFill>
            <a:tailEnd type="triangle"/>
          </a:ln>
        </p:spPr>
      </p:cxnSp>
      <p:cxnSp>
        <p:nvCxnSpPr>
          <p:cNvPr id="100012" name="Connector 3"/>
          <p:cNvCxnSpPr>
            <a:stCxn xmlns:a="http://schemas.openxmlformats.org/drawingml/2006/main" id="100006" idx="0"/>
            <a:endCxn xmlns:a="http://schemas.openxmlformats.org/drawingml/2006/main" id="100007" idx="0"/>
          </p:cNvCxnSpPr>
          <p:nvPr/>
        </p:nvCxnSpPr>
        <p:spPr>
          <a:xfrm xmlns:a="http://schemas.openxmlformats.org/drawingml/2006/main">
            <a:off x="5608800" y="1620000"/>
            <a:ext cx="158400" cy="0"/>
          </a:xfrm>
          <a:prstGeom xmlns:a="http://schemas.openxmlformats.org/drawingml/2006/main" prst="bentConnector3">
            <a:avLst/>
          </a:prstGeom>
          <a:ln xmlns:a="http://schemas.openxmlformats.org/drawingml/2006/main" w="12700">
            <a:solidFill>
              <a:srgbClr val="8899BB"/>
            </a:solidFill>
            <a:tailEnd type="triangle"/>
          </a:ln>
        </p:spPr>
      </p:cxnSp>
      <p:cxnSp>
        <p:nvCxnSpPr>
          <p:cNvPr id="100013" name="Connector 4"/>
          <p:cNvCxnSpPr>
            <a:stCxn xmlns:a="http://schemas.openxmlformats.org/drawingml/2006/main" id="100007" idx="0"/>
            <a:endCxn xmlns:a="http://schemas.openxmlformats.org/drawingml/2006/main" id="100008" idx="0"/>
          </p:cNvCxnSpPr>
          <p:nvPr/>
        </p:nvCxnSpPr>
        <p:spPr>
          <a:xfrm xmlns:a="http://schemas.openxmlformats.org/drawingml/2006/main">
            <a:off x="7351200" y="1620000"/>
            <a:ext cx="158400" cy="0"/>
          </a:xfrm>
          <a:prstGeom xmlns:a="http://schemas.openxmlformats.org/drawingml/2006/main" prst="bentConnector3">
            <a:avLst/>
          </a:prstGeom>
          <a:ln xmlns:a="http://schemas.openxmlformats.org/drawingml/2006/main" w="12700">
            <a:solidFill>
              <a:srgbClr val="8899BB"/>
            </a:solidFill>
            <a:tailEnd type="triangle"/>
          </a:ln>
        </p:spPr>
      </p:cxnSp>
      <p:cxnSp>
        <p:nvCxnSpPr>
          <p:cNvPr id="100014" name="Connector 5"/>
          <p:cNvCxnSpPr>
            <a:stCxn xmlns:a="http://schemas.openxmlformats.org/drawingml/2006/main" id="100008" idx="0"/>
            <a:endCxn xmlns:a="http://schemas.openxmlformats.org/drawingml/2006/main" id="100009" idx="0"/>
          </p:cNvCxnSpPr>
          <p:nvPr/>
        </p:nvCxnSpPr>
        <p:spPr>
          <a:xfrm xmlns:a="http://schemas.openxmlformats.org/drawingml/2006/main">
            <a:off x="9093600" y="1620000"/>
            <a:ext cx="158400" cy="0"/>
          </a:xfrm>
          <a:prstGeom xmlns:a="http://schemas.openxmlformats.org/drawingml/2006/main" prst="bentConnector3">
            <a:avLst/>
          </a:prstGeom>
          <a:ln xmlns:a="http://schemas.openxmlformats.org/drawingml/2006/main" w="12700">
            <a:solidFill>
              <a:srgbClr val="8899BB"/>
            </a:solidFill>
            <a:tailEnd type="triangle"/>
          </a:ln>
        </p:spPr>
      </p:cxnSp>
      <p:sp>
        <p:nvSpPr>
          <p:cNvPr id="100015" name="TextBox 8"/>
          <p:cNvSpPr/>
          <p:nvPr/>
        </p:nvSpPr>
        <p:spPr>
          <a:xfrm xmlns:a="http://schemas.openxmlformats.org/drawingml/2006/main">
            <a:off x="540000" y="2592000"/>
            <a:ext cx="5472000" cy="3384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333333"/>
                </a:solidFill>
                <a:latin typeface="Calibri"/>
                <a:ea typeface="Calibri"/>
              </a:rPr>
              <a:t>폐기된 것 — 왜 버렸나</a:t>
            </a:r>
          </a:p>
          <a:p xmlns:a="http://schemas.openxmlformats.org/drawingml/2006/main">
            <a:r>
              <a:rPr lang="en-US" sz="1600">
                <a:solidFill>
                  <a:srgbClr val="333333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600">
                <a:solidFill>
                  <a:srgbClr val="333333"/>
                </a:solidFill>
                <a:latin typeface="Calibri"/>
                <a:ea typeface="Calibri"/>
              </a:rPr>
              <a:t>· 대용라벨(다중 담보 보유): 예측 구조가 생기지 않음 — 미래가 아니라 T 시점의 현재 상태</a:t>
            </a:r>
          </a:p>
          <a:p xmlns:a="http://schemas.openxmlformats.org/drawingml/2006/main">
            <a:r>
              <a:rPr lang="en-US" sz="1600">
                <a:solidFill>
                  <a:srgbClr val="333333"/>
                </a:solidFill>
                <a:latin typeface="Calibri"/>
                <a:ea typeface="Calibri"/>
              </a:rPr>
              <a:t>· 구 가설 4개(프로필·신용·경과·갱신형): 대용라벨에서 물려받은 근거 — 실제 타겟에서 전부 반박</a:t>
            </a:r>
          </a:p>
          <a:p xmlns:a="http://schemas.openxmlformats.org/drawingml/2006/main">
            <a:r>
              <a:rPr lang="en-US" sz="1600">
                <a:solidFill>
                  <a:srgbClr val="333333"/>
                </a:solidFill>
                <a:latin typeface="Calibri"/>
                <a:ea typeface="Calibri"/>
              </a:rPr>
              <a:t>· 판정선 34.6%·25.6%: 대용라벨 기준 — 예측 리프트 기준으로 대체</a:t>
            </a:r>
          </a:p>
          <a:p xmlns:a="http://schemas.openxmlformats.org/drawingml/2006/main">
            <a:r>
              <a:rPr lang="en-US" sz="1600">
                <a:solidFill>
                  <a:srgbClr val="333333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600">
                <a:solidFill>
                  <a:srgbClr val="333333"/>
                </a:solidFill>
                <a:latin typeface="Calibri"/>
                <a:ea typeface="Calibri"/>
              </a:rPr>
              <a:t>폐기가 낭비가 아니라 정보였다: 반박이 '프로필이 아니라 상황·행동'이라는 새 축을 열었다.</a:t>
            </a:r>
          </a:p>
        </p:txBody>
      </p:sp>
      <p:sp>
        <p:nvSpPr>
          <p:cNvPr id="100016" name="TextBox 9"/>
          <p:cNvSpPr/>
          <p:nvPr/>
        </p:nvSpPr>
        <p:spPr>
          <a:xfrm xmlns:a="http://schemas.openxmlformats.org/drawingml/2006/main">
            <a:off x="6624000" y="2592000"/>
            <a:ext cx="5472000" cy="3384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333333"/>
                </a:solidFill>
                <a:latin typeface="Calibri"/>
                <a:ea typeface="Calibri"/>
              </a:rPr>
              <a:t>확정된 것 — 왜 남았나</a:t>
            </a:r>
          </a:p>
          <a:p xmlns:a="http://schemas.openxmlformats.org/drawingml/2006/main">
            <a:r>
              <a:rPr lang="en-US" sz="1600">
                <a:solidFill>
                  <a:srgbClr val="333333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600">
                <a:solidFill>
                  <a:srgbClr val="333333"/>
                </a:solidFill>
                <a:latin typeface="Calibri"/>
                <a:ea typeface="Calibri"/>
              </a:rPr>
              <a:t>· 예측 프레임: T=2024년 말 → 2025년 실제 가입 여부 (양성 1,137명 = 2.9%)</a:t>
            </a:r>
          </a:p>
          <a:p xmlns:a="http://schemas.openxmlformats.org/drawingml/2006/main">
            <a:r>
              <a:rPr lang="en-US" sz="1600">
                <a:solidFill>
                  <a:srgbClr val="333333"/>
                </a:solidFill>
                <a:latin typeface="Calibri"/>
                <a:ea typeface="Calibri"/>
              </a:rPr>
              <a:t>· 강건 신호: 두 프레임(T23/T24)에 모두 복제된 것만 채택</a:t>
            </a:r>
          </a:p>
          <a:p xmlns:a="http://schemas.openxmlformats.org/drawingml/2006/main">
            <a:r>
              <a:rPr lang="en-US" sz="1600">
                <a:solidFill>
                  <a:srgbClr val="333333"/>
                </a:solidFill>
                <a:latin typeface="Calibri"/>
                <a:ea typeface="Calibri"/>
              </a:rPr>
              <a:t>· 피처 13개: 소거 실험으로 기여 0인 교차항 제거</a:t>
            </a:r>
          </a:p>
          <a:p xmlns:a="http://schemas.openxmlformats.org/drawingml/2006/main">
            <a:r>
              <a:rPr lang="en-US" sz="1600">
                <a:solidFill>
                  <a:srgbClr val="333333"/>
                </a:solidFill>
                <a:latin typeface="Calibri"/>
                <a:ea typeface="Calibri"/>
              </a:rPr>
              <a:t>· 모델 v3: 상위 1,000명 가입률 8.2% (기준선 2.8배) — CI 하한 7.1% &gt; 판정선 5.8%</a:t>
            </a:r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17" name="T3"/>
          <p:cNvSpPr txBox="1"/>
          <p:nvPr/>
        </p:nvSpPr>
        <p:spPr>
          <a:xfrm>
            <a:off x="540000" y="324000"/>
            <a:ext cx="10800000" cy="648000"/>
          </a:xfrm>
          <a:prstGeom prst="rect">
            <a:avLst/>
          </a:prstGeom>
        </p:spPr>
        <p:txBody>
          <a:bodyPr/>
          <a:lstStyle/>
          <a:p>
            <a:r>
              <a:rPr lang="en-US" sz="3400" b="1">
                <a:solidFill>
                  <a:srgbClr val="1E2761"/>
                </a:solidFill>
                <a:latin typeface="Georgia"/>
                <a:ea typeface="Georgia"/>
              </a:rPr>
              <a:t>1단계 — 데이터의 뼈대</a:t>
            </a:r>
          </a:p>
        </p:txBody>
      </p:sp>
      <p:graphicFrame>
        <p:nvGraphicFramePr>
          <p:cNvPr id="100018" name="Table 1"/>
          <p:cNvGraphicFramePr/>
          <p:nvPr/>
        </p:nvGraphicFramePr>
        <p:xfrm>
          <a:off x="540000" y="1224000"/>
          <a:ext cx="10800000" cy="3960000"/>
        </p:xfrm>
        <a:graphic>
          <a:graphicData uri="http://schemas.openxmlformats.org/drawingml/2006/table">
            <a:tbl>
              <a:tblPr firstRow="1" bandRow="1"/>
              <a:tblGrid>
                <a:gridCol w="1440000"/>
                <a:gridCol w="6480000"/>
                <a:gridCol w="2880000"/>
              </a:tblGrid>
              <a:tr h="565714"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rgbClr val="FFFFFF"/>
                          </a:solidFill>
                        </a:rPr>
                        <a:t>항목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rgbClr val="FFFFFF"/>
                          </a:solidFill>
                        </a:rPr>
                        <a:t>확인된 사실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rgbClr val="FFFFFF"/>
                          </a:solidFill>
                        </a:rPr>
                        <a:t>의미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565714">
                <a:tc>
                  <a:txBody>
                    <a:bodyPr/>
                    <a:lstStyle/>
                    <a:p>
                      <a:r>
                        <a:rPr lang="en-US"/>
                        <a:t>규모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385,019행 중 보험 77,305거래 → 고객 74,776명 (보험·증권 겹침 0명)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고객 단위 분석의 대상</a:t>
                      </a:r>
                    </a:p>
                  </a:txBody>
                  <a:tcPr/>
                </a:tc>
              </a:tr>
              <a:tr h="565714">
                <a:tc>
                  <a:txBody>
                    <a:bodyPr/>
                    <a:lstStyle/>
                    <a:p>
                      <a:r>
                        <a:rPr lang="en-US"/>
                        <a:t>행의 단위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1행 = 보유 상품 1건(주보험+특약 묶음) — 고객당 1행 96.9%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고객=1행 사실상 성립</a:t>
                      </a:r>
                    </a:p>
                  </a:txBody>
                  <a:tcPr/>
                </a:tc>
              </a:tr>
              <a:tr h="565714">
                <a:tc>
                  <a:txBody>
                    <a:bodyPr/>
                    <a:lstStyle/>
                    <a:p>
                      <a:r>
                        <a:rPr lang="en-US"/>
                        <a:t>속성 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행마다 복제되지만 고객 안에서 변하지 않음 → 고객 단위 분석은 중복 제거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중복 제거 후 분석</a:t>
                      </a:r>
                    </a:p>
                  </a:txBody>
                  <a:tcPr/>
                </a:tc>
              </a:tr>
              <a:tr h="565714">
                <a:tc>
                  <a:txBody>
                    <a:bodyPr/>
                    <a:lstStyle/>
                    <a:p>
                      <a:r>
                        <a:rPr lang="en-US"/>
                        <a:t>품질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NaN 0건 · 완전 중복 0건 — 실질 결측은 대체값('기타'·'-')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대체값만 처리하면 됨</a:t>
                      </a:r>
                    </a:p>
                  </a:txBody>
                  <a:tcPr/>
                </a:tc>
              </a:tr>
              <a:tr h="565714">
                <a:tc>
                  <a:txBody>
                    <a:bodyPr/>
                    <a:lstStyle/>
                    <a:p>
                      <a:r>
                        <a:rPr lang="en-US"/>
                        <a:t>성격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스냅샷(한 시점 사진) — 88.3%가 2024~25년 가입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미래 예측 불가 → 시간 분할</a:t>
                      </a:r>
                    </a:p>
                  </a:txBody>
                  <a:tcPr/>
                </a:tc>
              </a:tr>
              <a:tr h="565714">
                <a:tc>
                  <a:txBody>
                    <a:bodyPr/>
                    <a:lstStyle/>
                    <a:p>
                      <a:r>
                        <a:rPr lang="en-US"/>
                        <a:t>라벨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'추가 가입할 고객' 열이 없다 → 시간으로 타겟을 직접 만든다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예측 문제로 재정의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</p:sld>
</file>

<file path=ppt/slides/slide4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19" name="T4"/>
          <p:cNvSpPr txBox="1"/>
          <p:nvPr/>
        </p:nvSpPr>
        <p:spPr>
          <a:xfrm>
            <a:off x="540000" y="324000"/>
            <a:ext cx="10800000" cy="648000"/>
          </a:xfrm>
          <a:prstGeom prst="rect">
            <a:avLst/>
          </a:prstGeom>
        </p:spPr>
        <p:txBody>
          <a:bodyPr/>
          <a:lstStyle/>
          <a:p>
            <a:r>
              <a:rPr lang="en-US" sz="3400" b="1">
                <a:solidFill>
                  <a:srgbClr val="1E2761"/>
                </a:solidFill>
                <a:latin typeface="Georgia"/>
                <a:ea typeface="Georgia"/>
              </a:rPr>
              <a:t>1단계 — 이름이 속이는 열 4개</a:t>
            </a:r>
          </a:p>
        </p:txBody>
      </p:sp>
      <p:graphicFrame>
        <p:nvGraphicFramePr>
          <p:cNvPr id="100020" name="Table 1"/>
          <p:cNvGraphicFramePr/>
          <p:nvPr/>
        </p:nvGraphicFramePr>
        <p:xfrm>
          <a:off x="540000" y="1224000"/>
          <a:ext cx="10800000" cy="3960000"/>
        </p:xfrm>
        <a:graphic>
          <a:graphicData uri="http://schemas.openxmlformats.org/drawingml/2006/table">
            <a:tbl>
              <a:tblPr firstRow="1" bandRow="1"/>
              <a:tblGrid>
                <a:gridCol w="3600000"/>
                <a:gridCol w="3600000"/>
                <a:gridCol w="3600000"/>
              </a:tblGrid>
              <a:tr h="792000"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rgbClr val="FFFFFF"/>
                          </a:solidFill>
                        </a:rPr>
                        <a:t>열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rgbClr val="FFFFFF"/>
                          </a:solidFill>
                        </a:rPr>
                        <a:t>검증 결과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rgbClr val="FFFFFF"/>
                          </a:solidFill>
                        </a:rPr>
                        <a:t>처리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792000">
                <a:tc>
                  <a:txBody>
                    <a:bodyPr/>
                    <a:lstStyle/>
                    <a:p>
                      <a:r>
                        <a:rPr lang="en-US"/>
                        <a:t>product_period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기간이 아니라 만기 연도 — 9999(만기 없음·종신 추정)이 4분의 1 이상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특수값 처리 필수, 분석 보류</a:t>
                      </a:r>
                    </a:p>
                  </a:txBody>
                  <a:tcPr/>
                </a:tc>
              </a:tr>
              <a:tr h="792000">
                <a:tc>
                  <a:txBody>
                    <a:bodyPr/>
                    <a:lstStyle/>
                    <a:p>
                      <a:r>
                        <a:rPr lang="en-US"/>
                        <a:t>investment_propensity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보험 고객에서 100% '-' — 증권 거래에만 존재하는 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사용 불가 — 제외</a:t>
                      </a:r>
                    </a:p>
                  </a:txBody>
                  <a:tcPr/>
                </a:tc>
              </a:tr>
              <a:tr h="792000">
                <a:tc>
                  <a:txBody>
                    <a:bodyPr/>
                    <a:lstStyle/>
                    <a:p>
                      <a:r>
                        <a:rPr lang="en-US"/>
                        <a:t>customer_seq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순번이 아님 — 같은 (고객, 상품) 조합이 2,529건 중복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유일키는 (고객, 상품)</a:t>
                      </a:r>
                    </a:p>
                  </a:txBody>
                  <a:tcPr/>
                </a:tc>
              </a:tr>
              <a:tr h="792000">
                <a:tc>
                  <a:txBody>
                    <a:bodyPr/>
                    <a:lstStyle/>
                    <a:p>
                      <a:r>
                        <a:rPr lang="en-US"/>
                        <a:t>cross_coverage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상품 행으로 담보를 재구성하면 83.4%만 일치 — 담보 확장 사건은 행에 기록되지 않음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라벨 열(정답 대용)로만 쓸 수 있음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</p:sld>
</file>

<file path=ppt/slides/slide5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21" name="T5"/>
          <p:cNvSpPr txBox="1"/>
          <p:nvPr/>
        </p:nvSpPr>
        <p:spPr>
          <a:xfrm xmlns:a="http://schemas.openxmlformats.org/drawingml/2006/main">
            <a:off x="540000" y="324000"/>
            <a:ext cx="10800000" cy="64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400" b="1">
                <a:solidFill>
                  <a:srgbClr val="1E2761"/>
                </a:solidFill>
                <a:latin typeface="Georgia"/>
                <a:ea typeface="Georgia"/>
              </a:rPr>
              <a:t>문제 정의 — 시간으로 타겟을 만든다</a:t>
            </a:r>
          </a:p>
        </p:txBody>
      </p:sp>
      <p:graphicFrame>
        <p:nvGraphicFramePr>
          <p:cNvPr id="100022" name="Table 1"/>
          <p:cNvGraphicFramePr/>
          <p:nvPr/>
        </p:nvGraphicFramePr>
        <p:xfrm>
          <a:off xmlns:a="http://schemas.openxmlformats.org/drawingml/2006/main" x="540000" y="1188000"/>
          <a:ext xmlns:a="http://schemas.openxmlformats.org/drawingml/2006/main" cx="10800000" cy="3672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620000"/>
                <a:gridCol w="9180000"/>
              </a:tblGrid>
              <a:tr h="612000"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rgbClr val="FFFFFF"/>
                          </a:solidFill>
                        </a:rPr>
                        <a:t>요소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rgbClr val="FFFFFF"/>
                          </a:solidFill>
                        </a:rPr>
                        <a:t>정의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612000">
                <a:tc>
                  <a:txBody>
                    <a:bodyPr/>
                    <a:lstStyle/>
                    <a:p>
                      <a:r>
                        <a:rPr lang="en-US"/>
                        <a:t>행 단위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T년 말까지 보험 상품을 보유한 기존 고객 1명 = 1행</a:t>
                      </a:r>
                    </a:p>
                  </a:txBody>
                  <a:tcPr/>
                </a:tc>
              </a:tr>
              <a:tr h="612000">
                <a:tc>
                  <a:txBody>
                    <a:bodyPr/>
                    <a:lstStyle/>
                    <a:p>
                      <a:r>
                        <a:rPr lang="en-US"/>
                        <a:t>타겟(계산식)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transaction_start_year &gt; T 인 상품이 1개 이상이면 1, 없으면 0</a:t>
                      </a:r>
                    </a:p>
                  </a:txBody>
                  <a:tcPr/>
                </a:tc>
              </a:tr>
              <a:tr h="612000">
                <a:tc>
                  <a:txBody>
                    <a:bodyPr/>
                    <a:lstStyle/>
                    <a:p>
                      <a:r>
                        <a:rPr lang="en-US"/>
                        <a:t>예측 시점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T년 말까지 아는 값(속성·보유 포트폴리오·경과 기간)으로 T 이후 1년을 맞힌다 — 분류</a:t>
                      </a:r>
                    </a:p>
                  </a:txBody>
                  <a:tcPr/>
                </a:tc>
              </a:tr>
              <a:tr h="612000">
                <a:tc>
                  <a:txBody>
                    <a:bodyPr/>
                    <a:lstStyle/>
                    <a:p>
                      <a:r>
                        <a:rPr lang="en-US"/>
                        <a:t>프레임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T=2024년 말 · 풀 38,932명 · 양성 1,137명 (2.9%) · 지평 1년</a:t>
                      </a:r>
                    </a:p>
                  </a:txBody>
                  <a:tcPr/>
                </a:tc>
              </a:tr>
              <a:tr h="612000">
                <a:tc>
                  <a:txBody>
                    <a:bodyPr/>
                    <a:lstStyle/>
                    <a:p>
                      <a:r>
                        <a:rPr lang="en-US"/>
                        <a:t>검증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상위 k명 중 실제 가입률 vs 기준선 2.9% — 정확도 금지(전원 미가입 찍어도 97.1%)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0023" name="TextBox 2"/>
          <p:cNvSpPr/>
          <p:nvPr/>
        </p:nvSpPr>
        <p:spPr>
          <a:xfrm xmlns:a="http://schemas.openxmlformats.org/drawingml/2006/main">
            <a:off x="540000" y="5112000"/>
            <a:ext cx="10800000" cy="1152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F7F0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1">
                <a:solidFill>
                  <a:srgbClr val="2C5F2D"/>
                </a:solidFill>
                <a:latin typeface="Calibri"/>
                <a:ea typeface="Calibri"/>
              </a:rPr>
              <a:t>왜 이 설계인가 — '담보 확장 이벤트'는 T별 양성 17~37명뿐이고 행으로 담보가 재구성되지 않아(83.4% 불일치) 타겟 불가. '신규 가입 여부'는 완전 관측(335~1,137명)이라 예측-검증 구조가 생긴다.</a:t>
            </a:r>
          </a:p>
        </p:txBody>
      </p:sp>
    </p:spTree>
  </p:cSld>
</p:sld>
</file>

<file path=ppt/slides/slide6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24" name="T6"/>
          <p:cNvSpPr txBox="1"/>
          <p:nvPr/>
        </p:nvSpPr>
        <p:spPr>
          <a:xfrm xmlns:a="http://schemas.openxmlformats.org/drawingml/2006/main">
            <a:off x="540000" y="324000"/>
            <a:ext cx="10800000" cy="64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400" b="1">
                <a:solidFill>
                  <a:srgbClr val="1E2761"/>
                </a:solidFill>
                <a:latin typeface="Georgia"/>
                <a:ea typeface="Georgia"/>
              </a:rPr>
              <a:t>2단계 EDA — 데이터 점검 4항목</a:t>
            </a:r>
          </a:p>
        </p:txBody>
      </p:sp>
      <p:graphicFrame>
        <p:nvGraphicFramePr>
          <p:cNvPr id="100025" name="Table 1"/>
          <p:cNvGraphicFramePr/>
          <p:nvPr/>
        </p:nvGraphicFramePr>
        <p:xfrm>
          <a:off xmlns:a="http://schemas.openxmlformats.org/drawingml/2006/main" x="540000" y="1188000"/>
          <a:ext xmlns:a="http://schemas.openxmlformats.org/drawingml/2006/main" cx="10800000" cy="3672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512000"/>
                <a:gridCol w="6264000"/>
                <a:gridCol w="3024000"/>
              </a:tblGrid>
              <a:tr h="734400"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rgbClr val="FFFFFF"/>
                          </a:solidFill>
                        </a:rPr>
                        <a:t>항목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rgbClr val="FFFFFF"/>
                          </a:solidFill>
                        </a:rPr>
                        <a:t>결과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rgbClr val="FFFFFF"/>
                          </a:solidFill>
                        </a:rPr>
                        <a:t>모델링 결정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734400">
                <a:tc>
                  <a:txBody>
                    <a:bodyPr/>
                    <a:lstStyle/>
                    <a:p>
                      <a:r>
                        <a:rPr lang="en-US"/>
                        <a:t>결측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NaN 0건 — 대체값: 직업 '기타' 10.3% · 병력 7.7% · 지역 5.4%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'기타'를 하나의 범주로 유지</a:t>
                      </a:r>
                    </a:p>
                  </a:txBody>
                  <a:tcPr/>
                </a:tc>
              </a:tr>
              <a:tr h="734400">
                <a:tc>
                  <a:txBody>
                    <a:bodyPr/>
                    <a:lstStyle/>
                    <a:p>
                      <a:r>
                        <a:rPr lang="en-US"/>
                        <a:t>이상치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납입액 IQR 초과 4.0% (중앙 70만원·최대 1,410만원), 상품금액 최대 6억원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잘라 내지 않고 로그 변환</a:t>
                      </a:r>
                    </a:p>
                  </a:txBody>
                  <a:tcPr/>
                </a:tc>
              </a:tr>
              <a:tr h="734400">
                <a:tc>
                  <a:txBody>
                    <a:bodyPr/>
                    <a:lstStyle/>
                    <a:p>
                      <a:r>
                        <a:rPr lang="en-US"/>
                        <a:t>타겟 분포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양성 2.9% · 클래스 비 1 : 33.2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평가는 리프트 / balanced 가중치</a:t>
                      </a:r>
                    </a:p>
                  </a:txBody>
                  <a:tcPr/>
                </a:tc>
              </a:tr>
              <a:tr h="734400">
                <a:tc>
                  <a:txBody>
                    <a:bodyPr/>
                    <a:lstStyle/>
                    <a:p>
                      <a:r>
                        <a:rPr lang="en-US"/>
                        <a:t>상관관계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개별 신호 미약(최고 +0.070) · 공선성 3쌍(연령×결혼 0.642 등)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모델의 조합 필요 — 계수는 방향 참고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</p:sld>
</file>

<file path=ppt/slides/slide7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26" name="T7"/>
          <p:cNvSpPr txBox="1"/>
          <p:nvPr/>
        </p:nvSpPr>
        <p:spPr>
          <a:xfrm>
            <a:off x="540000" y="324000"/>
            <a:ext cx="10800000" cy="648000"/>
          </a:xfrm>
          <a:prstGeom prst="rect">
            <a:avLst/>
          </a:prstGeom>
        </p:spPr>
        <p:txBody>
          <a:bodyPr/>
          <a:lstStyle/>
          <a:p>
            <a:r>
              <a:rPr lang="en-US" sz="3400" b="1">
                <a:solidFill>
                  <a:srgbClr val="1E2761"/>
                </a:solidFill>
                <a:latin typeface="Georgia"/>
                <a:ea typeface="Georgia"/>
              </a:rPr>
              <a:t>가설 1~2회차 — 4개 전부 반박</a:t>
            </a:r>
          </a:p>
        </p:txBody>
      </p:sp>
      <p:graphicFrame>
        <p:nvGraphicFramePr>
          <p:cNvPr id="100027" name="Table 1"/>
          <p:cNvGraphicFramePr/>
          <p:nvPr/>
        </p:nvGraphicFramePr>
        <p:xfrm>
          <a:off x="540000" y="1188000"/>
          <a:ext cx="10800000" cy="3672000"/>
        </p:xfrm>
        <a:graphic>
          <a:graphicData uri="http://schemas.openxmlformats.org/drawingml/2006/table">
            <a:tbl>
              <a:tblPr firstRow="1" bandRow="1"/>
              <a:tblGrid>
                <a:gridCol w="2160000"/>
                <a:gridCol w="6480000"/>
                <a:gridCol w="2160000"/>
              </a:tblGrid>
              <a:tr h="734400"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rgbClr val="FFFFFF"/>
                          </a:solidFill>
                        </a:rPr>
                        <a:t>구 가설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rgbClr val="FFFFFF"/>
                          </a:solidFill>
                        </a:rPr>
                        <a:t>대용라벨 근거 → 실제 타겟 결과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rgbClr val="FFFFFF"/>
                          </a:solidFill>
                        </a:rPr>
                        <a:t>판정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734400">
                <a:tc>
                  <a:txBody>
                    <a:bodyPr/>
                    <a:lstStyle/>
                    <a:p>
                      <a:r>
                        <a:rPr lang="en-US"/>
                        <a:t>40~50대&amp;소득 상위가 잘 산다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1.4배 → 충족 2.4% vs 미충족 3.0% — 오히려 낮다 (소득은 역U)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rgbClr val="B85042"/>
                          </a:solidFill>
                        </a:rPr>
                        <a:t>반박</a:t>
                      </a:r>
                    </a:p>
                  </a:txBody>
                  <a:tcPr/>
                </a:tc>
              </a:tr>
              <a:tr h="734400">
                <a:tc>
                  <a:txBody>
                    <a:bodyPr/>
                    <a:lstStyle/>
                    <a:p>
                      <a:r>
                        <a:rPr lang="en-US"/>
                        <a:t>신용 900점대 이상이 1.5배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계단 → 0.97배 (900이상 3.0% vs 800 3.1%) — 계단 없음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rgbClr val="B85042"/>
                          </a:solidFill>
                        </a:rPr>
                        <a:t>반박</a:t>
                      </a:r>
                    </a:p>
                  </a:txBody>
                  <a:tcPr/>
                </a:tc>
              </a:tr>
              <a:tr h="734400">
                <a:tc>
                  <a:txBody>
                    <a:bodyPr/>
                    <a:lstStyle/>
                    <a:p>
                      <a:r>
                        <a:rPr lang="en-US"/>
                        <a:t>오래된 고객일수록 잘 산다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5.5배 → 역방향 (0~1년 7.0% 최고 → 10년+ 4.8% 최저)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rgbClr val="B85042"/>
                          </a:solidFill>
                        </a:rPr>
                        <a:t>반박</a:t>
                      </a:r>
                    </a:p>
                  </a:txBody>
                  <a:tcPr/>
                </a:tc>
              </a:tr>
              <a:tr h="734400">
                <a:tc>
                  <a:txBody>
                    <a:bodyPr/>
                    <a:lstStyle/>
                    <a:p>
                      <a:r>
                        <a:rPr lang="en-US"/>
                        <a:t>갱신형 보유자가 덜 산다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12배 격차 → 역방향(8.7%) 후 T24 소멸(3.5 vs 3.7%)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rgbClr val="B85042"/>
                          </a:solidFill>
                        </a:rPr>
                        <a:t>반박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0028" name="TextBox 2"/>
          <p:cNvSpPr/>
          <p:nvPr/>
        </p:nvSpPr>
        <p:spPr>
          <a:xfrm>
            <a:off x="540000" y="5112000"/>
            <a:ext cx="10800000" cy="1152000"/>
          </a:xfrm>
          <a:prstGeom prst="roundRect">
            <a:avLst/>
          </a:prstGeom>
          <a:solidFill>
            <a:srgbClr val="FBF3E4"/>
          </a:solidFill>
          <a:ln>
            <a:noFill/>
          </a:ln>
        </p:spPr>
        <p:txBody>
          <a:bodyPr/>
          <a:lstStyle/>
          <a:p>
            <a:r>
              <a:rPr lang="en-US" sz="1600" b="1">
                <a:solidFill>
                  <a:srgbClr val="8A6D1F"/>
                </a:solidFill>
                <a:latin typeface="Calibri"/>
                <a:ea typeface="Calibri"/>
              </a:rPr>
              <a:t>교훈 — 대용라벨(다중 담보 보유)이 잡은 것은 '포트폴리오가 다양한 고객의 프로필'(고소득·중장년)이고, 실제 타겟이 잡은 것은 '기존 고객이 실제로 새 상품을 사는 행동'. 서로 다른 현상이었다 — 구 결론(40~50대·고소득 우선 상담)은 폐기.</a:t>
            </a:r>
          </a:p>
        </p:txBody>
      </p:sp>
    </p:spTree>
  </p:cSld>
</p:sld>
</file>

<file path=ppt/slides/slide8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29" name="T8"/>
          <p:cNvSpPr txBox="1"/>
          <p:nvPr/>
        </p:nvSpPr>
        <p:spPr>
          <a:xfrm xmlns:a="http://schemas.openxmlformats.org/drawingml/2006/main">
            <a:off x="540000" y="324000"/>
            <a:ext cx="10800000" cy="64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400" b="1">
                <a:solidFill>
                  <a:srgbClr val="1E2761"/>
                </a:solidFill>
                <a:latin typeface="Georgia"/>
                <a:ea typeface="Georgia"/>
              </a:rPr>
              <a:t>살아남은 신호 — 두 프레임에 모두 복제된 것만</a:t>
            </a:r>
          </a:p>
        </p:txBody>
      </p:sp>
      <p:graphicFrame>
        <p:nvGraphicFramePr>
          <p:cNvPr id="100030" name="Table 1"/>
          <p:cNvGraphicFramePr/>
          <p:nvPr/>
        </p:nvGraphicFramePr>
        <p:xfrm>
          <a:off xmlns:a="http://schemas.openxmlformats.org/drawingml/2006/main" x="540000" y="1188000"/>
          <a:ext xmlns:a="http://schemas.openxmlformats.org/drawingml/2006/main" cx="10800000" cy="3672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600000"/>
                <a:gridCol w="3600000"/>
                <a:gridCol w="3600000"/>
              </a:tblGrid>
              <a:tr h="734400"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rgbClr val="FFFFFF"/>
                          </a:solidFill>
                        </a:rPr>
                        <a:t>신호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rgbClr val="FFFFFF"/>
                          </a:solidFill>
                        </a:rPr>
                        <a:t>T=2023 / T=2024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rgbClr val="FFFFFF"/>
                          </a:solidFill>
                        </a:rPr>
                        <a:t>판정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734400">
                <a:tc>
                  <a:txBody>
                    <a:bodyPr/>
                    <a:lstStyle/>
                    <a:p>
                      <a:r>
                        <a:rPr lang="en-US"/>
                        <a:t>보유상품수 2개 이상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24.7% vs 5.8% (4.3배) / 11.6% vs 2.8% (4.1배, n=680)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rgbClr val="2C5F2D"/>
                          </a:solidFill>
                        </a:rPr>
                        <a:t>복제·강함</a:t>
                      </a:r>
                    </a:p>
                  </a:txBody>
                  <a:tcPr/>
                </a:tc>
              </a:tr>
              <a:tr h="734400">
                <a:tc>
                  <a:txBody>
                    <a:bodyPr/>
                    <a:lstStyle/>
                    <a:p>
                      <a:r>
                        <a:rPr lang="en-US"/>
                        <a:t>기혼 &gt; 미혼 · 여성 &gt; 남성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기혼 2.2배 복제 (50대 기혼 3.9 vs 미혼 0.7) · 여성 복제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rgbClr val="2C5F2D"/>
                          </a:solidFill>
                        </a:rPr>
                        <a:t>복제</a:t>
                      </a:r>
                    </a:p>
                  </a:txBody>
                  <a:tcPr/>
                </a:tc>
              </a:tr>
              <a:tr h="734400">
                <a:tc>
                  <a:txBody>
                    <a:bodyPr/>
                    <a:lstStyle/>
                    <a:p>
                      <a:r>
                        <a:rPr lang="en-US"/>
                        <a:t>지역 · 소득 역U · 신용 300점대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경기·부산 최고 / 대구 0.8%·대전 0.9% 최저 (두 T 동순위) / 300점대 양쪽 최저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rgbClr val="2C5F2D"/>
                          </a:solidFill>
                        </a:rPr>
                        <a:t>복제</a:t>
                      </a:r>
                    </a:p>
                  </a:txBody>
                  <a:tcPr/>
                </a:tc>
              </a:tr>
              <a:tr h="734400">
                <a:tc>
                  <a:txBody>
                    <a:bodyPr/>
                    <a:lstStyle/>
                    <a:p>
                      <a:r>
                        <a:rPr lang="en-US"/>
                        <a:t>갱신형 · 경과 기간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T=2023에서만 보임 — T=2024에서 소멸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rgbClr val="B85042"/>
                          </a:solidFill>
                        </a:rPr>
                        <a:t>가짜 신호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0031" name="TextBox 2"/>
          <p:cNvSpPr/>
          <p:nvPr/>
        </p:nvSpPr>
        <p:spPr>
          <a:xfrm xmlns:a="http://schemas.openxmlformats.org/drawingml/2006/main">
            <a:off x="540000" y="5112000"/>
            <a:ext cx="10800000" cy="1152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F7F0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1">
                <a:solidFill>
                  <a:srgbClr val="2C5F2D"/>
                </a:solidFill>
                <a:latin typeface="Calibri"/>
                <a:ea typeface="Calibri"/>
              </a:rPr>
              <a:t>판정 규칙 — '한 프레임에서만 나타난 신호는 코호트 얽힘의 그림자일 수 있다'. 복제로 걸러낸 덕분에 갱신형·경과기간이라는 가짜를 피처에서 빼고, '무관'으로 잘못 은퇴시킨 결혼은 복원했다.</a:t>
            </a:r>
          </a:p>
        </p:txBody>
      </p:sp>
    </p:spTree>
  </p:cSld>
</p:sld>
</file>

<file path=ppt/slides/slide9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32" name="T9"/>
          <p:cNvSpPr txBox="1"/>
          <p:nvPr/>
        </p:nvSpPr>
        <p:spPr>
          <a:xfrm xmlns:a="http://schemas.openxmlformats.org/drawingml/2006/main">
            <a:off x="540000" y="324000"/>
            <a:ext cx="10800000" cy="57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1E2761"/>
                </a:solidFill>
                <a:latin typeface="Georgia"/>
                <a:ea typeface="Georgia"/>
              </a:rPr>
              <a:t>새 가설 A~D — 지지 2 · 반박 2 (E·F는 다음 장에서 강도 점검)</a:t>
            </a:r>
          </a:p>
        </p:txBody>
      </p:sp>
      <p:graphicFrame>
        <p:nvGraphicFramePr>
          <p:cNvPr id="100033" name="Table 1"/>
          <p:cNvGraphicFramePr/>
          <p:nvPr/>
        </p:nvGraphicFramePr>
        <p:xfrm>
          <a:off xmlns:a="http://schemas.openxmlformats.org/drawingml/2006/main" x="540000" y="1116000"/>
          <a:ext xmlns:a="http://schemas.openxmlformats.org/drawingml/2006/main" cx="10800000" cy="3816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980000"/>
                <a:gridCol w="6660000"/>
                <a:gridCol w="2160000"/>
              </a:tblGrid>
              <a:tr h="545142"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rgbClr val="FFFFFF"/>
                          </a:solidFill>
                        </a:rPr>
                        <a:t>가설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rgbClr val="FFFFFF"/>
                          </a:solidFill>
                        </a:rPr>
                        <a:t>핵심 수치 (T=2024)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rgbClr val="FFFFFF"/>
                          </a:solidFill>
                        </a:rPr>
                        <a:t>판정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545142">
                <a:tc>
                  <a:txBody>
                    <a:bodyPr/>
                    <a:lstStyle/>
                    <a:p>
                      <a:r>
                        <a:rPr lang="en-US"/>
                        <a:t>A · 반복 구매 (보유수2+)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연령 조각 안에서도 전 조각 우위: 30대 1.5→8.8% · 40대 2.8→13.9% — 셀 최소 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rgbClr val="2C5F2D"/>
                          </a:solidFill>
                        </a:rPr>
                        <a:t>지지</a:t>
                      </a:r>
                    </a:p>
                  </a:txBody>
                  <a:tcPr/>
                </a:tc>
              </a:tr>
              <a:tr h="545142">
                <a:tc>
                  <a:txBody>
                    <a:bodyPr/>
                    <a:lstStyle/>
                    <a:p>
                      <a:r>
                        <a:rPr lang="en-US"/>
                        <a:t>B · 결혼×연령 교차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50대 기혼 3.9% vs 미혼 0.7% — 20대만 역전 · T23 동방향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rgbClr val="2C5F2D"/>
                          </a:solidFill>
                        </a:rPr>
                        <a:t>지지</a:t>
                      </a:r>
                    </a:p>
                  </a:txBody>
                  <a:tcPr/>
                </a:tc>
              </a:tr>
              <a:tr h="545142">
                <a:tc>
                  <a:txBody>
                    <a:bodyPr/>
                    <a:lstStyle/>
                    <a:p>
                      <a:r>
                        <a:rPr lang="en-US"/>
                        <a:t>C · 소득 역U = '이미 충분히 보유'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납입액을 맞춰도 소득 격차 유지 — 메커니즘 설명 불충분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rgbClr val="8A6D1F"/>
                          </a:solidFill>
                        </a:rPr>
                        <a:t>반박</a:t>
                      </a:r>
                    </a:p>
                  </a:txBody>
                  <a:tcPr/>
                </a:tc>
              </a:tr>
              <a:tr h="545142">
                <a:tc>
                  <a:txBody>
                    <a:bodyPr/>
                    <a:lstStyle/>
                    <a:p>
                      <a:r>
                        <a:rPr lang="en-US"/>
                        <a:t>D · 지역 = 고객 구성 그림자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구성이 경기와 유사한데 0.8~1.6% vs 3.8% 유지 — 그림자 아님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rgbClr val="8A6D1F"/>
                          </a:solidFill>
                        </a:rPr>
                        <a:t>반박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0034" name="TextBox 2"/>
          <p:cNvSpPr/>
          <p:nvPr/>
        </p:nvSpPr>
        <p:spPr>
          <a:xfrm xmlns:a="http://schemas.openxmlformats.org/drawingml/2006/main">
            <a:off x="540000" y="5184000"/>
            <a:ext cx="10800000" cy="1044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1">
                <a:solidFill>
                  <a:srgbClr val="333333"/>
                </a:solidFill>
                <a:latin typeface="Calibri"/>
                <a:ea typeface="Calibri"/>
              </a:rPr>
              <a:t>정직한 배율 정정 — E의 '5배 이상'은 상품 유형 혼합이 부킨 값(통제 후 2.2~2.3배). 반복 20회 소거 실험으로 E는 모델 기여 1위(빼면 −0.91%p), F 교차항은 기여 0 — 모델은 피처 13개로 확정.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c="http://schemas.openxmlformats.org/drawingml/2006/chart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35" name="T10"/>
          <p:cNvSpPr txBox="1"/>
          <p:nvPr/>
        </p:nvSpPr>
        <p:spPr>
          <a:xfrm xmlns:a="http://schemas.openxmlformats.org/drawingml/2006/main">
            <a:off x="540000" y="324000"/>
            <a:ext cx="10800000" cy="64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1E2761"/>
                </a:solidFill>
                <a:latin typeface="Georgia"/>
                <a:ea typeface="Georgia"/>
              </a:rPr>
              <a:t>3단계 모델 — 상위 고객을 뽑으면 가입률 2.8배</a:t>
            </a:r>
          </a:p>
        </p:txBody>
      </p:sp>
      <p:graphicFrame>
        <p:nvGraphicFramePr>
          <p:cNvPr id="100036" name="상위 k명 중 실제 가입률 (%) — 반복 20회 평균"/>
          <p:cNvGraphicFramePr/>
          <p:nvPr/>
        </p:nvGraphicFramePr>
        <p:xfrm>
          <a:off xmlns:a="http://schemas.openxmlformats.org/drawingml/2006/main" x="540000" y="1224000"/>
          <a:ext xmlns:a="http://schemas.openxmlformats.org/drawingml/2006/main" cx="6840000" cy="4104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43cd78bf1194509"/>
          </a:graphicData>
        </a:graphic>
      </p:graphicFrame>
      <p:sp>
        <p:nvSpPr>
          <p:cNvPr id="100037" name="TextBox 2"/>
          <p:cNvSpPr/>
          <p:nvPr/>
        </p:nvSpPr>
        <p:spPr>
          <a:xfrm xmlns:a="http://schemas.openxmlformats.org/drawingml/2006/main">
            <a:off x="7740000" y="1224000"/>
            <a:ext cx="3888000" cy="4104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500">
                <a:solidFill>
                  <a:srgbClr val="333333"/>
                </a:solidFill>
                <a:latin typeface="Calibri"/>
                <a:ea typeface="Calibri"/>
              </a:rPr>
              <a:t>모델 v3</a:t>
            </a:r>
          </a:p>
          <a:p xmlns:a="http://schemas.openxmlformats.org/drawingml/2006/main">
            <a:pPr algn="ctr"/>
            <a:r>
              <a:rPr lang="en-US" sz="1500">
                <a:solidFill>
                  <a:srgbClr val="333333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pPr algn="ctr"/>
            <a:r>
              <a:rPr lang="en-US" sz="1500">
                <a:solidFill>
                  <a:srgbClr val="333333"/>
                </a:solidFill>
                <a:latin typeface="Calibri"/>
                <a:ea typeface="Calibri"/>
              </a:rPr>
              <a:t>· 로지스틱 회귀 (설명용)</a:t>
            </a:r>
          </a:p>
          <a:p xmlns:a="http://schemas.openxmlformats.org/drawingml/2006/main">
            <a:pPr algn="ctr"/>
            <a:r>
              <a:rPr lang="en-US" sz="1500">
                <a:solidFill>
                  <a:srgbClr val="333333"/>
                </a:solidFill>
                <a:latin typeface="Calibri"/>
                <a:ea typeface="Calibri"/>
              </a:rPr>
              <a:t>· 피처 13개 = 속성 8종 원-핫 + 경과연수·로그납입액·로그상품금액·보유수2이상 + 교차 2개</a:t>
            </a:r>
          </a:p>
          <a:p xmlns:a="http://schemas.openxmlformats.org/drawingml/2006/main">
            <a:pPr algn="ctr"/>
            <a:r>
              <a:rPr lang="en-US" sz="1500">
                <a:solidFill>
                  <a:srgbClr val="333333"/>
                </a:solidFill>
                <a:latin typeface="Calibri"/>
                <a:ea typeface="Calibri"/>
              </a:rPr>
              <a:t>· 클래스 불균형 가중치 (1:33.2)</a:t>
            </a:r>
          </a:p>
          <a:p xmlns:a="http://schemas.openxmlformats.org/drawingml/2006/main">
            <a:pPr algn="ctr"/>
            <a:r>
              <a:rPr lang="en-US" sz="1500">
                <a:solidFill>
                  <a:srgbClr val="333333"/>
                </a:solidFill>
                <a:latin typeface="Calibri"/>
                <a:ea typeface="Calibri"/>
              </a:rPr>
              <a:t>· 반복 분할 20회</a:t>
            </a:r>
          </a:p>
          <a:p xmlns:a="http://schemas.openxmlformats.org/drawingml/2006/main">
            <a:pPr algn="ctr"/>
            <a:r>
              <a:rPr lang="en-US" sz="1500">
                <a:solidFill>
                  <a:srgbClr val="333333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pPr algn="ctr"/>
            <a:r>
              <a:rPr lang="en-US" sz="1500">
                <a:solidFill>
                  <a:srgbClr val="333333"/>
                </a:solidFill>
                <a:latin typeface="Calibri"/>
                <a:ea typeface="Calibri"/>
              </a:rPr>
              <a:t>ROC-AUC 0.720 ± 0.010</a:t>
            </a:r>
          </a:p>
          <a:p xmlns:a="http://schemas.openxmlformats.org/drawingml/2006/main">
            <a:pPr algn="ctr"/>
            <a:r>
              <a:rPr lang="en-US" sz="1500">
                <a:solidFill>
                  <a:srgbClr val="333333"/>
                </a:solidFill>
                <a:latin typeface="Calibri"/>
                <a:ea typeface="Calibri"/>
              </a:rPr>
              <a:t>(CI 0.700~0.740)</a:t>
            </a:r>
          </a:p>
          <a:p xmlns:a="http://schemas.openxmlformats.org/drawingml/2006/main">
            <a:pPr algn="ctr"/>
            <a:r>
              <a:rPr lang="en-US" sz="1500">
                <a:solidFill>
                  <a:srgbClr val="333333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pPr algn="ctr"/>
            <a:r>
              <a:rPr lang="en-US" sz="1500">
                <a:solidFill>
                  <a:srgbClr val="333333"/>
                </a:solidFill>
                <a:latin typeface="Calibri"/>
                <a:ea typeface="Calibri"/>
              </a:rPr>
              <a:t>판정 기준 충족 —</a:t>
            </a:r>
          </a:p>
          <a:p xmlns:a="http://schemas.openxmlformats.org/drawingml/2006/main">
            <a:pPr algn="ctr"/>
            <a:r>
              <a:rPr lang="en-US" sz="1500">
                <a:solidFill>
                  <a:srgbClr val="333333"/>
                </a:solidFill>
                <a:latin typeface="Calibri"/>
                <a:ea typeface="Calibri"/>
              </a:rPr>
              <a:t>상위 1,000명 8.2%,</a:t>
            </a:r>
          </a:p>
          <a:p xmlns:a="http://schemas.openxmlformats.org/drawingml/2006/main">
            <a:pPr algn="ctr"/>
            <a:r>
              <a:rPr lang="en-US" sz="1500">
                <a:solidFill>
                  <a:srgbClr val="333333"/>
                </a:solidFill>
                <a:latin typeface="Calibri"/>
                <a:ea typeface="Calibri"/>
              </a:rPr>
              <a:t>CI 하한 7.1% &gt; 5.8%</a:t>
            </a:r>
          </a:p>
        </p:txBody>
      </p:sp>
      <p:sp>
        <p:nvSpPr>
          <p:cNvPr id="100038" name="TextBox 3"/>
          <p:cNvSpPr txBox="1"/>
          <p:nvPr/>
        </p:nvSpPr>
        <p:spPr>
          <a:xfrm xmlns:a="http://schemas.openxmlformats.org/drawingml/2006/main">
            <a:off x="540000" y="5472000"/>
            <a:ext cx="1080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1">
                <a:solidFill>
                  <a:srgbClr val="1E2761"/>
                </a:solidFill>
                <a:latin typeface="Calibri"/>
                <a:ea typeface="Calibri"/>
              </a:rPr>
              <a:t>양성 포착: 상위 1,000명 = 실제 가입자의 24% · 상위 2,000명 = 37%</a:t>
            </a:r>
          </a:p>
        </p:txBody>
      </p:sp>
    </p:spTree>
  </p:cSld>
</p:sld>
</file>

<file path=ppt/slides/slide11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39" name="T11"/>
          <p:cNvSpPr txBox="1"/>
          <p:nvPr/>
        </p:nvSpPr>
        <p:spPr>
          <a:xfrm xmlns:a="http://schemas.openxmlformats.org/drawingml/2006/main">
            <a:off x="540000" y="324000"/>
            <a:ext cx="10800000" cy="64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000" b="1">
                <a:solidFill>
                  <a:srgbClr val="1E2761"/>
                </a:solidFill>
                <a:latin typeface="Georgia"/>
                <a:ea typeface="Georgia"/>
              </a:rPr>
              <a:t>규칙 vs 모델 — 소수 규모는 동률, 규모 확장에서 모델</a:t>
            </a:r>
          </a:p>
        </p:txBody>
      </p:sp>
      <p:graphicFrame>
        <p:nvGraphicFramePr>
          <p:cNvPr id="100040" name="Table 1"/>
          <p:cNvGraphicFramePr/>
          <p:nvPr/>
        </p:nvGraphicFramePr>
        <p:xfrm>
          <a:off xmlns:a="http://schemas.openxmlformats.org/drawingml/2006/main" x="540000" y="1224000"/>
          <a:ext xmlns:a="http://schemas.openxmlformats.org/drawingml/2006/main" cx="10800000" cy="3024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700000"/>
                <a:gridCol w="2700000"/>
                <a:gridCol w="2700000"/>
                <a:gridCol w="2700000"/>
              </a:tblGrid>
              <a:tr h="756000"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rgbClr val="FFFFFF"/>
                          </a:solidFill>
                        </a:rPr>
                        <a:t>규모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rgbClr val="FFFFFF"/>
                          </a:solidFill>
                        </a:rPr>
                        <a:t>규칙 (보유수2+)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rgbClr val="FFFFFF"/>
                          </a:solidFill>
                        </a:rPr>
                        <a:t>모델 (상위 k명)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rgbClr val="FFFFFF"/>
                          </a:solidFill>
                        </a:rPr>
                        <a:t>보고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756000">
                <a:tc>
                  <a:txBody>
                    <a:bodyPr/>
                    <a:lstStyle/>
                    <a:p>
                      <a:r>
                        <a:rPr lang="en-US"/>
                        <a:t>199명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11.6% (4.0배)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11.6%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동률 (셀 노이즈)</a:t>
                      </a:r>
                    </a:p>
                  </a:txBody>
                  <a:tcPr/>
                </a:tc>
              </a:tr>
              <a:tr h="756000">
                <a:tc>
                  <a:txBody>
                    <a:bodyPr/>
                    <a:lstStyle/>
                    <a:p>
                      <a:r>
                        <a:rPr lang="en-US"/>
                        <a:t>500~2,000명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규칙은 199명 한계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9.7% / 8.2% / 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모델만 규모 확장 가능</a:t>
                      </a:r>
                    </a:p>
                  </a:txBody>
                  <a:tcPr/>
                </a:tc>
              </a:tr>
              <a:tr h="756000">
                <a:tc>
                  <a:txBody>
                    <a:bodyPr/>
                    <a:lstStyle/>
                    <a:p>
                      <a:r>
                        <a:rPr lang="en-US"/>
                        <a:t>양성 포착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23명 (4%)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1,000명 = 24% · 2,000명 = 37%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모델의 진짜 가치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0041" name="TextBox 2"/>
          <p:cNvSpPr/>
          <p:nvPr/>
        </p:nvSpPr>
        <p:spPr>
          <a:xfrm xmlns:a="http://schemas.openxmlformats.org/drawingml/2006/main">
            <a:off x="540000" y="4536000"/>
            <a:ext cx="10800000" cy="1728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333333"/>
                </a:solidFill>
                <a:latin typeface="Calibri"/>
                <a:ea typeface="Calibri"/>
              </a:rPr>
              <a:t>정직한 결론 — '보유 상품 2개 이상' 규칙은 199명 안에서 모델과 동등하게 강력하다. 모델의 가치는 두 가지: (1) 규칙으로는 커버할 수 없는 500~2,000명 규모에서 농도를 유지하며, (2) 전체 실제 가입자의 24~37%를 포착한다. 상담 인력과 목표 규모에 따라 규칙(정밀 돌파구)과 모델(규모 운용)을 곁들여 쓴다.</a:t>
            </a:r>
          </a:p>
        </p:txBody>
      </p:sp>
    </p:spTree>
  </p:cSld>
</p:sld>
</file>

<file path=ppt/slides/slide12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42" name="T12"/>
          <p:cNvSpPr txBox="1"/>
          <p:nvPr/>
        </p:nvSpPr>
        <p:spPr>
          <a:xfrm xmlns:a="http://schemas.openxmlformats.org/drawingml/2006/main">
            <a:off x="540000" y="324000"/>
            <a:ext cx="10800000" cy="64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400" b="1">
                <a:solidFill>
                  <a:srgbClr val="1E2761"/>
                </a:solidFill>
                <a:latin typeface="Georgia"/>
                <a:ea typeface="Georgia"/>
              </a:rPr>
              <a:t>정리 — 확정 · 한계 · 다음</a:t>
            </a:r>
          </a:p>
        </p:txBody>
      </p:sp>
      <p:sp>
        <p:nvSpPr>
          <p:cNvPr id="100043" name="TextBox 2"/>
          <p:cNvSpPr/>
          <p:nvPr/>
        </p:nvSpPr>
        <p:spPr>
          <a:xfrm xmlns:a="http://schemas.openxmlformats.org/drawingml/2006/main">
            <a:off x="540000" y="1224000"/>
            <a:ext cx="3520800" cy="4536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F7F0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1">
                <a:solidFill>
                  <a:srgbClr val="2C5F2D"/>
                </a:solidFill>
                <a:latin typeface="Calibri"/>
                <a:ea typeface="Calibri"/>
              </a:rPr>
              <a:t>확정된 것</a:t>
            </a:r>
          </a:p>
          <a:p xmlns:a="http://schemas.openxmlformats.org/drawingml/2006/main">
            <a:r>
              <a:rPr lang="en-US" sz="1600" b="1">
                <a:solidFill>
                  <a:srgbClr val="2C5F2D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600" b="1">
                <a:solidFill>
                  <a:srgbClr val="2C5F2D"/>
                </a:solidFill>
                <a:latin typeface="Calibri"/>
                <a:ea typeface="Calibri"/>
              </a:rPr>
              <a:t>· 예측 프레임: T=2024년 말 → 2025년 실제 가입</a:t>
            </a:r>
          </a:p>
          <a:p xmlns:a="http://schemas.openxmlformats.org/drawingml/2006/main">
            <a:r>
              <a:rPr lang="en-US" sz="1600" b="1">
                <a:solidFill>
                  <a:srgbClr val="2C5F2D"/>
                </a:solidFill>
                <a:latin typeface="Calibri"/>
                <a:ea typeface="Calibri"/>
              </a:rPr>
              <a:t>· 강건 신호 8개 (두 프레임 복제)</a:t>
            </a:r>
          </a:p>
          <a:p xmlns:a="http://schemas.openxmlformats.org/drawingml/2006/main">
            <a:r>
              <a:rPr lang="en-US" sz="1600" b="1">
                <a:solidFill>
                  <a:srgbClr val="2C5F2D"/>
                </a:solidFill>
                <a:latin typeface="Calibri"/>
                <a:ea typeface="Calibri"/>
              </a:rPr>
              <a:t>· 피처 13개 (F 교차항 제거)</a:t>
            </a:r>
          </a:p>
          <a:p xmlns:a="http://schemas.openxmlformats.org/drawingml/2006/main">
            <a:r>
              <a:rPr lang="en-US" sz="1600" b="1">
                <a:solidFill>
                  <a:srgbClr val="2C5F2D"/>
                </a:solidFill>
                <a:latin typeface="Calibri"/>
                <a:ea typeface="Calibri"/>
              </a:rPr>
              <a:t>· 모델 v3: AUC 0.720 · 상위 1,000명 8.2% — 판정 충족</a:t>
            </a:r>
          </a:p>
        </p:txBody>
      </p:sp>
      <p:sp>
        <p:nvSpPr>
          <p:cNvPr id="100044" name="TextBox 3"/>
          <p:cNvSpPr/>
          <p:nvPr/>
        </p:nvSpPr>
        <p:spPr>
          <a:xfrm xmlns:a="http://schemas.openxmlformats.org/drawingml/2006/main">
            <a:off x="4334400" y="1224000"/>
            <a:ext cx="3520800" cy="4536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BF3E4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1">
                <a:solidFill>
                  <a:srgbClr val="8A6D1F"/>
                </a:solidFill>
                <a:latin typeface="Calibri"/>
                <a:ea typeface="Calibri"/>
              </a:rPr>
              <a:t>남은 한계</a:t>
            </a:r>
          </a:p>
          <a:p xmlns:a="http://schemas.openxmlformats.org/drawingml/2006/main">
            <a:r>
              <a:rPr lang="en-US" sz="1600" b="1">
                <a:solidFill>
                  <a:srgbClr val="8A6D1F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600" b="1">
                <a:solidFill>
                  <a:srgbClr val="8A6D1F"/>
                </a:solidFill>
                <a:latin typeface="Calibri"/>
                <a:ea typeface="Calibri"/>
              </a:rPr>
              <a:t>· 속성 열은 2025 스냅샷 값 (1년 밀림)</a:t>
            </a:r>
          </a:p>
          <a:p xmlns:a="http://schemas.openxmlformats.org/drawingml/2006/main">
            <a:r>
              <a:rPr lang="en-US" sz="1600" b="1">
                <a:solidFill>
                  <a:srgbClr val="8A6D1F"/>
                </a:solidFill>
                <a:latin typeface="Calibri"/>
                <a:ea typeface="Calibri"/>
              </a:rPr>
              <a:t>· 지역 신호는 채널·지점 환경의 그림자 가능성</a:t>
            </a:r>
          </a:p>
          <a:p xmlns:a="http://schemas.openxmlformats.org/drawingml/2006/main">
            <a:r>
              <a:rPr lang="en-US" sz="1600" b="1">
                <a:solidFill>
                  <a:srgbClr val="8A6D1F"/>
                </a:solidFill>
                <a:latin typeface="Calibri"/>
                <a:ea typeface="Calibri"/>
              </a:rPr>
              <a:t>· 타겟이 '무엇이든 가입' — 담보 확장과 보장 내 보강 구분 못함</a:t>
            </a:r>
          </a:p>
          <a:p xmlns:a="http://schemas.openxmlformats.org/drawingml/2006/main">
            <a:r>
              <a:rPr lang="en-US" sz="1600" b="1">
                <a:solidFill>
                  <a:srgbClr val="8A6D1F"/>
                </a:solidFill>
                <a:latin typeface="Calibri"/>
                <a:ea typeface="Calibri"/>
              </a:rPr>
              <a:t>· 2024년 코호트 행동을 오늘 고객에 적용하는 외삽</a:t>
            </a:r>
          </a:p>
        </p:txBody>
      </p:sp>
      <p:sp>
        <p:nvSpPr>
          <p:cNvPr id="100045" name="TextBox 4"/>
          <p:cNvSpPr/>
          <p:nvPr/>
        </p:nvSpPr>
        <p:spPr>
          <a:xfrm xmlns:a="http://schemas.openxmlformats.org/drawingml/2006/main">
            <a:off x="8128800" y="1224000"/>
            <a:ext cx="3520800" cy="4536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3FB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1">
                <a:solidFill>
                  <a:srgbClr val="1E2761"/>
                </a:solidFill>
                <a:latin typeface="Calibri"/>
                <a:ea typeface="Calibri"/>
              </a:rPr>
              <a:t>다음 단계 (4단계)</a:t>
            </a:r>
          </a:p>
          <a:p xmlns:a="http://schemas.openxmlformats.org/drawingml/2006/main">
            <a:r>
              <a:rPr lang="en-US" sz="1600" b="1">
                <a:solidFill>
                  <a:srgbClr val="1E2761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600" b="1">
                <a:solidFill>
                  <a:srgbClr val="1E2761"/>
                </a:solidFill>
                <a:latin typeface="Calibri"/>
                <a:ea typeface="Calibri"/>
              </a:rPr>
              <a:t>· 인사이트 도출과 리포트 작성</a:t>
            </a:r>
          </a:p>
          <a:p xmlns:a="http://schemas.openxmlformats.org/drawingml/2006/main">
            <a:r>
              <a:rPr lang="en-US" sz="1600" b="1">
                <a:solidFill>
                  <a:srgbClr val="1E2761"/>
                </a:solidFill>
                <a:latin typeface="Calibri"/>
                <a:ea typeface="Calibri"/>
              </a:rPr>
              <a:t>· 상담 대상 운용안: 상위 k별 트레이드오프</a:t>
            </a:r>
          </a:p>
          <a:p xmlns:a="http://schemas.openxmlformats.org/drawingml/2006/main">
            <a:r>
              <a:rPr lang="en-US" sz="1600" b="1">
                <a:solidFill>
                  <a:srgbClr val="1E2761"/>
                </a:solidFill>
                <a:latin typeface="Calibri"/>
                <a:ea typeface="Calibri"/>
              </a:rPr>
              <a:t>· 다음 실험: 채널 데이터 확보 · 담보 확장 라벨 재정의 · 최신 코호트로 지평 재설정</a:t>
            </a:r>
          </a:p>
        </p:txBody>
      </p:sp>
      <p:sp>
        <p:nvSpPr>
          <p:cNvPr id="100046" name="TextBox 5"/>
          <p:cNvSpPr txBox="1"/>
          <p:nvPr/>
        </p:nvSpPr>
        <p:spPr>
          <a:xfrm xmlns:a="http://schemas.openxmlformats.org/drawingml/2006/main">
            <a:off x="540000" y="5976000"/>
            <a:ext cx="1080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7A8A94"/>
                </a:solidFill>
                <a:latin typeface="Calibri"/>
                <a:ea typeface="Calibri"/>
              </a:rPr>
              <a:t>전체 근거: 1_2단계_확정본.md · 재현 스크립트: scripts/ · 그림: output/</a:t>
            </a:r>
          </a:p>
        </p:txBody>
      </p:sp>
    </p:spTree>
  </p:cSld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2D3D"/>
                </a:solidFill>
                <a:latin typeface="Malgun Gothic"/>
              </a:rPr>
              <a:t>새 가설 E·F — 강도 점검 (소거 실험)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2920" y="1097280"/>
          <a:ext cx="1115568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5120640"/>
                <a:gridCol w="3291840"/>
              </a:tblGrid>
              <a:tr h="49377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소거 실험 (피처 제거)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상위 1,000명 가입률 (20회)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ROC-AUC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200">
                          <a:latin typeface="Malgun Gothic"/>
                        </a:rPr>
                        <a:t>전체 (기준, 피처 14개)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Malgun Gothic"/>
                        </a:rPr>
                        <a:t>8.15 ± 0.53%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Malgun Gothic"/>
                        </a:rPr>
                        <a:t>0.719</a:t>
                      </a:r>
                    </a:p>
                  </a:txBody>
                  <a:tcPr/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200">
                          <a:latin typeface="Malgun Gothic"/>
                        </a:rPr>
                        <a:t>− 특약 (E 제거)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Malgun Gothic"/>
                        </a:rPr>
                        <a:t>7.24 ± 0.65% (−0.91%p)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Malgun Gothic"/>
                        </a:rPr>
                        <a:t>0.682</a:t>
                      </a:r>
                    </a:p>
                  </a:txBody>
                  <a:tcPr/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200">
                          <a:latin typeface="Malgun Gothic"/>
                        </a:rPr>
                        <a:t>− 교차항 (F 제거)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Malgun Gothic"/>
                        </a:rPr>
                        <a:t>8.18% (−0.03%p)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Malgun Gothic"/>
                        </a:rPr>
                        <a:t>0.719</a:t>
                      </a:r>
                    </a:p>
                  </a:txBody>
                  <a:tcPr/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200">
                          <a:latin typeface="Malgun Gothic"/>
                        </a:rPr>
                        <a:t>− 보유수 2개 이상 (A 제거)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Malgun Gothic"/>
                        </a:rPr>
                        <a:t>7.60% (−0.56%p)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Malgun Gothic"/>
                        </a:rPr>
                        <a:t>0.714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502920" y="3840480"/>
            <a:ext cx="5440680" cy="1737360"/>
          </a:xfrm>
          <a:prstGeom prst="roundRect">
            <a:avLst/>
          </a:prstGeom>
          <a:solidFill>
            <a:srgbClr val="ECF7EC"/>
          </a:solidFill>
          <a:ln>
            <a:solidFill>
              <a:srgbClr val="ECF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500" b="1">
                <a:latin typeface="Malgun Gothic"/>
              </a:rPr>
              <a:t>E · 특약 보유 — 지지 · 강화</a:t>
            </a:r>
          </a:p>
          <a:p>
            <a:r>
              <a:rPr sz="1200">
                <a:latin typeface="Malgun Gothic"/>
              </a:rPr>
              <a:t>모델 기여 1위 (제거 시 8.15→7.24%, AUC 0.719→0.682) · M-케어 없는 고객 안에서도 6.9배 · 계수 안정 0.84±0.03 — 상품 계열 그림자 아님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3840480"/>
            <a:ext cx="5440680" cy="1737360"/>
          </a:xfrm>
          <a:prstGeom prst="roundRect">
            <a:avLst/>
          </a:prstGeom>
          <a:solidFill>
            <a:srgbClr val="FDECEC"/>
          </a:solidFill>
          <a:ln>
            <a:solidFill>
              <a:srgbClr val="FD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500" b="1">
                <a:latin typeface="Malgun Gothic"/>
              </a:rPr>
              <a:t>F · 보유수×납입액 교차 — 철회</a:t>
            </a:r>
          </a:p>
          <a:p>
            <a:r>
              <a:rPr sz="1200">
                <a:latin typeface="Malgun Gothic"/>
              </a:rPr>
              <a:t>소거 실험 기여 0 (−0.03%p, AUC 동일) · 계수 불안정 0.37±0.18 · 분위 재정의 시 비단조 · 보장형 통제 시 경사 소멸 — 피처 제거 확정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5806440"/>
            <a:ext cx="11155680" cy="502920"/>
          </a:xfrm>
          <a:prstGeom prst="roundRect">
            <a:avLst/>
          </a:prstGeom>
          <a:solidFill>
            <a:srgbClr val="E8F0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300" b="1">
                <a:latin typeface="Malgun Gothic"/>
              </a:rPr>
              <a:t>v3 확정 — F 교차항 제거 · 피처 13개 (성능 변화 ±0.03%p 이내)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맑은 고딕"/>
        <a:cs typeface=""/>
      </a:majorFont>
      <a:minorFont>
        <a:latin typeface="Calibri"/>
        <a:ea typeface="맑은 고딕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OfficeCLI/1.0.143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2026-10-15T05:23:23Z</dcterms:created>
  <cp:lastModifiedBy>OfficeCLI</cp:lastModifiedBy>
  <dcterms:modified xsi:type="dcterms:W3CDTF">2026-10-15T05:23:23Z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1.0.143</vt:lpwstr>
  </op:property>
  <op:property fmtid="{D5CDD505-2E9C-101B-9397-08002B2CF9AE}" pid="3" name="OfficeCLI.LastModified">
    <vt:lpwstr xmlns:vt="http://schemas.openxmlformats.org/officeDocument/2006/docPropsVTypes">2026-10-15T05:30:17Z</vt:lpwstr>
  </op:property>
</op:Properties>
</file>